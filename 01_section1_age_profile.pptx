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74" r:id="rId2"/>
    <p:sldId id="277" r:id="rId3"/>
    <p:sldId id="278" r:id="rId4"/>
    <p:sldId id="279" r:id="rId5"/>
    <p:sldId id="280" r:id="rId6"/>
    <p:sldId id="281" r:id="rId7"/>
    <p:sldId id="282" r:id="rId8"/>
  </p:sldIdLst>
  <p:sldSz cx="12192000" cy="6858000"/>
  <p:notesSz cx="12192000" cy="6858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1715"/>
  </p:normalViewPr>
  <p:slideViewPr>
    <p:cSldViewPr>
      <p:cViewPr>
        <p:scale>
          <a:sx n="103" d="100"/>
          <a:sy n="103" d="100"/>
        </p:scale>
        <p:origin x="920" y="32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000" b="1" i="0">
                <a:solidFill>
                  <a:schemeClr val="tx1"/>
                </a:solidFill>
                <a:latin typeface="Carlito"/>
                <a:cs typeface="Carlito"/>
              </a:defRPr>
            </a:lvl1pPr>
          </a:lstStyle>
          <a:p>
            <a:endParaRPr/>
          </a:p>
        </p:txBody>
      </p:sp>
      <p:sp>
        <p:nvSpPr>
          <p:cNvPr id="3" name="Holder 3"/>
          <p:cNvSpPr>
            <a:spLocks noGrp="1"/>
          </p:cNvSpPr>
          <p:nvPr>
            <p:ph type="body" idx="1"/>
          </p:nvPr>
        </p:nvSpPr>
        <p:spPr/>
        <p:txBody>
          <a:bodyPr lIns="0" tIns="0" rIns="0" bIns="0"/>
          <a:lstStyle>
            <a:lvl1pPr>
              <a:defRPr sz="6000" b="1" i="0">
                <a:solidFill>
                  <a:schemeClr val="tx1"/>
                </a:solidFill>
                <a:latin typeface="Carlito"/>
                <a:cs typeface="Carlito"/>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000" b="1" i="0">
                <a:solidFill>
                  <a:schemeClr val="tx1"/>
                </a:solidFill>
                <a:latin typeface="Carlito"/>
                <a:cs typeface="Carlito"/>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000" b="1" i="0">
                <a:solidFill>
                  <a:schemeClr val="tx1"/>
                </a:solidFill>
                <a:latin typeface="Carlito"/>
                <a:cs typeface="Carlito"/>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11" Type="http://schemas.openxmlformats.org/officeDocument/2006/relationships/image" Target="../media/image5.png"/><Relationship Id="rId5" Type="http://schemas.openxmlformats.org/officeDocument/2006/relationships/slideLayout" Target="../slideLayouts/slideLayout5.xml"/><Relationship Id="rId10" Type="http://schemas.openxmlformats.org/officeDocument/2006/relationships/image" Target="../media/image4.png"/><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042416" y="461772"/>
            <a:ext cx="10776585" cy="198120"/>
          </a:xfrm>
          <a:custGeom>
            <a:avLst/>
            <a:gdLst/>
            <a:ahLst/>
            <a:cxnLst/>
            <a:rect l="l" t="t" r="r" b="b"/>
            <a:pathLst>
              <a:path w="10776585" h="198120">
                <a:moveTo>
                  <a:pt x="10776204" y="0"/>
                </a:moveTo>
                <a:lnTo>
                  <a:pt x="0" y="0"/>
                </a:lnTo>
                <a:lnTo>
                  <a:pt x="0" y="198120"/>
                </a:lnTo>
                <a:lnTo>
                  <a:pt x="10776204" y="198120"/>
                </a:lnTo>
                <a:lnTo>
                  <a:pt x="10776204" y="0"/>
                </a:lnTo>
                <a:close/>
              </a:path>
            </a:pathLst>
          </a:custGeom>
          <a:solidFill>
            <a:srgbClr val="E6AF41"/>
          </a:solidFill>
        </p:spPr>
        <p:txBody>
          <a:bodyPr wrap="square" lIns="0" tIns="0" rIns="0" bIns="0" rtlCol="0"/>
          <a:lstStyle/>
          <a:p>
            <a:endParaRPr/>
          </a:p>
        </p:txBody>
      </p:sp>
      <p:sp>
        <p:nvSpPr>
          <p:cNvPr id="17" name="bg object 17"/>
          <p:cNvSpPr/>
          <p:nvPr/>
        </p:nvSpPr>
        <p:spPr>
          <a:xfrm>
            <a:off x="0" y="0"/>
            <a:ext cx="12191999" cy="6857996"/>
          </a:xfrm>
          <a:prstGeom prst="rect">
            <a:avLst/>
          </a:prstGeom>
          <a:blipFill>
            <a:blip r:embed="rId7" cstate="print"/>
            <a:stretch>
              <a:fillRect/>
            </a:stretch>
          </a:blipFill>
        </p:spPr>
        <p:txBody>
          <a:bodyPr wrap="square" lIns="0" tIns="0" rIns="0" bIns="0" rtlCol="0"/>
          <a:lstStyle/>
          <a:p>
            <a:endParaRPr/>
          </a:p>
        </p:txBody>
      </p:sp>
      <p:sp>
        <p:nvSpPr>
          <p:cNvPr id="18" name="bg object 18"/>
          <p:cNvSpPr/>
          <p:nvPr/>
        </p:nvSpPr>
        <p:spPr>
          <a:xfrm>
            <a:off x="602330" y="6126176"/>
            <a:ext cx="1375720" cy="520558"/>
          </a:xfrm>
          <a:prstGeom prst="rect">
            <a:avLst/>
          </a:prstGeom>
          <a:blipFill>
            <a:blip r:embed="rId8" cstate="print"/>
            <a:stretch>
              <a:fillRect/>
            </a:stretch>
          </a:blipFill>
        </p:spPr>
        <p:txBody>
          <a:bodyPr wrap="square" lIns="0" tIns="0" rIns="0" bIns="0" rtlCol="0"/>
          <a:lstStyle/>
          <a:p>
            <a:endParaRPr/>
          </a:p>
        </p:txBody>
      </p:sp>
      <p:sp>
        <p:nvSpPr>
          <p:cNvPr id="19" name="bg object 19"/>
          <p:cNvSpPr/>
          <p:nvPr/>
        </p:nvSpPr>
        <p:spPr>
          <a:xfrm>
            <a:off x="2107999" y="6126176"/>
            <a:ext cx="0" cy="520700"/>
          </a:xfrm>
          <a:custGeom>
            <a:avLst/>
            <a:gdLst/>
            <a:ahLst/>
            <a:cxnLst/>
            <a:rect l="l" t="t" r="r" b="b"/>
            <a:pathLst>
              <a:path h="520700">
                <a:moveTo>
                  <a:pt x="0" y="0"/>
                </a:moveTo>
                <a:lnTo>
                  <a:pt x="0" y="520558"/>
                </a:lnTo>
              </a:path>
            </a:pathLst>
          </a:custGeom>
          <a:ln w="9305">
            <a:solidFill>
              <a:srgbClr val="000000"/>
            </a:solidFill>
          </a:ln>
        </p:spPr>
        <p:txBody>
          <a:bodyPr wrap="square" lIns="0" tIns="0" rIns="0" bIns="0" rtlCol="0"/>
          <a:lstStyle/>
          <a:p>
            <a:endParaRPr/>
          </a:p>
        </p:txBody>
      </p:sp>
      <p:sp>
        <p:nvSpPr>
          <p:cNvPr id="20" name="bg object 20"/>
          <p:cNvSpPr/>
          <p:nvPr/>
        </p:nvSpPr>
        <p:spPr>
          <a:xfrm>
            <a:off x="7392683" y="6134950"/>
            <a:ext cx="152400" cy="430530"/>
          </a:xfrm>
          <a:custGeom>
            <a:avLst/>
            <a:gdLst/>
            <a:ahLst/>
            <a:cxnLst/>
            <a:rect l="l" t="t" r="r" b="b"/>
            <a:pathLst>
              <a:path w="152400" h="430529">
                <a:moveTo>
                  <a:pt x="97701" y="176441"/>
                </a:moveTo>
                <a:lnTo>
                  <a:pt x="96926" y="172631"/>
                </a:lnTo>
                <a:lnTo>
                  <a:pt x="93078" y="168071"/>
                </a:lnTo>
                <a:lnTo>
                  <a:pt x="61544" y="167309"/>
                </a:lnTo>
                <a:lnTo>
                  <a:pt x="58458" y="168071"/>
                </a:lnTo>
                <a:lnTo>
                  <a:pt x="53848" y="172631"/>
                </a:lnTo>
                <a:lnTo>
                  <a:pt x="53073" y="181000"/>
                </a:lnTo>
                <a:lnTo>
                  <a:pt x="53073" y="254012"/>
                </a:lnTo>
                <a:lnTo>
                  <a:pt x="53848" y="257810"/>
                </a:lnTo>
                <a:lnTo>
                  <a:pt x="58458" y="262369"/>
                </a:lnTo>
                <a:lnTo>
                  <a:pt x="89230" y="263131"/>
                </a:lnTo>
                <a:lnTo>
                  <a:pt x="92303" y="262369"/>
                </a:lnTo>
                <a:lnTo>
                  <a:pt x="96926" y="257810"/>
                </a:lnTo>
                <a:lnTo>
                  <a:pt x="97701" y="249440"/>
                </a:lnTo>
                <a:lnTo>
                  <a:pt x="97701" y="176441"/>
                </a:lnTo>
                <a:close/>
              </a:path>
              <a:path w="152400" h="430529">
                <a:moveTo>
                  <a:pt x="152311" y="19011"/>
                </a:moveTo>
                <a:lnTo>
                  <a:pt x="150368" y="11544"/>
                </a:lnTo>
                <a:lnTo>
                  <a:pt x="145961" y="5511"/>
                </a:lnTo>
                <a:lnTo>
                  <a:pt x="139547" y="1473"/>
                </a:lnTo>
                <a:lnTo>
                  <a:pt x="131546" y="0"/>
                </a:lnTo>
                <a:lnTo>
                  <a:pt x="128460" y="0"/>
                </a:lnTo>
                <a:lnTo>
                  <a:pt x="128460" y="179476"/>
                </a:lnTo>
                <a:lnTo>
                  <a:pt x="128460" y="250964"/>
                </a:lnTo>
                <a:lnTo>
                  <a:pt x="105867" y="285572"/>
                </a:lnTo>
                <a:lnTo>
                  <a:pt x="89230" y="288226"/>
                </a:lnTo>
                <a:lnTo>
                  <a:pt x="62318" y="288226"/>
                </a:lnTo>
                <a:lnTo>
                  <a:pt x="25488" y="266941"/>
                </a:lnTo>
                <a:lnTo>
                  <a:pt x="23088" y="250964"/>
                </a:lnTo>
                <a:lnTo>
                  <a:pt x="23088" y="179476"/>
                </a:lnTo>
                <a:lnTo>
                  <a:pt x="45681" y="144881"/>
                </a:lnTo>
                <a:lnTo>
                  <a:pt x="62318" y="142214"/>
                </a:lnTo>
                <a:lnTo>
                  <a:pt x="89230" y="142214"/>
                </a:lnTo>
                <a:lnTo>
                  <a:pt x="126060" y="163512"/>
                </a:lnTo>
                <a:lnTo>
                  <a:pt x="128460" y="179476"/>
                </a:lnTo>
                <a:lnTo>
                  <a:pt x="128460" y="0"/>
                </a:lnTo>
                <a:lnTo>
                  <a:pt x="20002" y="0"/>
                </a:lnTo>
                <a:lnTo>
                  <a:pt x="12014" y="1473"/>
                </a:lnTo>
                <a:lnTo>
                  <a:pt x="5676" y="5511"/>
                </a:lnTo>
                <a:lnTo>
                  <a:pt x="1511" y="11544"/>
                </a:lnTo>
                <a:lnTo>
                  <a:pt x="0" y="19011"/>
                </a:lnTo>
                <a:lnTo>
                  <a:pt x="0" y="411429"/>
                </a:lnTo>
                <a:lnTo>
                  <a:pt x="1612" y="418896"/>
                </a:lnTo>
                <a:lnTo>
                  <a:pt x="5969" y="424929"/>
                </a:lnTo>
                <a:lnTo>
                  <a:pt x="12331" y="428967"/>
                </a:lnTo>
                <a:lnTo>
                  <a:pt x="20002" y="430441"/>
                </a:lnTo>
                <a:lnTo>
                  <a:pt x="132308" y="430441"/>
                </a:lnTo>
                <a:lnTo>
                  <a:pt x="140309" y="428967"/>
                </a:lnTo>
                <a:lnTo>
                  <a:pt x="146634" y="424929"/>
                </a:lnTo>
                <a:lnTo>
                  <a:pt x="150812" y="418896"/>
                </a:lnTo>
                <a:lnTo>
                  <a:pt x="152311" y="411429"/>
                </a:lnTo>
                <a:lnTo>
                  <a:pt x="152311" y="288226"/>
                </a:lnTo>
                <a:lnTo>
                  <a:pt x="152311" y="142214"/>
                </a:lnTo>
                <a:lnTo>
                  <a:pt x="152311" y="19011"/>
                </a:lnTo>
                <a:close/>
              </a:path>
            </a:pathLst>
          </a:custGeom>
          <a:solidFill>
            <a:srgbClr val="EB6C50"/>
          </a:solidFill>
        </p:spPr>
        <p:txBody>
          <a:bodyPr wrap="square" lIns="0" tIns="0" rIns="0" bIns="0" rtlCol="0"/>
          <a:lstStyle/>
          <a:p>
            <a:endParaRPr/>
          </a:p>
        </p:txBody>
      </p:sp>
      <p:sp>
        <p:nvSpPr>
          <p:cNvPr id="21" name="bg object 21"/>
          <p:cNvSpPr/>
          <p:nvPr/>
        </p:nvSpPr>
        <p:spPr>
          <a:xfrm>
            <a:off x="6934993" y="6125818"/>
            <a:ext cx="158115" cy="447040"/>
          </a:xfrm>
          <a:custGeom>
            <a:avLst/>
            <a:gdLst/>
            <a:ahLst/>
            <a:cxnLst/>
            <a:rect l="l" t="t" r="r" b="b"/>
            <a:pathLst>
              <a:path w="158115" h="447040">
                <a:moveTo>
                  <a:pt x="136923" y="0"/>
                </a:moveTo>
                <a:lnTo>
                  <a:pt x="20769" y="0"/>
                </a:lnTo>
                <a:lnTo>
                  <a:pt x="12656" y="1591"/>
                </a:lnTo>
                <a:lnTo>
                  <a:pt x="6057" y="5892"/>
                </a:lnTo>
                <a:lnTo>
                  <a:pt x="1622" y="12190"/>
                </a:lnTo>
                <a:lnTo>
                  <a:pt x="0" y="19774"/>
                </a:lnTo>
                <a:lnTo>
                  <a:pt x="0" y="426642"/>
                </a:lnTo>
                <a:lnTo>
                  <a:pt x="1623" y="434223"/>
                </a:lnTo>
                <a:lnTo>
                  <a:pt x="6058" y="440522"/>
                </a:lnTo>
                <a:lnTo>
                  <a:pt x="12657" y="444824"/>
                </a:lnTo>
                <a:lnTo>
                  <a:pt x="20770" y="446417"/>
                </a:lnTo>
                <a:lnTo>
                  <a:pt x="136923" y="446417"/>
                </a:lnTo>
                <a:lnTo>
                  <a:pt x="145038" y="444824"/>
                </a:lnTo>
                <a:lnTo>
                  <a:pt x="151636" y="440522"/>
                </a:lnTo>
                <a:lnTo>
                  <a:pt x="156070" y="434223"/>
                </a:lnTo>
                <a:lnTo>
                  <a:pt x="157692" y="426642"/>
                </a:lnTo>
                <a:lnTo>
                  <a:pt x="157692" y="299636"/>
                </a:lnTo>
                <a:lnTo>
                  <a:pt x="34616" y="299636"/>
                </a:lnTo>
                <a:lnTo>
                  <a:pt x="33078" y="298119"/>
                </a:lnTo>
                <a:lnTo>
                  <a:pt x="33078" y="151338"/>
                </a:lnTo>
                <a:lnTo>
                  <a:pt x="34615" y="149821"/>
                </a:lnTo>
                <a:lnTo>
                  <a:pt x="157692" y="149821"/>
                </a:lnTo>
                <a:lnTo>
                  <a:pt x="157692" y="19774"/>
                </a:lnTo>
                <a:lnTo>
                  <a:pt x="156070" y="12190"/>
                </a:lnTo>
                <a:lnTo>
                  <a:pt x="151635" y="5892"/>
                </a:lnTo>
                <a:lnTo>
                  <a:pt x="145037" y="1591"/>
                </a:lnTo>
                <a:lnTo>
                  <a:pt x="136923" y="0"/>
                </a:lnTo>
                <a:close/>
              </a:path>
              <a:path w="158115" h="447040">
                <a:moveTo>
                  <a:pt x="157692" y="149821"/>
                </a:moveTo>
                <a:lnTo>
                  <a:pt x="63847" y="149821"/>
                </a:lnTo>
                <a:lnTo>
                  <a:pt x="65388" y="151338"/>
                </a:lnTo>
                <a:lnTo>
                  <a:pt x="65388" y="273021"/>
                </a:lnTo>
                <a:lnTo>
                  <a:pt x="66156" y="273780"/>
                </a:lnTo>
                <a:lnTo>
                  <a:pt x="123846" y="273780"/>
                </a:lnTo>
                <a:lnTo>
                  <a:pt x="125387" y="275303"/>
                </a:lnTo>
                <a:lnTo>
                  <a:pt x="125387" y="298119"/>
                </a:lnTo>
                <a:lnTo>
                  <a:pt x="123846" y="299636"/>
                </a:lnTo>
                <a:lnTo>
                  <a:pt x="157692" y="299636"/>
                </a:lnTo>
                <a:lnTo>
                  <a:pt x="157692" y="149821"/>
                </a:lnTo>
                <a:close/>
              </a:path>
            </a:pathLst>
          </a:custGeom>
          <a:solidFill>
            <a:srgbClr val="9ABA4E"/>
          </a:solidFill>
        </p:spPr>
        <p:txBody>
          <a:bodyPr wrap="square" lIns="0" tIns="0" rIns="0" bIns="0" rtlCol="0"/>
          <a:lstStyle/>
          <a:p>
            <a:endParaRPr/>
          </a:p>
        </p:txBody>
      </p:sp>
      <p:sp>
        <p:nvSpPr>
          <p:cNvPr id="22" name="bg object 22"/>
          <p:cNvSpPr/>
          <p:nvPr/>
        </p:nvSpPr>
        <p:spPr>
          <a:xfrm>
            <a:off x="7163448" y="6134950"/>
            <a:ext cx="153670" cy="512445"/>
          </a:xfrm>
          <a:custGeom>
            <a:avLst/>
            <a:gdLst/>
            <a:ahLst/>
            <a:cxnLst/>
            <a:rect l="l" t="t" r="r" b="b"/>
            <a:pathLst>
              <a:path w="153670" h="512445">
                <a:moveTo>
                  <a:pt x="117690" y="468477"/>
                </a:moveTo>
                <a:lnTo>
                  <a:pt x="109067" y="462800"/>
                </a:lnTo>
                <a:lnTo>
                  <a:pt x="99428" y="458495"/>
                </a:lnTo>
                <a:lnTo>
                  <a:pt x="88925" y="455739"/>
                </a:lnTo>
                <a:lnTo>
                  <a:pt x="77698" y="454787"/>
                </a:lnTo>
                <a:lnTo>
                  <a:pt x="66916" y="455307"/>
                </a:lnTo>
                <a:lnTo>
                  <a:pt x="56642" y="457822"/>
                </a:lnTo>
                <a:lnTo>
                  <a:pt x="47091" y="462051"/>
                </a:lnTo>
                <a:lnTo>
                  <a:pt x="38468" y="467715"/>
                </a:lnTo>
                <a:lnTo>
                  <a:pt x="77698" y="511822"/>
                </a:lnTo>
                <a:lnTo>
                  <a:pt x="117690" y="468477"/>
                </a:lnTo>
                <a:close/>
              </a:path>
              <a:path w="153670" h="512445">
                <a:moveTo>
                  <a:pt x="153085" y="19773"/>
                </a:moveTo>
                <a:lnTo>
                  <a:pt x="151460" y="12192"/>
                </a:lnTo>
                <a:lnTo>
                  <a:pt x="147027" y="5892"/>
                </a:lnTo>
                <a:lnTo>
                  <a:pt x="140423" y="1587"/>
                </a:lnTo>
                <a:lnTo>
                  <a:pt x="132308" y="0"/>
                </a:lnTo>
                <a:lnTo>
                  <a:pt x="126923" y="0"/>
                </a:lnTo>
                <a:lnTo>
                  <a:pt x="126923" y="144500"/>
                </a:lnTo>
                <a:lnTo>
                  <a:pt x="126923" y="165785"/>
                </a:lnTo>
                <a:lnTo>
                  <a:pt x="125387" y="167309"/>
                </a:lnTo>
                <a:lnTo>
                  <a:pt x="69240" y="167309"/>
                </a:lnTo>
                <a:lnTo>
                  <a:pt x="68465" y="168071"/>
                </a:lnTo>
                <a:lnTo>
                  <a:pt x="68465" y="200774"/>
                </a:lnTo>
                <a:lnTo>
                  <a:pt x="69240" y="201536"/>
                </a:lnTo>
                <a:lnTo>
                  <a:pt x="115392" y="201536"/>
                </a:lnTo>
                <a:lnTo>
                  <a:pt x="117690" y="203060"/>
                </a:lnTo>
                <a:lnTo>
                  <a:pt x="117690" y="224345"/>
                </a:lnTo>
                <a:lnTo>
                  <a:pt x="116166" y="225869"/>
                </a:lnTo>
                <a:lnTo>
                  <a:pt x="69240" y="225869"/>
                </a:lnTo>
                <a:lnTo>
                  <a:pt x="68465" y="226631"/>
                </a:lnTo>
                <a:lnTo>
                  <a:pt x="68465" y="260858"/>
                </a:lnTo>
                <a:lnTo>
                  <a:pt x="69240" y="261607"/>
                </a:lnTo>
                <a:lnTo>
                  <a:pt x="124625" y="261607"/>
                </a:lnTo>
                <a:lnTo>
                  <a:pt x="126161" y="263131"/>
                </a:lnTo>
                <a:lnTo>
                  <a:pt x="126161" y="284429"/>
                </a:lnTo>
                <a:lnTo>
                  <a:pt x="124625" y="285953"/>
                </a:lnTo>
                <a:lnTo>
                  <a:pt x="40005" y="285953"/>
                </a:lnTo>
                <a:lnTo>
                  <a:pt x="37693" y="284429"/>
                </a:lnTo>
                <a:lnTo>
                  <a:pt x="37693" y="147535"/>
                </a:lnTo>
                <a:lnTo>
                  <a:pt x="38468" y="147535"/>
                </a:lnTo>
                <a:lnTo>
                  <a:pt x="38468" y="144500"/>
                </a:lnTo>
                <a:lnTo>
                  <a:pt x="40005" y="142976"/>
                </a:lnTo>
                <a:lnTo>
                  <a:pt x="125387" y="142976"/>
                </a:lnTo>
                <a:lnTo>
                  <a:pt x="126923" y="144500"/>
                </a:lnTo>
                <a:lnTo>
                  <a:pt x="126923" y="0"/>
                </a:lnTo>
                <a:lnTo>
                  <a:pt x="20777" y="0"/>
                </a:lnTo>
                <a:lnTo>
                  <a:pt x="12661" y="1587"/>
                </a:lnTo>
                <a:lnTo>
                  <a:pt x="6057" y="5892"/>
                </a:lnTo>
                <a:lnTo>
                  <a:pt x="1625" y="12192"/>
                </a:lnTo>
                <a:lnTo>
                  <a:pt x="0" y="19773"/>
                </a:lnTo>
                <a:lnTo>
                  <a:pt x="0" y="416001"/>
                </a:lnTo>
                <a:lnTo>
                  <a:pt x="2311" y="420560"/>
                </a:lnTo>
                <a:lnTo>
                  <a:pt x="5410" y="423621"/>
                </a:lnTo>
                <a:lnTo>
                  <a:pt x="13855" y="432727"/>
                </a:lnTo>
                <a:lnTo>
                  <a:pt x="27419" y="423608"/>
                </a:lnTo>
                <a:lnTo>
                  <a:pt x="42405" y="416953"/>
                </a:lnTo>
                <a:lnTo>
                  <a:pt x="58737" y="412838"/>
                </a:lnTo>
                <a:lnTo>
                  <a:pt x="76161" y="411429"/>
                </a:lnTo>
                <a:lnTo>
                  <a:pt x="93700" y="412953"/>
                </a:lnTo>
                <a:lnTo>
                  <a:pt x="110299" y="417322"/>
                </a:lnTo>
                <a:lnTo>
                  <a:pt x="125590" y="424268"/>
                </a:lnTo>
                <a:lnTo>
                  <a:pt x="139242" y="433489"/>
                </a:lnTo>
                <a:lnTo>
                  <a:pt x="146926" y="425119"/>
                </a:lnTo>
                <a:lnTo>
                  <a:pt x="150774" y="421322"/>
                </a:lnTo>
                <a:lnTo>
                  <a:pt x="152984" y="416953"/>
                </a:lnTo>
                <a:lnTo>
                  <a:pt x="153085" y="411429"/>
                </a:lnTo>
                <a:lnTo>
                  <a:pt x="153085" y="285953"/>
                </a:lnTo>
                <a:lnTo>
                  <a:pt x="153085" y="142976"/>
                </a:lnTo>
                <a:lnTo>
                  <a:pt x="153085" y="19773"/>
                </a:lnTo>
                <a:close/>
              </a:path>
            </a:pathLst>
          </a:custGeom>
          <a:solidFill>
            <a:srgbClr val="2D6DA0"/>
          </a:solidFill>
        </p:spPr>
        <p:txBody>
          <a:bodyPr wrap="square" lIns="0" tIns="0" rIns="0" bIns="0" rtlCol="0"/>
          <a:lstStyle/>
          <a:p>
            <a:endParaRPr/>
          </a:p>
        </p:txBody>
      </p:sp>
      <p:sp>
        <p:nvSpPr>
          <p:cNvPr id="23" name="bg object 23"/>
          <p:cNvSpPr/>
          <p:nvPr/>
        </p:nvSpPr>
        <p:spPr>
          <a:xfrm>
            <a:off x="7675028" y="6143311"/>
            <a:ext cx="477671" cy="116353"/>
          </a:xfrm>
          <a:prstGeom prst="rect">
            <a:avLst/>
          </a:prstGeom>
          <a:blipFill>
            <a:blip r:embed="rId9" cstate="print"/>
            <a:stretch>
              <a:fillRect/>
            </a:stretch>
          </a:blipFill>
        </p:spPr>
        <p:txBody>
          <a:bodyPr wrap="square" lIns="0" tIns="0" rIns="0" bIns="0" rtlCol="0"/>
          <a:lstStyle/>
          <a:p>
            <a:endParaRPr/>
          </a:p>
        </p:txBody>
      </p:sp>
      <p:sp>
        <p:nvSpPr>
          <p:cNvPr id="24" name="bg object 24"/>
          <p:cNvSpPr/>
          <p:nvPr/>
        </p:nvSpPr>
        <p:spPr>
          <a:xfrm>
            <a:off x="7675791" y="6310629"/>
            <a:ext cx="565150" cy="97155"/>
          </a:xfrm>
          <a:custGeom>
            <a:avLst/>
            <a:gdLst/>
            <a:ahLst/>
            <a:cxnLst/>
            <a:rect l="l" t="t" r="r" b="b"/>
            <a:pathLst>
              <a:path w="565150" h="97154">
                <a:moveTo>
                  <a:pt x="53848" y="80606"/>
                </a:moveTo>
                <a:lnTo>
                  <a:pt x="19215" y="80606"/>
                </a:lnTo>
                <a:lnTo>
                  <a:pt x="19215" y="55511"/>
                </a:lnTo>
                <a:lnTo>
                  <a:pt x="50749" y="55511"/>
                </a:lnTo>
                <a:lnTo>
                  <a:pt x="50749" y="40297"/>
                </a:lnTo>
                <a:lnTo>
                  <a:pt x="19215" y="40297"/>
                </a:lnTo>
                <a:lnTo>
                  <a:pt x="19215" y="18249"/>
                </a:lnTo>
                <a:lnTo>
                  <a:pt x="52298" y="18249"/>
                </a:lnTo>
                <a:lnTo>
                  <a:pt x="52298" y="3035"/>
                </a:lnTo>
                <a:lnTo>
                  <a:pt x="0" y="3035"/>
                </a:lnTo>
                <a:lnTo>
                  <a:pt x="0" y="95821"/>
                </a:lnTo>
                <a:lnTo>
                  <a:pt x="53848" y="95821"/>
                </a:lnTo>
                <a:lnTo>
                  <a:pt x="53848" y="80606"/>
                </a:lnTo>
                <a:close/>
              </a:path>
              <a:path w="565150" h="97154">
                <a:moveTo>
                  <a:pt x="120777" y="66929"/>
                </a:moveTo>
                <a:lnTo>
                  <a:pt x="118452" y="54749"/>
                </a:lnTo>
                <a:lnTo>
                  <a:pt x="113817" y="49428"/>
                </a:lnTo>
                <a:lnTo>
                  <a:pt x="82283" y="34226"/>
                </a:lnTo>
                <a:lnTo>
                  <a:pt x="79184" y="28130"/>
                </a:lnTo>
                <a:lnTo>
                  <a:pt x="80733" y="18249"/>
                </a:lnTo>
                <a:lnTo>
                  <a:pt x="93827" y="14452"/>
                </a:lnTo>
                <a:lnTo>
                  <a:pt x="96151" y="15976"/>
                </a:lnTo>
                <a:lnTo>
                  <a:pt x="99174" y="20523"/>
                </a:lnTo>
                <a:lnTo>
                  <a:pt x="99949" y="28130"/>
                </a:lnTo>
                <a:lnTo>
                  <a:pt x="117678" y="28130"/>
                </a:lnTo>
                <a:lnTo>
                  <a:pt x="116903" y="18249"/>
                </a:lnTo>
                <a:lnTo>
                  <a:pt x="113817" y="12166"/>
                </a:lnTo>
                <a:lnTo>
                  <a:pt x="103822" y="3797"/>
                </a:lnTo>
                <a:lnTo>
                  <a:pt x="79184" y="1524"/>
                </a:lnTo>
                <a:lnTo>
                  <a:pt x="72288" y="3797"/>
                </a:lnTo>
                <a:lnTo>
                  <a:pt x="61518" y="12928"/>
                </a:lnTo>
                <a:lnTo>
                  <a:pt x="59194" y="19773"/>
                </a:lnTo>
                <a:lnTo>
                  <a:pt x="59194" y="32702"/>
                </a:lnTo>
                <a:lnTo>
                  <a:pt x="61518" y="41821"/>
                </a:lnTo>
                <a:lnTo>
                  <a:pt x="69964" y="50952"/>
                </a:lnTo>
                <a:lnTo>
                  <a:pt x="98463" y="63881"/>
                </a:lnTo>
                <a:lnTo>
                  <a:pt x="100723" y="76047"/>
                </a:lnTo>
                <a:lnTo>
                  <a:pt x="99174" y="79082"/>
                </a:lnTo>
                <a:lnTo>
                  <a:pt x="94602" y="82892"/>
                </a:lnTo>
                <a:lnTo>
                  <a:pt x="84607" y="83654"/>
                </a:lnTo>
                <a:lnTo>
                  <a:pt x="77635" y="78333"/>
                </a:lnTo>
                <a:lnTo>
                  <a:pt x="76161" y="69202"/>
                </a:lnTo>
                <a:lnTo>
                  <a:pt x="76936" y="69202"/>
                </a:lnTo>
                <a:lnTo>
                  <a:pt x="76936" y="66154"/>
                </a:lnTo>
                <a:lnTo>
                  <a:pt x="58420" y="66154"/>
                </a:lnTo>
                <a:lnTo>
                  <a:pt x="58420" y="76809"/>
                </a:lnTo>
                <a:lnTo>
                  <a:pt x="60744" y="83654"/>
                </a:lnTo>
                <a:lnTo>
                  <a:pt x="69964" y="92786"/>
                </a:lnTo>
                <a:lnTo>
                  <a:pt x="77635" y="95059"/>
                </a:lnTo>
                <a:lnTo>
                  <a:pt x="98463" y="95059"/>
                </a:lnTo>
                <a:lnTo>
                  <a:pt x="106908" y="92786"/>
                </a:lnTo>
                <a:lnTo>
                  <a:pt x="117678" y="83654"/>
                </a:lnTo>
                <a:lnTo>
                  <a:pt x="120777" y="76809"/>
                </a:lnTo>
                <a:lnTo>
                  <a:pt x="120777" y="66929"/>
                </a:lnTo>
                <a:close/>
              </a:path>
              <a:path w="565150" h="97154">
                <a:moveTo>
                  <a:pt x="186156" y="59321"/>
                </a:moveTo>
                <a:lnTo>
                  <a:pt x="167652" y="59321"/>
                </a:lnTo>
                <a:lnTo>
                  <a:pt x="167652" y="68440"/>
                </a:lnTo>
                <a:lnTo>
                  <a:pt x="163080" y="79857"/>
                </a:lnTo>
                <a:lnTo>
                  <a:pt x="153860" y="82130"/>
                </a:lnTo>
                <a:lnTo>
                  <a:pt x="147662" y="78333"/>
                </a:lnTo>
                <a:lnTo>
                  <a:pt x="143802" y="62357"/>
                </a:lnTo>
                <a:lnTo>
                  <a:pt x="144576" y="28130"/>
                </a:lnTo>
                <a:lnTo>
                  <a:pt x="148437" y="16725"/>
                </a:lnTo>
                <a:lnTo>
                  <a:pt x="159981" y="14452"/>
                </a:lnTo>
                <a:lnTo>
                  <a:pt x="163080" y="15976"/>
                </a:lnTo>
                <a:lnTo>
                  <a:pt x="166103" y="22047"/>
                </a:lnTo>
                <a:lnTo>
                  <a:pt x="166878" y="32702"/>
                </a:lnTo>
                <a:lnTo>
                  <a:pt x="184607" y="32702"/>
                </a:lnTo>
                <a:lnTo>
                  <a:pt x="184607" y="25857"/>
                </a:lnTo>
                <a:lnTo>
                  <a:pt x="178422" y="7594"/>
                </a:lnTo>
                <a:lnTo>
                  <a:pt x="167652" y="762"/>
                </a:lnTo>
                <a:lnTo>
                  <a:pt x="148437" y="0"/>
                </a:lnTo>
                <a:lnTo>
                  <a:pt x="143027" y="1524"/>
                </a:lnTo>
                <a:lnTo>
                  <a:pt x="133807" y="6083"/>
                </a:lnTo>
                <a:lnTo>
                  <a:pt x="130771" y="9118"/>
                </a:lnTo>
                <a:lnTo>
                  <a:pt x="126123" y="18249"/>
                </a:lnTo>
                <a:lnTo>
                  <a:pt x="123037" y="34226"/>
                </a:lnTo>
                <a:lnTo>
                  <a:pt x="124587" y="73761"/>
                </a:lnTo>
                <a:lnTo>
                  <a:pt x="130771" y="87452"/>
                </a:lnTo>
                <a:lnTo>
                  <a:pt x="133807" y="90500"/>
                </a:lnTo>
                <a:lnTo>
                  <a:pt x="143027" y="95059"/>
                </a:lnTo>
                <a:lnTo>
                  <a:pt x="161531" y="95821"/>
                </a:lnTo>
                <a:lnTo>
                  <a:pt x="174612" y="91262"/>
                </a:lnTo>
                <a:lnTo>
                  <a:pt x="177647" y="88214"/>
                </a:lnTo>
                <a:lnTo>
                  <a:pt x="183845" y="78333"/>
                </a:lnTo>
                <a:lnTo>
                  <a:pt x="186156" y="59321"/>
                </a:lnTo>
                <a:close/>
              </a:path>
              <a:path w="565150" h="97154">
                <a:moveTo>
                  <a:pt x="257670" y="95059"/>
                </a:moveTo>
                <a:lnTo>
                  <a:pt x="256120" y="94297"/>
                </a:lnTo>
                <a:lnTo>
                  <a:pt x="254571" y="89738"/>
                </a:lnTo>
                <a:lnTo>
                  <a:pt x="254571" y="86690"/>
                </a:lnTo>
                <a:lnTo>
                  <a:pt x="253796" y="82892"/>
                </a:lnTo>
                <a:lnTo>
                  <a:pt x="253796" y="71488"/>
                </a:lnTo>
                <a:lnTo>
                  <a:pt x="253022" y="69964"/>
                </a:lnTo>
                <a:lnTo>
                  <a:pt x="253022" y="60833"/>
                </a:lnTo>
                <a:lnTo>
                  <a:pt x="251548" y="57035"/>
                </a:lnTo>
                <a:lnTo>
                  <a:pt x="249224" y="54749"/>
                </a:lnTo>
                <a:lnTo>
                  <a:pt x="247675" y="52476"/>
                </a:lnTo>
                <a:lnTo>
                  <a:pt x="243801" y="50952"/>
                </a:lnTo>
                <a:lnTo>
                  <a:pt x="239229" y="50190"/>
                </a:lnTo>
                <a:lnTo>
                  <a:pt x="244576" y="48666"/>
                </a:lnTo>
                <a:lnTo>
                  <a:pt x="248450" y="46380"/>
                </a:lnTo>
                <a:lnTo>
                  <a:pt x="250304" y="43345"/>
                </a:lnTo>
                <a:lnTo>
                  <a:pt x="253022" y="38785"/>
                </a:lnTo>
                <a:lnTo>
                  <a:pt x="254571" y="33451"/>
                </a:lnTo>
                <a:lnTo>
                  <a:pt x="254571" y="19011"/>
                </a:lnTo>
                <a:lnTo>
                  <a:pt x="237680" y="3035"/>
                </a:lnTo>
                <a:lnTo>
                  <a:pt x="236905" y="3035"/>
                </a:lnTo>
                <a:lnTo>
                  <a:pt x="236905" y="21297"/>
                </a:lnTo>
                <a:lnTo>
                  <a:pt x="236905" y="34975"/>
                </a:lnTo>
                <a:lnTo>
                  <a:pt x="235356" y="38023"/>
                </a:lnTo>
                <a:lnTo>
                  <a:pt x="233032" y="40297"/>
                </a:lnTo>
                <a:lnTo>
                  <a:pt x="230009" y="42583"/>
                </a:lnTo>
                <a:lnTo>
                  <a:pt x="226910" y="43345"/>
                </a:lnTo>
                <a:lnTo>
                  <a:pt x="214591" y="43345"/>
                </a:lnTo>
                <a:lnTo>
                  <a:pt x="214591" y="16725"/>
                </a:lnTo>
                <a:lnTo>
                  <a:pt x="232270" y="16725"/>
                </a:lnTo>
                <a:lnTo>
                  <a:pt x="236905" y="21297"/>
                </a:lnTo>
                <a:lnTo>
                  <a:pt x="236905" y="3035"/>
                </a:lnTo>
                <a:lnTo>
                  <a:pt x="193827" y="3035"/>
                </a:lnTo>
                <a:lnTo>
                  <a:pt x="193827" y="95821"/>
                </a:lnTo>
                <a:lnTo>
                  <a:pt x="212280" y="95821"/>
                </a:lnTo>
                <a:lnTo>
                  <a:pt x="212280" y="57035"/>
                </a:lnTo>
                <a:lnTo>
                  <a:pt x="226136" y="57035"/>
                </a:lnTo>
                <a:lnTo>
                  <a:pt x="229235" y="57797"/>
                </a:lnTo>
                <a:lnTo>
                  <a:pt x="230720" y="60083"/>
                </a:lnTo>
                <a:lnTo>
                  <a:pt x="233032" y="61595"/>
                </a:lnTo>
                <a:lnTo>
                  <a:pt x="233807" y="64643"/>
                </a:lnTo>
                <a:lnTo>
                  <a:pt x="233883" y="69964"/>
                </a:lnTo>
                <a:lnTo>
                  <a:pt x="234581" y="85928"/>
                </a:lnTo>
                <a:lnTo>
                  <a:pt x="234581" y="87452"/>
                </a:lnTo>
                <a:lnTo>
                  <a:pt x="235356" y="89738"/>
                </a:lnTo>
                <a:lnTo>
                  <a:pt x="235356" y="92786"/>
                </a:lnTo>
                <a:lnTo>
                  <a:pt x="236905" y="95821"/>
                </a:lnTo>
                <a:lnTo>
                  <a:pt x="257670" y="95821"/>
                </a:lnTo>
                <a:lnTo>
                  <a:pt x="257670" y="95059"/>
                </a:lnTo>
                <a:close/>
              </a:path>
              <a:path w="565150" h="97154">
                <a:moveTo>
                  <a:pt x="286131" y="3048"/>
                </a:moveTo>
                <a:lnTo>
                  <a:pt x="267665" y="3048"/>
                </a:lnTo>
                <a:lnTo>
                  <a:pt x="267665" y="95059"/>
                </a:lnTo>
                <a:lnTo>
                  <a:pt x="286131" y="95059"/>
                </a:lnTo>
                <a:lnTo>
                  <a:pt x="286131" y="3048"/>
                </a:lnTo>
                <a:close/>
              </a:path>
              <a:path w="565150" h="97154">
                <a:moveTo>
                  <a:pt x="353034" y="3035"/>
                </a:moveTo>
                <a:lnTo>
                  <a:pt x="293065" y="3035"/>
                </a:lnTo>
                <a:lnTo>
                  <a:pt x="293065" y="18249"/>
                </a:lnTo>
                <a:lnTo>
                  <a:pt x="313829" y="18249"/>
                </a:lnTo>
                <a:lnTo>
                  <a:pt x="313829" y="95059"/>
                </a:lnTo>
                <a:lnTo>
                  <a:pt x="332270" y="95059"/>
                </a:lnTo>
                <a:lnTo>
                  <a:pt x="332270" y="18249"/>
                </a:lnTo>
                <a:lnTo>
                  <a:pt x="353034" y="18249"/>
                </a:lnTo>
                <a:lnTo>
                  <a:pt x="353034" y="3035"/>
                </a:lnTo>
                <a:close/>
              </a:path>
              <a:path w="565150" h="97154">
                <a:moveTo>
                  <a:pt x="416941" y="2273"/>
                </a:moveTo>
                <a:lnTo>
                  <a:pt x="398424" y="2273"/>
                </a:lnTo>
                <a:lnTo>
                  <a:pt x="398424" y="66929"/>
                </a:lnTo>
                <a:lnTo>
                  <a:pt x="397662" y="75285"/>
                </a:lnTo>
                <a:lnTo>
                  <a:pt x="394627" y="80606"/>
                </a:lnTo>
                <a:lnTo>
                  <a:pt x="385343" y="82892"/>
                </a:lnTo>
                <a:lnTo>
                  <a:pt x="379984" y="79857"/>
                </a:lnTo>
                <a:lnTo>
                  <a:pt x="376897" y="66929"/>
                </a:lnTo>
                <a:lnTo>
                  <a:pt x="376897" y="2273"/>
                </a:lnTo>
                <a:lnTo>
                  <a:pt x="358457" y="2273"/>
                </a:lnTo>
                <a:lnTo>
                  <a:pt x="358457" y="66929"/>
                </a:lnTo>
                <a:lnTo>
                  <a:pt x="359232" y="78333"/>
                </a:lnTo>
                <a:lnTo>
                  <a:pt x="362254" y="85928"/>
                </a:lnTo>
                <a:lnTo>
                  <a:pt x="369989" y="93535"/>
                </a:lnTo>
                <a:lnTo>
                  <a:pt x="373799" y="95059"/>
                </a:lnTo>
                <a:lnTo>
                  <a:pt x="391528" y="96583"/>
                </a:lnTo>
                <a:lnTo>
                  <a:pt x="404622" y="92786"/>
                </a:lnTo>
                <a:lnTo>
                  <a:pt x="413067" y="85178"/>
                </a:lnTo>
                <a:lnTo>
                  <a:pt x="416941" y="73012"/>
                </a:lnTo>
                <a:lnTo>
                  <a:pt x="416941" y="2273"/>
                </a:lnTo>
                <a:close/>
              </a:path>
              <a:path w="565150" h="97154">
                <a:moveTo>
                  <a:pt x="489991" y="95059"/>
                </a:moveTo>
                <a:lnTo>
                  <a:pt x="488442" y="94297"/>
                </a:lnTo>
                <a:lnTo>
                  <a:pt x="486892" y="89738"/>
                </a:lnTo>
                <a:lnTo>
                  <a:pt x="486892" y="86690"/>
                </a:lnTo>
                <a:lnTo>
                  <a:pt x="486117" y="82892"/>
                </a:lnTo>
                <a:lnTo>
                  <a:pt x="486117" y="71488"/>
                </a:lnTo>
                <a:lnTo>
                  <a:pt x="485355" y="69964"/>
                </a:lnTo>
                <a:lnTo>
                  <a:pt x="485355" y="60833"/>
                </a:lnTo>
                <a:lnTo>
                  <a:pt x="483806" y="57035"/>
                </a:lnTo>
                <a:lnTo>
                  <a:pt x="481545" y="54749"/>
                </a:lnTo>
                <a:lnTo>
                  <a:pt x="479996" y="52476"/>
                </a:lnTo>
                <a:lnTo>
                  <a:pt x="476135" y="50952"/>
                </a:lnTo>
                <a:lnTo>
                  <a:pt x="471551" y="50190"/>
                </a:lnTo>
                <a:lnTo>
                  <a:pt x="476897" y="48666"/>
                </a:lnTo>
                <a:lnTo>
                  <a:pt x="480771" y="46380"/>
                </a:lnTo>
                <a:lnTo>
                  <a:pt x="482574" y="43345"/>
                </a:lnTo>
                <a:lnTo>
                  <a:pt x="485355" y="38785"/>
                </a:lnTo>
                <a:lnTo>
                  <a:pt x="486892" y="33451"/>
                </a:lnTo>
                <a:lnTo>
                  <a:pt x="486892" y="19011"/>
                </a:lnTo>
                <a:lnTo>
                  <a:pt x="470001" y="3035"/>
                </a:lnTo>
                <a:lnTo>
                  <a:pt x="469226" y="3035"/>
                </a:lnTo>
                <a:lnTo>
                  <a:pt x="469226" y="21297"/>
                </a:lnTo>
                <a:lnTo>
                  <a:pt x="469226" y="34975"/>
                </a:lnTo>
                <a:lnTo>
                  <a:pt x="467677" y="38023"/>
                </a:lnTo>
                <a:lnTo>
                  <a:pt x="465366" y="40297"/>
                </a:lnTo>
                <a:lnTo>
                  <a:pt x="462267" y="42583"/>
                </a:lnTo>
                <a:lnTo>
                  <a:pt x="459232" y="43345"/>
                </a:lnTo>
                <a:lnTo>
                  <a:pt x="446925" y="43345"/>
                </a:lnTo>
                <a:lnTo>
                  <a:pt x="446925" y="16725"/>
                </a:lnTo>
                <a:lnTo>
                  <a:pt x="464591" y="16725"/>
                </a:lnTo>
                <a:lnTo>
                  <a:pt x="469226" y="21297"/>
                </a:lnTo>
                <a:lnTo>
                  <a:pt x="469226" y="3035"/>
                </a:lnTo>
                <a:lnTo>
                  <a:pt x="426161" y="3035"/>
                </a:lnTo>
                <a:lnTo>
                  <a:pt x="426161" y="95821"/>
                </a:lnTo>
                <a:lnTo>
                  <a:pt x="444601" y="95821"/>
                </a:lnTo>
                <a:lnTo>
                  <a:pt x="444601" y="57035"/>
                </a:lnTo>
                <a:lnTo>
                  <a:pt x="458457" y="57035"/>
                </a:lnTo>
                <a:lnTo>
                  <a:pt x="461492" y="57797"/>
                </a:lnTo>
                <a:lnTo>
                  <a:pt x="463042" y="60083"/>
                </a:lnTo>
                <a:lnTo>
                  <a:pt x="465366" y="61595"/>
                </a:lnTo>
                <a:lnTo>
                  <a:pt x="466140" y="64643"/>
                </a:lnTo>
                <a:lnTo>
                  <a:pt x="466204" y="69964"/>
                </a:lnTo>
                <a:lnTo>
                  <a:pt x="466902" y="85928"/>
                </a:lnTo>
                <a:lnTo>
                  <a:pt x="466902" y="87452"/>
                </a:lnTo>
                <a:lnTo>
                  <a:pt x="467677" y="89738"/>
                </a:lnTo>
                <a:lnTo>
                  <a:pt x="467677" y="92786"/>
                </a:lnTo>
                <a:lnTo>
                  <a:pt x="469226" y="95821"/>
                </a:lnTo>
                <a:lnTo>
                  <a:pt x="489991" y="95821"/>
                </a:lnTo>
                <a:lnTo>
                  <a:pt x="489991" y="95059"/>
                </a:lnTo>
                <a:close/>
              </a:path>
              <a:path w="565150" h="97154">
                <a:moveTo>
                  <a:pt x="564591" y="95059"/>
                </a:moveTo>
                <a:lnTo>
                  <a:pt x="559308" y="75285"/>
                </a:lnTo>
                <a:lnTo>
                  <a:pt x="555231" y="60083"/>
                </a:lnTo>
                <a:lnTo>
                  <a:pt x="544042" y="18249"/>
                </a:lnTo>
                <a:lnTo>
                  <a:pt x="539965" y="3035"/>
                </a:lnTo>
                <a:lnTo>
                  <a:pt x="537641" y="3035"/>
                </a:lnTo>
                <a:lnTo>
                  <a:pt x="537641" y="60083"/>
                </a:lnTo>
                <a:lnTo>
                  <a:pt x="519201" y="60083"/>
                </a:lnTo>
                <a:lnTo>
                  <a:pt x="528421" y="18249"/>
                </a:lnTo>
                <a:lnTo>
                  <a:pt x="537641" y="60083"/>
                </a:lnTo>
                <a:lnTo>
                  <a:pt x="537641" y="3035"/>
                </a:lnTo>
                <a:lnTo>
                  <a:pt x="516877" y="3035"/>
                </a:lnTo>
                <a:lnTo>
                  <a:pt x="492315" y="95059"/>
                </a:lnTo>
                <a:lnTo>
                  <a:pt x="511530" y="95059"/>
                </a:lnTo>
                <a:lnTo>
                  <a:pt x="516102" y="75285"/>
                </a:lnTo>
                <a:lnTo>
                  <a:pt x="540740" y="75285"/>
                </a:lnTo>
                <a:lnTo>
                  <a:pt x="545376" y="95059"/>
                </a:lnTo>
                <a:lnTo>
                  <a:pt x="564591" y="95059"/>
                </a:lnTo>
                <a:close/>
              </a:path>
            </a:pathLst>
          </a:custGeom>
          <a:solidFill>
            <a:srgbClr val="133942"/>
          </a:solidFill>
        </p:spPr>
        <p:txBody>
          <a:bodyPr wrap="square" lIns="0" tIns="0" rIns="0" bIns="0" rtlCol="0"/>
          <a:lstStyle/>
          <a:p>
            <a:endParaRPr/>
          </a:p>
        </p:txBody>
      </p:sp>
      <p:sp>
        <p:nvSpPr>
          <p:cNvPr id="25" name="bg object 25"/>
          <p:cNvSpPr/>
          <p:nvPr/>
        </p:nvSpPr>
        <p:spPr>
          <a:xfrm>
            <a:off x="8265025" y="6312901"/>
            <a:ext cx="66157" cy="93544"/>
          </a:xfrm>
          <a:prstGeom prst="rect">
            <a:avLst/>
          </a:prstGeom>
          <a:blipFill>
            <a:blip r:embed="rId10" cstate="print"/>
            <a:stretch>
              <a:fillRect/>
            </a:stretch>
          </a:blipFill>
        </p:spPr>
        <p:txBody>
          <a:bodyPr wrap="square" lIns="0" tIns="0" rIns="0" bIns="0" rtlCol="0"/>
          <a:lstStyle/>
          <a:p>
            <a:endParaRPr/>
          </a:p>
        </p:txBody>
      </p:sp>
      <p:sp>
        <p:nvSpPr>
          <p:cNvPr id="26" name="bg object 26"/>
          <p:cNvSpPr/>
          <p:nvPr/>
        </p:nvSpPr>
        <p:spPr>
          <a:xfrm>
            <a:off x="7674255" y="6458158"/>
            <a:ext cx="1170773" cy="116359"/>
          </a:xfrm>
          <a:prstGeom prst="rect">
            <a:avLst/>
          </a:prstGeom>
          <a:blipFill>
            <a:blip r:embed="rId11" cstate="print"/>
            <a:stretch>
              <a:fillRect/>
            </a:stretch>
          </a:blipFill>
        </p:spPr>
        <p:txBody>
          <a:bodyPr wrap="square" lIns="0" tIns="0" rIns="0" bIns="0" rtlCol="0"/>
          <a:lstStyle/>
          <a:p>
            <a:endParaRPr/>
          </a:p>
        </p:txBody>
      </p:sp>
      <p:sp>
        <p:nvSpPr>
          <p:cNvPr id="27" name="bg object 27"/>
          <p:cNvSpPr/>
          <p:nvPr/>
        </p:nvSpPr>
        <p:spPr>
          <a:xfrm>
            <a:off x="596645" y="5938265"/>
            <a:ext cx="8256270" cy="0"/>
          </a:xfrm>
          <a:custGeom>
            <a:avLst/>
            <a:gdLst/>
            <a:ahLst/>
            <a:cxnLst/>
            <a:rect l="l" t="t" r="r" b="b"/>
            <a:pathLst>
              <a:path w="8256270">
                <a:moveTo>
                  <a:pt x="0" y="0"/>
                </a:moveTo>
                <a:lnTo>
                  <a:pt x="8256143" y="0"/>
                </a:lnTo>
              </a:path>
            </a:pathLst>
          </a:custGeom>
          <a:ln w="25400">
            <a:solidFill>
              <a:srgbClr val="2E5496"/>
            </a:solidFill>
          </a:ln>
        </p:spPr>
        <p:txBody>
          <a:bodyPr wrap="square" lIns="0" tIns="0" rIns="0" bIns="0" rtlCol="0"/>
          <a:lstStyle/>
          <a:p>
            <a:endParaRPr/>
          </a:p>
        </p:txBody>
      </p:sp>
      <p:sp>
        <p:nvSpPr>
          <p:cNvPr id="2" name="Holder 2"/>
          <p:cNvSpPr>
            <a:spLocks noGrp="1"/>
          </p:cNvSpPr>
          <p:nvPr>
            <p:ph type="title"/>
          </p:nvPr>
        </p:nvSpPr>
        <p:spPr>
          <a:xfrm>
            <a:off x="3778250" y="969340"/>
            <a:ext cx="4635499" cy="635000"/>
          </a:xfrm>
          <a:prstGeom prst="rect">
            <a:avLst/>
          </a:prstGeom>
        </p:spPr>
        <p:txBody>
          <a:bodyPr wrap="square" lIns="0" tIns="0" rIns="0" bIns="0">
            <a:spAutoFit/>
          </a:bodyPr>
          <a:lstStyle>
            <a:lvl1pPr>
              <a:defRPr sz="4000" b="1" i="0">
                <a:solidFill>
                  <a:schemeClr val="tx1"/>
                </a:solidFill>
                <a:latin typeface="Carlito"/>
                <a:cs typeface="Carlito"/>
              </a:defRPr>
            </a:lvl1pPr>
          </a:lstStyle>
          <a:p>
            <a:endParaRPr/>
          </a:p>
        </p:txBody>
      </p:sp>
      <p:sp>
        <p:nvSpPr>
          <p:cNvPr id="3" name="Holder 3"/>
          <p:cNvSpPr>
            <a:spLocks noGrp="1"/>
          </p:cNvSpPr>
          <p:nvPr>
            <p:ph type="body" idx="1"/>
          </p:nvPr>
        </p:nvSpPr>
        <p:spPr>
          <a:xfrm>
            <a:off x="1194561" y="1720342"/>
            <a:ext cx="9802876" cy="3154679"/>
          </a:xfrm>
          <a:prstGeom prst="rect">
            <a:avLst/>
          </a:prstGeom>
        </p:spPr>
        <p:txBody>
          <a:bodyPr wrap="square" lIns="0" tIns="0" rIns="0" bIns="0">
            <a:spAutoFit/>
          </a:bodyPr>
          <a:lstStyle>
            <a:lvl1pPr>
              <a:defRPr sz="6000" b="1" i="0">
                <a:solidFill>
                  <a:schemeClr val="tx1"/>
                </a:solidFill>
                <a:latin typeface="Carlito"/>
                <a:cs typeface="Carlito"/>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21.sv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image" Target="../media/image20.png"/><Relationship Id="rId16" Type="http://schemas.openxmlformats.org/officeDocument/2006/relationships/image" Target="../media/image16.png"/><Relationship Id="rId1" Type="http://schemas.openxmlformats.org/officeDocument/2006/relationships/slideLayout" Target="../slideLayouts/slideLayout5.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23.svg"/><Relationship Id="rId15" Type="http://schemas.openxmlformats.org/officeDocument/2006/relationships/image" Target="../media/image15.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22.png"/><Relationship Id="rId9" Type="http://schemas.openxmlformats.org/officeDocument/2006/relationships/image" Target="../media/image9.pn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6.png"/><Relationship Id="rId3" Type="http://schemas.openxmlformats.org/officeDocument/2006/relationships/image" Target="../media/image7.png"/><Relationship Id="rId21" Type="http://schemas.openxmlformats.org/officeDocument/2006/relationships/image" Target="../media/image29.sv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5.svg"/><Relationship Id="rId2" Type="http://schemas.openxmlformats.org/officeDocument/2006/relationships/image" Target="../media/image6.png"/><Relationship Id="rId16" Type="http://schemas.openxmlformats.org/officeDocument/2006/relationships/image" Target="../media/image24.png"/><Relationship Id="rId20" Type="http://schemas.openxmlformats.org/officeDocument/2006/relationships/image" Target="../media/image28.png"/><Relationship Id="rId1" Type="http://schemas.openxmlformats.org/officeDocument/2006/relationships/slideLayout" Target="../slideLayouts/slideLayout5.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23" Type="http://schemas.openxmlformats.org/officeDocument/2006/relationships/image" Target="../media/image31.svg"/><Relationship Id="rId10" Type="http://schemas.openxmlformats.org/officeDocument/2006/relationships/image" Target="../media/image14.png"/><Relationship Id="rId19" Type="http://schemas.openxmlformats.org/officeDocument/2006/relationships/image" Target="../media/image27.sv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 Id="rId22" Type="http://schemas.openxmlformats.org/officeDocument/2006/relationships/image" Target="../media/image30.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34.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33.png"/><Relationship Id="rId2" Type="http://schemas.openxmlformats.org/officeDocument/2006/relationships/image" Target="../media/image6.png"/><Relationship Id="rId16" Type="http://schemas.openxmlformats.org/officeDocument/2006/relationships/image" Target="../media/image32.png"/><Relationship Id="rId20" Type="http://schemas.openxmlformats.org/officeDocument/2006/relationships/image" Target="../media/image36.svg"/><Relationship Id="rId1" Type="http://schemas.openxmlformats.org/officeDocument/2006/relationships/slideLayout" Target="../slideLayouts/slideLayout5.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35.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39.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38.svg"/><Relationship Id="rId2" Type="http://schemas.openxmlformats.org/officeDocument/2006/relationships/image" Target="../media/image6.png"/><Relationship Id="rId16" Type="http://schemas.openxmlformats.org/officeDocument/2006/relationships/image" Target="../media/image37.png"/><Relationship Id="rId1" Type="http://schemas.openxmlformats.org/officeDocument/2006/relationships/slideLayout" Target="../slideLayouts/slideLayout5.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40.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31.svg"/><Relationship Id="rId3" Type="http://schemas.openxmlformats.org/officeDocument/2006/relationships/image" Target="../media/image6.png"/><Relationship Id="rId21" Type="http://schemas.openxmlformats.org/officeDocument/2006/relationships/image" Target="../media/image44.pn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30.png"/><Relationship Id="rId2" Type="http://schemas.openxmlformats.org/officeDocument/2006/relationships/image" Target="../media/image41.png"/><Relationship Id="rId16" Type="http://schemas.openxmlformats.org/officeDocument/2006/relationships/image" Target="../media/image19.png"/><Relationship Id="rId20" Type="http://schemas.openxmlformats.org/officeDocument/2006/relationships/image" Target="../media/image43.svg"/><Relationship Id="rId1" Type="http://schemas.openxmlformats.org/officeDocument/2006/relationships/slideLayout" Target="../slideLayouts/slideLayout5.xml"/><Relationship Id="rId6" Type="http://schemas.openxmlformats.org/officeDocument/2006/relationships/image" Target="../media/image9.png"/><Relationship Id="rId11" Type="http://schemas.openxmlformats.org/officeDocument/2006/relationships/image" Target="../media/image14.png"/><Relationship Id="rId24" Type="http://schemas.openxmlformats.org/officeDocument/2006/relationships/image" Target="../media/image47.svg"/><Relationship Id="rId5" Type="http://schemas.openxmlformats.org/officeDocument/2006/relationships/image" Target="../media/image8.png"/><Relationship Id="rId15" Type="http://schemas.openxmlformats.org/officeDocument/2006/relationships/image" Target="../media/image18.png"/><Relationship Id="rId23" Type="http://schemas.openxmlformats.org/officeDocument/2006/relationships/image" Target="../media/image46.png"/><Relationship Id="rId10" Type="http://schemas.openxmlformats.org/officeDocument/2006/relationships/image" Target="../media/image13.png"/><Relationship Id="rId19" Type="http://schemas.openxmlformats.org/officeDocument/2006/relationships/image" Target="../media/image42.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 Id="rId22" Type="http://schemas.openxmlformats.org/officeDocument/2006/relationships/image" Target="../media/image45.svg"/></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49.svg"/><Relationship Id="rId2" Type="http://schemas.openxmlformats.org/officeDocument/2006/relationships/image" Target="../media/image6.png"/><Relationship Id="rId16" Type="http://schemas.openxmlformats.org/officeDocument/2006/relationships/image" Target="../media/image48.png"/><Relationship Id="rId1" Type="http://schemas.openxmlformats.org/officeDocument/2006/relationships/slideLayout" Target="../slideLayouts/slideLayout5.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bject 62"/>
          <p:cNvSpPr txBox="1">
            <a:spLocks noGrp="1"/>
          </p:cNvSpPr>
          <p:nvPr>
            <p:ph type="body" idx="1"/>
          </p:nvPr>
        </p:nvSpPr>
        <p:spPr>
          <a:xfrm>
            <a:off x="2079331" y="1861254"/>
            <a:ext cx="8240098" cy="628377"/>
          </a:xfrm>
          <a:prstGeom prst="rect">
            <a:avLst/>
          </a:prstGeom>
        </p:spPr>
        <p:txBody>
          <a:bodyPr vert="horz" wrap="square" lIns="0" tIns="12700" rIns="0" bIns="0" rtlCol="0">
            <a:spAutoFit/>
          </a:bodyPr>
          <a:lstStyle/>
          <a:p>
            <a:pPr marR="5080" algn="ctr">
              <a:lnSpc>
                <a:spcPct val="100000"/>
              </a:lnSpc>
              <a:spcBef>
                <a:spcPts val="100"/>
              </a:spcBef>
            </a:pPr>
            <a:r>
              <a:rPr lang="es-CO" sz="4000" spc="-25" dirty="0">
                <a:solidFill>
                  <a:schemeClr val="tx2"/>
                </a:solidFill>
                <a:latin typeface="Aptos Narrow" panose="020B0004020202020204" pitchFamily="34" charset="0"/>
              </a:rPr>
              <a:t>Sección 1</a:t>
            </a:r>
            <a:endParaRPr sz="4000" spc="-25" dirty="0">
              <a:solidFill>
                <a:schemeClr val="tx2"/>
              </a:solidFill>
              <a:latin typeface="Aptos Narrow" panose="020B0004020202020204" pitchFamily="34" charset="0"/>
            </a:endParaRPr>
          </a:p>
        </p:txBody>
      </p:sp>
      <p:sp>
        <p:nvSpPr>
          <p:cNvPr id="45" name="CuadroTexto 44">
            <a:extLst>
              <a:ext uri="{FF2B5EF4-FFF2-40B4-BE49-F238E27FC236}">
                <a16:creationId xmlns:a16="http://schemas.microsoft.com/office/drawing/2014/main" id="{1E050CE7-CF0D-7E45-AF03-004F6773D8A7}"/>
              </a:ext>
            </a:extLst>
          </p:cNvPr>
          <p:cNvSpPr txBox="1"/>
          <p:nvPr/>
        </p:nvSpPr>
        <p:spPr>
          <a:xfrm>
            <a:off x="3420290" y="4350276"/>
            <a:ext cx="5334000" cy="1107996"/>
          </a:xfrm>
          <a:prstGeom prst="rect">
            <a:avLst/>
          </a:prstGeom>
          <a:noFill/>
        </p:spPr>
        <p:txBody>
          <a:bodyPr wrap="square" rtlCol="0">
            <a:spAutoFit/>
          </a:bodyPr>
          <a:lstStyle/>
          <a:p>
            <a:pPr algn="ctr"/>
            <a:r>
              <a:rPr lang="es-CO" sz="1600" b="1" dirty="0">
                <a:latin typeface="Aptos Narrow" panose="020B0004020202020204" pitchFamily="34" charset="0"/>
              </a:rPr>
              <a:t>Big Data y Machine Learnig para Economía Aplicada</a:t>
            </a:r>
          </a:p>
          <a:p>
            <a:pPr algn="ctr"/>
            <a:r>
              <a:rPr lang="es-CO" sz="1200" i="1" dirty="0">
                <a:latin typeface="Aptos Narrow" panose="020B0004020202020204" pitchFamily="34" charset="0"/>
              </a:rPr>
              <a:t>Luisa Vargas</a:t>
            </a:r>
          </a:p>
          <a:p>
            <a:pPr algn="ctr"/>
            <a:r>
              <a:rPr lang="es-CO" sz="1200" i="1" dirty="0">
                <a:latin typeface="Aptos Narrow" panose="020B0004020202020204" pitchFamily="34" charset="0"/>
              </a:rPr>
              <a:t>Paula Márquez</a:t>
            </a:r>
          </a:p>
          <a:p>
            <a:pPr algn="ctr"/>
            <a:r>
              <a:rPr lang="es-CO" sz="1200" i="1" dirty="0">
                <a:latin typeface="Aptos Narrow" panose="020B0004020202020204" pitchFamily="34" charset="0"/>
              </a:rPr>
              <a:t>Valentina Hernández</a:t>
            </a:r>
          </a:p>
          <a:p>
            <a:pPr algn="ctr"/>
            <a:r>
              <a:rPr lang="es-CO" sz="1200" dirty="0">
                <a:latin typeface="Aptos Narrow" panose="020B0004020202020204" pitchFamily="34" charset="0"/>
              </a:rPr>
              <a:t>2026-1</a:t>
            </a:r>
          </a:p>
        </p:txBody>
      </p:sp>
      <p:grpSp>
        <p:nvGrpSpPr>
          <p:cNvPr id="28" name="Grupo 27">
            <a:extLst>
              <a:ext uri="{FF2B5EF4-FFF2-40B4-BE49-F238E27FC236}">
                <a16:creationId xmlns:a16="http://schemas.microsoft.com/office/drawing/2014/main" id="{A8CC115A-8E12-9785-541B-9A351EEF7693}"/>
              </a:ext>
            </a:extLst>
          </p:cNvPr>
          <p:cNvGrpSpPr/>
          <p:nvPr/>
        </p:nvGrpSpPr>
        <p:grpSpPr>
          <a:xfrm>
            <a:off x="9818298" y="273960"/>
            <a:ext cx="2373702" cy="691515"/>
            <a:chOff x="338281" y="6096000"/>
            <a:chExt cx="2373702" cy="691515"/>
          </a:xfrm>
        </p:grpSpPr>
        <p:sp>
          <p:nvSpPr>
            <p:cNvPr id="27" name="Rectángulo 26">
              <a:extLst>
                <a:ext uri="{FF2B5EF4-FFF2-40B4-BE49-F238E27FC236}">
                  <a16:creationId xmlns:a16="http://schemas.microsoft.com/office/drawing/2014/main" id="{B5D4D1D7-332E-1145-4E65-E998B0A39FDB}"/>
                </a:ext>
              </a:extLst>
            </p:cNvPr>
            <p:cNvSpPr/>
            <p:nvPr/>
          </p:nvSpPr>
          <p:spPr>
            <a:xfrm>
              <a:off x="338281" y="6096000"/>
              <a:ext cx="2373702"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46" name="Grupo 45">
              <a:extLst>
                <a:ext uri="{FF2B5EF4-FFF2-40B4-BE49-F238E27FC236}">
                  <a16:creationId xmlns:a16="http://schemas.microsoft.com/office/drawing/2014/main" id="{CFDB2B7E-C1E6-2C94-B3A9-7BC0B70E8F24}"/>
                </a:ext>
              </a:extLst>
            </p:cNvPr>
            <p:cNvGrpSpPr/>
            <p:nvPr/>
          </p:nvGrpSpPr>
          <p:grpSpPr>
            <a:xfrm>
              <a:off x="685800" y="6096000"/>
              <a:ext cx="1447800" cy="495372"/>
              <a:chOff x="582416" y="5645548"/>
              <a:chExt cx="2329523" cy="691515"/>
            </a:xfrm>
          </p:grpSpPr>
          <p:sp>
            <p:nvSpPr>
              <p:cNvPr id="2" name="object 2"/>
              <p:cNvSpPr/>
              <p:nvPr/>
            </p:nvSpPr>
            <p:spPr>
              <a:xfrm>
                <a:off x="582416" y="5645548"/>
                <a:ext cx="589915" cy="691515"/>
              </a:xfrm>
              <a:custGeom>
                <a:avLst/>
                <a:gdLst/>
                <a:ahLst/>
                <a:cxnLst/>
                <a:rect l="l" t="t" r="r" b="b"/>
                <a:pathLst>
                  <a:path w="589915" h="691514">
                    <a:moveTo>
                      <a:pt x="311958" y="97402"/>
                    </a:moveTo>
                    <a:lnTo>
                      <a:pt x="286126" y="97402"/>
                    </a:lnTo>
                    <a:lnTo>
                      <a:pt x="287264" y="104907"/>
                    </a:lnTo>
                    <a:lnTo>
                      <a:pt x="290172" y="124419"/>
                    </a:lnTo>
                    <a:lnTo>
                      <a:pt x="294174" y="152016"/>
                    </a:lnTo>
                    <a:lnTo>
                      <a:pt x="298270" y="181453"/>
                    </a:lnTo>
                    <a:lnTo>
                      <a:pt x="302721" y="200882"/>
                    </a:lnTo>
                    <a:lnTo>
                      <a:pt x="312125" y="239243"/>
                    </a:lnTo>
                    <a:lnTo>
                      <a:pt x="320584" y="296325"/>
                    </a:lnTo>
                    <a:lnTo>
                      <a:pt x="327583" y="362622"/>
                    </a:lnTo>
                    <a:lnTo>
                      <a:pt x="331926" y="440339"/>
                    </a:lnTo>
                    <a:lnTo>
                      <a:pt x="337659" y="553000"/>
                    </a:lnTo>
                    <a:lnTo>
                      <a:pt x="330998" y="595071"/>
                    </a:lnTo>
                    <a:lnTo>
                      <a:pt x="308224" y="625761"/>
                    </a:lnTo>
                    <a:lnTo>
                      <a:pt x="301539" y="633722"/>
                    </a:lnTo>
                    <a:lnTo>
                      <a:pt x="298270" y="648438"/>
                    </a:lnTo>
                    <a:lnTo>
                      <a:pt x="297656" y="661866"/>
                    </a:lnTo>
                    <a:lnTo>
                      <a:pt x="297595" y="673796"/>
                    </a:lnTo>
                    <a:lnTo>
                      <a:pt x="298650" y="681469"/>
                    </a:lnTo>
                    <a:lnTo>
                      <a:pt x="300971" y="691142"/>
                    </a:lnTo>
                    <a:lnTo>
                      <a:pt x="322460" y="690557"/>
                    </a:lnTo>
                    <a:lnTo>
                      <a:pt x="367010" y="684945"/>
                    </a:lnTo>
                    <a:lnTo>
                      <a:pt x="345996" y="683276"/>
                    </a:lnTo>
                    <a:lnTo>
                      <a:pt x="330662" y="664450"/>
                    </a:lnTo>
                    <a:lnTo>
                      <a:pt x="326610" y="656450"/>
                    </a:lnTo>
                    <a:lnTo>
                      <a:pt x="329311" y="656450"/>
                    </a:lnTo>
                    <a:lnTo>
                      <a:pt x="329311" y="643109"/>
                    </a:lnTo>
                    <a:lnTo>
                      <a:pt x="346960" y="604642"/>
                    </a:lnTo>
                    <a:lnTo>
                      <a:pt x="365755" y="584393"/>
                    </a:lnTo>
                    <a:lnTo>
                      <a:pt x="365755" y="579064"/>
                    </a:lnTo>
                    <a:lnTo>
                      <a:pt x="368456" y="568382"/>
                    </a:lnTo>
                    <a:lnTo>
                      <a:pt x="373472" y="527690"/>
                    </a:lnTo>
                    <a:lnTo>
                      <a:pt x="376212" y="475991"/>
                    </a:lnTo>
                    <a:lnTo>
                      <a:pt x="376422" y="425791"/>
                    </a:lnTo>
                    <a:lnTo>
                      <a:pt x="373847" y="389599"/>
                    </a:lnTo>
                    <a:lnTo>
                      <a:pt x="371211" y="374189"/>
                    </a:lnTo>
                    <a:lnTo>
                      <a:pt x="365920" y="344397"/>
                    </a:lnTo>
                    <a:lnTo>
                      <a:pt x="358857" y="303848"/>
                    </a:lnTo>
                    <a:lnTo>
                      <a:pt x="350910" y="256168"/>
                    </a:lnTo>
                    <a:lnTo>
                      <a:pt x="342956" y="212974"/>
                    </a:lnTo>
                    <a:lnTo>
                      <a:pt x="334782" y="181453"/>
                    </a:lnTo>
                    <a:lnTo>
                      <a:pt x="326043" y="151100"/>
                    </a:lnTo>
                    <a:lnTo>
                      <a:pt x="315816" y="109408"/>
                    </a:lnTo>
                    <a:lnTo>
                      <a:pt x="311958" y="97402"/>
                    </a:lnTo>
                    <a:close/>
                  </a:path>
                  <a:path w="589915" h="691514">
                    <a:moveTo>
                      <a:pt x="367433" y="684891"/>
                    </a:moveTo>
                    <a:lnTo>
                      <a:pt x="367010" y="684945"/>
                    </a:lnTo>
                    <a:lnTo>
                      <a:pt x="367274" y="684966"/>
                    </a:lnTo>
                    <a:lnTo>
                      <a:pt x="367433" y="684891"/>
                    </a:lnTo>
                    <a:close/>
                  </a:path>
                  <a:path w="589915" h="691514">
                    <a:moveTo>
                      <a:pt x="558230" y="26681"/>
                    </a:moveTo>
                    <a:lnTo>
                      <a:pt x="294218" y="26681"/>
                    </a:lnTo>
                    <a:lnTo>
                      <a:pt x="355567" y="27369"/>
                    </a:lnTo>
                    <a:lnTo>
                      <a:pt x="400339" y="32185"/>
                    </a:lnTo>
                    <a:lnTo>
                      <a:pt x="450425" y="45256"/>
                    </a:lnTo>
                    <a:lnTo>
                      <a:pt x="527715" y="70709"/>
                    </a:lnTo>
                    <a:lnTo>
                      <a:pt x="527669" y="553000"/>
                    </a:lnTo>
                    <a:lnTo>
                      <a:pt x="527061" y="579143"/>
                    </a:lnTo>
                    <a:lnTo>
                      <a:pt x="522484" y="595736"/>
                    </a:lnTo>
                    <a:lnTo>
                      <a:pt x="510061" y="607327"/>
                    </a:lnTo>
                    <a:lnTo>
                      <a:pt x="485869" y="620421"/>
                    </a:lnTo>
                    <a:lnTo>
                      <a:pt x="409049" y="665390"/>
                    </a:lnTo>
                    <a:lnTo>
                      <a:pt x="367433" y="684891"/>
                    </a:lnTo>
                    <a:lnTo>
                      <a:pt x="378743" y="683466"/>
                    </a:lnTo>
                    <a:lnTo>
                      <a:pt x="457548" y="661866"/>
                    </a:lnTo>
                    <a:lnTo>
                      <a:pt x="546601" y="617751"/>
                    </a:lnTo>
                    <a:lnTo>
                      <a:pt x="583618" y="580044"/>
                    </a:lnTo>
                    <a:lnTo>
                      <a:pt x="589797" y="551047"/>
                    </a:lnTo>
                    <a:lnTo>
                      <a:pt x="589797" y="32022"/>
                    </a:lnTo>
                    <a:lnTo>
                      <a:pt x="560485" y="27018"/>
                    </a:lnTo>
                    <a:lnTo>
                      <a:pt x="558230" y="26681"/>
                    </a:lnTo>
                    <a:close/>
                  </a:path>
                  <a:path w="589915" h="691514">
                    <a:moveTo>
                      <a:pt x="292867" y="0"/>
                    </a:moveTo>
                    <a:lnTo>
                      <a:pt x="228905" y="2372"/>
                    </a:lnTo>
                    <a:lnTo>
                      <a:pt x="162655" y="8302"/>
                    </a:lnTo>
                    <a:lnTo>
                      <a:pt x="100378" y="16011"/>
                    </a:lnTo>
                    <a:lnTo>
                      <a:pt x="48336" y="23720"/>
                    </a:lnTo>
                    <a:lnTo>
                      <a:pt x="0" y="32022"/>
                    </a:lnTo>
                    <a:lnTo>
                      <a:pt x="61" y="548376"/>
                    </a:lnTo>
                    <a:lnTo>
                      <a:pt x="1771" y="585444"/>
                    </a:lnTo>
                    <a:lnTo>
                      <a:pt x="14171" y="609085"/>
                    </a:lnTo>
                    <a:lnTo>
                      <a:pt x="47829" y="627721"/>
                    </a:lnTo>
                    <a:lnTo>
                      <a:pt x="113372" y="651109"/>
                    </a:lnTo>
                    <a:lnTo>
                      <a:pt x="87770" y="631303"/>
                    </a:lnTo>
                    <a:lnTo>
                      <a:pt x="73555" y="603744"/>
                    </a:lnTo>
                    <a:lnTo>
                      <a:pt x="67439" y="574184"/>
                    </a:lnTo>
                    <a:lnTo>
                      <a:pt x="66132" y="548376"/>
                    </a:lnTo>
                    <a:lnTo>
                      <a:pt x="66132" y="70709"/>
                    </a:lnTo>
                    <a:lnTo>
                      <a:pt x="87537" y="63830"/>
                    </a:lnTo>
                    <a:lnTo>
                      <a:pt x="142219" y="48695"/>
                    </a:lnTo>
                    <a:lnTo>
                      <a:pt x="215879" y="33561"/>
                    </a:lnTo>
                    <a:lnTo>
                      <a:pt x="294218" y="26681"/>
                    </a:lnTo>
                    <a:lnTo>
                      <a:pt x="558230" y="26681"/>
                    </a:lnTo>
                    <a:lnTo>
                      <a:pt x="486886" y="16011"/>
                    </a:lnTo>
                    <a:lnTo>
                      <a:pt x="390510" y="5003"/>
                    </a:lnTo>
                    <a:lnTo>
                      <a:pt x="292867" y="0"/>
                    </a:lnTo>
                    <a:close/>
                  </a:path>
                  <a:path w="589915" h="691514">
                    <a:moveTo>
                      <a:pt x="284775" y="46698"/>
                    </a:moveTo>
                    <a:lnTo>
                      <a:pt x="261826" y="98726"/>
                    </a:lnTo>
                    <a:lnTo>
                      <a:pt x="251961" y="152016"/>
                    </a:lnTo>
                    <a:lnTo>
                      <a:pt x="246898" y="196759"/>
                    </a:lnTo>
                    <a:lnTo>
                      <a:pt x="242830" y="248167"/>
                    </a:lnTo>
                    <a:lnTo>
                      <a:pt x="241590" y="272180"/>
                    </a:lnTo>
                    <a:lnTo>
                      <a:pt x="236862" y="348067"/>
                    </a:lnTo>
                    <a:lnTo>
                      <a:pt x="228084" y="487002"/>
                    </a:lnTo>
                    <a:lnTo>
                      <a:pt x="228147" y="489107"/>
                    </a:lnTo>
                    <a:lnTo>
                      <a:pt x="228590" y="492838"/>
                    </a:lnTo>
                    <a:lnTo>
                      <a:pt x="229793" y="494315"/>
                    </a:lnTo>
                    <a:lnTo>
                      <a:pt x="232135" y="489661"/>
                    </a:lnTo>
                    <a:lnTo>
                      <a:pt x="236333" y="462103"/>
                    </a:lnTo>
                    <a:lnTo>
                      <a:pt x="243441" y="405274"/>
                    </a:lnTo>
                    <a:lnTo>
                      <a:pt x="251309" y="339936"/>
                    </a:lnTo>
                    <a:lnTo>
                      <a:pt x="257786" y="286856"/>
                    </a:lnTo>
                    <a:lnTo>
                      <a:pt x="259826" y="267637"/>
                    </a:lnTo>
                    <a:lnTo>
                      <a:pt x="262054" y="247705"/>
                    </a:lnTo>
                    <a:lnTo>
                      <a:pt x="264422" y="228695"/>
                    </a:lnTo>
                    <a:lnTo>
                      <a:pt x="267229" y="209470"/>
                    </a:lnTo>
                    <a:lnTo>
                      <a:pt x="272270" y="171698"/>
                    </a:lnTo>
                    <a:lnTo>
                      <a:pt x="277184" y="138428"/>
                    </a:lnTo>
                    <a:lnTo>
                      <a:pt x="281844" y="112661"/>
                    </a:lnTo>
                    <a:lnTo>
                      <a:pt x="286126" y="97402"/>
                    </a:lnTo>
                    <a:lnTo>
                      <a:pt x="311958" y="97402"/>
                    </a:lnTo>
                    <a:lnTo>
                      <a:pt x="308687" y="87227"/>
                    </a:lnTo>
                    <a:lnTo>
                      <a:pt x="299283" y="67046"/>
                    </a:lnTo>
                    <a:lnTo>
                      <a:pt x="290385" y="52369"/>
                    </a:lnTo>
                    <a:lnTo>
                      <a:pt x="284775" y="46698"/>
                    </a:lnTo>
                    <a:close/>
                  </a:path>
                </a:pathLst>
              </a:custGeom>
              <a:solidFill>
                <a:srgbClr val="000000"/>
              </a:solidFill>
            </p:spPr>
            <p:txBody>
              <a:bodyPr wrap="square" lIns="0" tIns="0" rIns="0" bIns="0" rtlCol="0"/>
              <a:lstStyle/>
              <a:p>
                <a:endParaRPr/>
              </a:p>
            </p:txBody>
          </p:sp>
          <p:grpSp>
            <p:nvGrpSpPr>
              <p:cNvPr id="3" name="object 3"/>
              <p:cNvGrpSpPr/>
              <p:nvPr/>
            </p:nvGrpSpPr>
            <p:grpSpPr>
              <a:xfrm>
                <a:off x="2654129" y="5677571"/>
                <a:ext cx="257810" cy="194945"/>
                <a:chOff x="2654129" y="5677571"/>
                <a:chExt cx="257810" cy="194945"/>
              </a:xfrm>
            </p:grpSpPr>
            <p:sp>
              <p:nvSpPr>
                <p:cNvPr id="4" name="object 4"/>
                <p:cNvSpPr/>
                <p:nvPr/>
              </p:nvSpPr>
              <p:spPr>
                <a:xfrm>
                  <a:off x="2654129" y="5677571"/>
                  <a:ext cx="114688" cy="194794"/>
                </a:xfrm>
                <a:prstGeom prst="rect">
                  <a:avLst/>
                </a:prstGeom>
                <a:blipFill>
                  <a:blip r:embed="rId2" cstate="print"/>
                  <a:stretch>
                    <a:fillRect/>
                  </a:stretch>
                </a:blipFill>
              </p:spPr>
              <p:txBody>
                <a:bodyPr wrap="square" lIns="0" tIns="0" rIns="0" bIns="0" rtlCol="0"/>
                <a:lstStyle/>
                <a:p>
                  <a:endParaRPr/>
                </a:p>
              </p:txBody>
            </p:sp>
            <p:sp>
              <p:nvSpPr>
                <p:cNvPr id="5" name="object 5"/>
                <p:cNvSpPr/>
                <p:nvPr/>
              </p:nvSpPr>
              <p:spPr>
                <a:xfrm>
                  <a:off x="2797180" y="5729599"/>
                  <a:ext cx="114688" cy="142766"/>
                </a:xfrm>
                <a:prstGeom prst="rect">
                  <a:avLst/>
                </a:prstGeom>
                <a:blipFill>
                  <a:blip r:embed="rId3" cstate="print"/>
                  <a:stretch>
                    <a:fillRect/>
                  </a:stretch>
                </a:blipFill>
              </p:spPr>
              <p:txBody>
                <a:bodyPr wrap="square" lIns="0" tIns="0" rIns="0" bIns="0" rtlCol="0"/>
                <a:lstStyle/>
                <a:p>
                  <a:endParaRPr/>
                </a:p>
              </p:txBody>
            </p:sp>
          </p:grpSp>
          <p:grpSp>
            <p:nvGrpSpPr>
              <p:cNvPr id="6" name="object 6"/>
              <p:cNvGrpSpPr/>
              <p:nvPr/>
            </p:nvGrpSpPr>
            <p:grpSpPr>
              <a:xfrm>
                <a:off x="1276131" y="5935075"/>
                <a:ext cx="447040" cy="307340"/>
                <a:chOff x="1276131" y="5935075"/>
                <a:chExt cx="447040" cy="307340"/>
              </a:xfrm>
            </p:grpSpPr>
            <p:sp>
              <p:nvSpPr>
                <p:cNvPr id="7" name="object 7"/>
                <p:cNvSpPr/>
                <p:nvPr/>
              </p:nvSpPr>
              <p:spPr>
                <a:xfrm>
                  <a:off x="1276131" y="5935075"/>
                  <a:ext cx="50165" cy="302895"/>
                </a:xfrm>
                <a:custGeom>
                  <a:avLst/>
                  <a:gdLst/>
                  <a:ahLst/>
                  <a:cxnLst/>
                  <a:rect l="l" t="t" r="r" b="b"/>
                  <a:pathLst>
                    <a:path w="50165" h="302895">
                      <a:moveTo>
                        <a:pt x="49938" y="0"/>
                      </a:moveTo>
                      <a:lnTo>
                        <a:pt x="0" y="0"/>
                      </a:lnTo>
                      <a:lnTo>
                        <a:pt x="0" y="302878"/>
                      </a:lnTo>
                      <a:lnTo>
                        <a:pt x="49938" y="302878"/>
                      </a:lnTo>
                      <a:lnTo>
                        <a:pt x="49938" y="0"/>
                      </a:lnTo>
                      <a:close/>
                    </a:path>
                  </a:pathLst>
                </a:custGeom>
                <a:solidFill>
                  <a:srgbClr val="000000"/>
                </a:solidFill>
              </p:spPr>
              <p:txBody>
                <a:bodyPr wrap="square" lIns="0" tIns="0" rIns="0" bIns="0" rtlCol="0"/>
                <a:lstStyle/>
                <a:p>
                  <a:endParaRPr/>
                </a:p>
              </p:txBody>
            </p:sp>
            <p:sp>
              <p:nvSpPr>
                <p:cNvPr id="8" name="object 8"/>
                <p:cNvSpPr/>
                <p:nvPr/>
              </p:nvSpPr>
              <p:spPr>
                <a:xfrm>
                  <a:off x="1369255" y="6017801"/>
                  <a:ext cx="183558" cy="224157"/>
                </a:xfrm>
                <a:prstGeom prst="rect">
                  <a:avLst/>
                </a:prstGeom>
                <a:blipFill>
                  <a:blip r:embed="rId4" cstate="print"/>
                  <a:stretch>
                    <a:fillRect/>
                  </a:stretch>
                </a:blipFill>
              </p:spPr>
              <p:txBody>
                <a:bodyPr wrap="square" lIns="0" tIns="0" rIns="0" bIns="0" rtlCol="0"/>
                <a:lstStyle/>
                <a:p>
                  <a:endParaRPr/>
                </a:p>
              </p:txBody>
            </p:sp>
            <p:sp>
              <p:nvSpPr>
                <p:cNvPr id="9" name="object 9"/>
                <p:cNvSpPr/>
                <p:nvPr/>
              </p:nvSpPr>
              <p:spPr>
                <a:xfrm>
                  <a:off x="1583855" y="6020117"/>
                  <a:ext cx="139033" cy="220840"/>
                </a:xfrm>
                <a:prstGeom prst="rect">
                  <a:avLst/>
                </a:prstGeom>
                <a:blipFill>
                  <a:blip r:embed="rId5" cstate="print"/>
                  <a:stretch>
                    <a:fillRect/>
                  </a:stretch>
                </a:blipFill>
              </p:spPr>
              <p:txBody>
                <a:bodyPr wrap="square" lIns="0" tIns="0" rIns="0" bIns="0" rtlCol="0"/>
                <a:lstStyle/>
                <a:p>
                  <a:endParaRPr/>
                </a:p>
              </p:txBody>
            </p:sp>
          </p:grpSp>
          <p:grpSp>
            <p:nvGrpSpPr>
              <p:cNvPr id="10" name="object 10"/>
              <p:cNvGrpSpPr/>
              <p:nvPr/>
            </p:nvGrpSpPr>
            <p:grpSpPr>
              <a:xfrm>
                <a:off x="1834876" y="5937745"/>
                <a:ext cx="456565" cy="300355"/>
                <a:chOff x="1834876" y="5937745"/>
                <a:chExt cx="456565" cy="300355"/>
              </a:xfrm>
            </p:grpSpPr>
            <p:sp>
              <p:nvSpPr>
                <p:cNvPr id="11" name="object 11"/>
                <p:cNvSpPr/>
                <p:nvPr/>
              </p:nvSpPr>
              <p:spPr>
                <a:xfrm>
                  <a:off x="1834876" y="5937745"/>
                  <a:ext cx="252729" cy="300355"/>
                </a:xfrm>
                <a:custGeom>
                  <a:avLst/>
                  <a:gdLst/>
                  <a:ahLst/>
                  <a:cxnLst/>
                  <a:rect l="l" t="t" r="r" b="b"/>
                  <a:pathLst>
                    <a:path w="252730" h="300354">
                      <a:moveTo>
                        <a:pt x="152505" y="0"/>
                      </a:moveTo>
                      <a:lnTo>
                        <a:pt x="99832" y="0"/>
                      </a:lnTo>
                      <a:lnTo>
                        <a:pt x="0" y="300208"/>
                      </a:lnTo>
                      <a:lnTo>
                        <a:pt x="49972" y="300208"/>
                      </a:lnTo>
                      <a:lnTo>
                        <a:pt x="74283" y="222822"/>
                      </a:lnTo>
                      <a:lnTo>
                        <a:pt x="226603" y="222822"/>
                      </a:lnTo>
                      <a:lnTo>
                        <a:pt x="215954" y="190799"/>
                      </a:lnTo>
                      <a:lnTo>
                        <a:pt x="82386" y="190799"/>
                      </a:lnTo>
                      <a:lnTo>
                        <a:pt x="116039" y="85397"/>
                      </a:lnTo>
                      <a:lnTo>
                        <a:pt x="118824" y="74137"/>
                      </a:lnTo>
                      <a:lnTo>
                        <a:pt x="121104" y="64378"/>
                      </a:lnTo>
                      <a:lnTo>
                        <a:pt x="122876" y="56121"/>
                      </a:lnTo>
                      <a:lnTo>
                        <a:pt x="124142" y="49368"/>
                      </a:lnTo>
                      <a:lnTo>
                        <a:pt x="168922" y="49368"/>
                      </a:lnTo>
                      <a:lnTo>
                        <a:pt x="152505" y="0"/>
                      </a:lnTo>
                      <a:close/>
                    </a:path>
                    <a:path w="252730" h="300354">
                      <a:moveTo>
                        <a:pt x="226603" y="222822"/>
                      </a:moveTo>
                      <a:lnTo>
                        <a:pt x="171413" y="222822"/>
                      </a:lnTo>
                      <a:lnTo>
                        <a:pt x="194374" y="300208"/>
                      </a:lnTo>
                      <a:lnTo>
                        <a:pt x="252337" y="300208"/>
                      </a:lnTo>
                      <a:lnTo>
                        <a:pt x="226603" y="222822"/>
                      </a:lnTo>
                      <a:close/>
                    </a:path>
                    <a:path w="252730" h="300354">
                      <a:moveTo>
                        <a:pt x="168922" y="49368"/>
                      </a:moveTo>
                      <a:lnTo>
                        <a:pt x="125493" y="49368"/>
                      </a:lnTo>
                      <a:lnTo>
                        <a:pt x="126759" y="56872"/>
                      </a:lnTo>
                      <a:lnTo>
                        <a:pt x="128532" y="65380"/>
                      </a:lnTo>
                      <a:lnTo>
                        <a:pt x="130811" y="74888"/>
                      </a:lnTo>
                      <a:lnTo>
                        <a:pt x="133597" y="85397"/>
                      </a:lnTo>
                      <a:lnTo>
                        <a:pt x="164660" y="190799"/>
                      </a:lnTo>
                      <a:lnTo>
                        <a:pt x="215954" y="190799"/>
                      </a:lnTo>
                      <a:lnTo>
                        <a:pt x="168922" y="49368"/>
                      </a:lnTo>
                      <a:close/>
                    </a:path>
                  </a:pathLst>
                </a:custGeom>
                <a:solidFill>
                  <a:srgbClr val="000000"/>
                </a:solidFill>
              </p:spPr>
              <p:txBody>
                <a:bodyPr wrap="square" lIns="0" tIns="0" rIns="0" bIns="0" rtlCol="0"/>
                <a:lstStyle/>
                <a:p>
                  <a:endParaRPr/>
                </a:p>
              </p:txBody>
            </p:sp>
            <p:sp>
              <p:nvSpPr>
                <p:cNvPr id="12" name="object 12"/>
                <p:cNvSpPr/>
                <p:nvPr/>
              </p:nvSpPr>
              <p:spPr>
                <a:xfrm>
                  <a:off x="2119628" y="6017801"/>
                  <a:ext cx="171414" cy="220151"/>
                </a:xfrm>
                <a:prstGeom prst="rect">
                  <a:avLst/>
                </a:prstGeom>
                <a:blipFill>
                  <a:blip r:embed="rId6" cstate="print"/>
                  <a:stretch>
                    <a:fillRect/>
                  </a:stretch>
                </a:blipFill>
              </p:spPr>
              <p:txBody>
                <a:bodyPr wrap="square" lIns="0" tIns="0" rIns="0" bIns="0" rtlCol="0"/>
                <a:lstStyle/>
                <a:p>
                  <a:endParaRPr/>
                </a:p>
              </p:txBody>
            </p:sp>
          </p:grpSp>
          <p:grpSp>
            <p:nvGrpSpPr>
              <p:cNvPr id="13" name="object 13"/>
              <p:cNvGrpSpPr/>
              <p:nvPr/>
            </p:nvGrpSpPr>
            <p:grpSpPr>
              <a:xfrm>
                <a:off x="2335612" y="5937745"/>
                <a:ext cx="574040" cy="306070"/>
                <a:chOff x="2335612" y="5937745"/>
                <a:chExt cx="574040" cy="306070"/>
              </a:xfrm>
            </p:grpSpPr>
            <p:sp>
              <p:nvSpPr>
                <p:cNvPr id="14" name="object 14"/>
                <p:cNvSpPr/>
                <p:nvPr/>
              </p:nvSpPr>
              <p:spPr>
                <a:xfrm>
                  <a:off x="2335612" y="5937745"/>
                  <a:ext cx="179705" cy="306070"/>
                </a:xfrm>
                <a:custGeom>
                  <a:avLst/>
                  <a:gdLst/>
                  <a:ahLst/>
                  <a:cxnLst/>
                  <a:rect l="l" t="t" r="r" b="b"/>
                  <a:pathLst>
                    <a:path w="179705" h="306070">
                      <a:moveTo>
                        <a:pt x="95780" y="84061"/>
                      </a:moveTo>
                      <a:lnTo>
                        <a:pt x="57344" y="91231"/>
                      </a:lnTo>
                      <a:lnTo>
                        <a:pt x="15384" y="129905"/>
                      </a:lnTo>
                      <a:lnTo>
                        <a:pt x="1751" y="171393"/>
                      </a:lnTo>
                      <a:lnTo>
                        <a:pt x="0" y="196140"/>
                      </a:lnTo>
                      <a:lnTo>
                        <a:pt x="1751" y="220090"/>
                      </a:lnTo>
                      <a:lnTo>
                        <a:pt x="15384" y="260491"/>
                      </a:lnTo>
                      <a:lnTo>
                        <a:pt x="42230" y="289218"/>
                      </a:lnTo>
                      <a:lnTo>
                        <a:pt x="79717" y="303775"/>
                      </a:lnTo>
                      <a:lnTo>
                        <a:pt x="102533" y="305548"/>
                      </a:lnTo>
                      <a:lnTo>
                        <a:pt x="125577" y="304547"/>
                      </a:lnTo>
                      <a:lnTo>
                        <a:pt x="146090" y="301544"/>
                      </a:lnTo>
                      <a:lnTo>
                        <a:pt x="164070" y="296541"/>
                      </a:lnTo>
                      <a:lnTo>
                        <a:pt x="179517" y="289537"/>
                      </a:lnTo>
                      <a:lnTo>
                        <a:pt x="178167" y="289537"/>
                      </a:lnTo>
                      <a:lnTo>
                        <a:pt x="178167" y="274861"/>
                      </a:lnTo>
                      <a:lnTo>
                        <a:pt x="103883" y="274861"/>
                      </a:lnTo>
                      <a:lnTo>
                        <a:pt x="63253" y="254177"/>
                      </a:lnTo>
                      <a:lnTo>
                        <a:pt x="49972" y="193470"/>
                      </a:lnTo>
                      <a:lnTo>
                        <a:pt x="53711" y="157463"/>
                      </a:lnTo>
                      <a:lnTo>
                        <a:pt x="64772" y="131590"/>
                      </a:lnTo>
                      <a:lnTo>
                        <a:pt x="82924" y="115976"/>
                      </a:lnTo>
                      <a:lnTo>
                        <a:pt x="107935" y="110743"/>
                      </a:lnTo>
                      <a:lnTo>
                        <a:pt x="178167" y="110743"/>
                      </a:lnTo>
                      <a:lnTo>
                        <a:pt x="178167" y="88056"/>
                      </a:lnTo>
                      <a:lnTo>
                        <a:pt x="128194" y="88056"/>
                      </a:lnTo>
                      <a:lnTo>
                        <a:pt x="121420" y="86310"/>
                      </a:lnTo>
                      <a:lnTo>
                        <a:pt x="113506" y="85061"/>
                      </a:lnTo>
                      <a:lnTo>
                        <a:pt x="104833" y="84312"/>
                      </a:lnTo>
                      <a:lnTo>
                        <a:pt x="95780" y="84061"/>
                      </a:lnTo>
                      <a:close/>
                    </a:path>
                    <a:path w="179705" h="306070">
                      <a:moveTo>
                        <a:pt x="178167" y="110743"/>
                      </a:moveTo>
                      <a:lnTo>
                        <a:pt x="116039" y="110743"/>
                      </a:lnTo>
                      <a:lnTo>
                        <a:pt x="129545" y="113413"/>
                      </a:lnTo>
                      <a:lnTo>
                        <a:pt x="129545" y="268185"/>
                      </a:lnTo>
                      <a:lnTo>
                        <a:pt x="124965" y="270730"/>
                      </a:lnTo>
                      <a:lnTo>
                        <a:pt x="119246" y="272525"/>
                      </a:lnTo>
                      <a:lnTo>
                        <a:pt x="112261" y="273818"/>
                      </a:lnTo>
                      <a:lnTo>
                        <a:pt x="103883" y="274861"/>
                      </a:lnTo>
                      <a:lnTo>
                        <a:pt x="178167" y="274861"/>
                      </a:lnTo>
                      <a:lnTo>
                        <a:pt x="178167" y="110743"/>
                      </a:lnTo>
                      <a:close/>
                    </a:path>
                    <a:path w="179705" h="306070">
                      <a:moveTo>
                        <a:pt x="178166" y="0"/>
                      </a:moveTo>
                      <a:lnTo>
                        <a:pt x="128194" y="0"/>
                      </a:lnTo>
                      <a:lnTo>
                        <a:pt x="128194" y="88056"/>
                      </a:lnTo>
                      <a:lnTo>
                        <a:pt x="178167" y="88056"/>
                      </a:lnTo>
                      <a:lnTo>
                        <a:pt x="178166" y="0"/>
                      </a:lnTo>
                      <a:close/>
                    </a:path>
                  </a:pathLst>
                </a:custGeom>
                <a:solidFill>
                  <a:srgbClr val="000000"/>
                </a:solidFill>
              </p:spPr>
              <p:txBody>
                <a:bodyPr wrap="square" lIns="0" tIns="0" rIns="0" bIns="0" rtlCol="0"/>
                <a:lstStyle/>
                <a:p>
                  <a:endParaRPr/>
                </a:p>
              </p:txBody>
            </p:sp>
            <p:sp>
              <p:nvSpPr>
                <p:cNvPr id="15" name="object 15"/>
                <p:cNvSpPr/>
                <p:nvPr/>
              </p:nvSpPr>
              <p:spPr>
                <a:xfrm>
                  <a:off x="2558326" y="6015131"/>
                  <a:ext cx="180778" cy="225492"/>
                </a:xfrm>
                <a:prstGeom prst="rect">
                  <a:avLst/>
                </a:prstGeom>
                <a:blipFill>
                  <a:blip r:embed="rId7" cstate="print"/>
                  <a:stretch>
                    <a:fillRect/>
                  </a:stretch>
                </a:blipFill>
              </p:spPr>
              <p:txBody>
                <a:bodyPr wrap="square" lIns="0" tIns="0" rIns="0" bIns="0" rtlCol="0"/>
                <a:lstStyle/>
                <a:p>
                  <a:endParaRPr/>
                </a:p>
              </p:txBody>
            </p:sp>
            <p:sp>
              <p:nvSpPr>
                <p:cNvPr id="16" name="object 16"/>
                <p:cNvSpPr/>
                <p:nvPr/>
              </p:nvSpPr>
              <p:spPr>
                <a:xfrm>
                  <a:off x="2770168" y="6020117"/>
                  <a:ext cx="138999" cy="220840"/>
                </a:xfrm>
                <a:prstGeom prst="rect">
                  <a:avLst/>
                </a:prstGeom>
                <a:blipFill>
                  <a:blip r:embed="rId8" cstate="print"/>
                  <a:stretch>
                    <a:fillRect/>
                  </a:stretch>
                </a:blipFill>
              </p:spPr>
              <p:txBody>
                <a:bodyPr wrap="square" lIns="0" tIns="0" rIns="0" bIns="0" rtlCol="0"/>
                <a:lstStyle/>
                <a:p>
                  <a:endParaRPr/>
                </a:p>
              </p:txBody>
            </p:sp>
          </p:grpSp>
          <p:grpSp>
            <p:nvGrpSpPr>
              <p:cNvPr id="17" name="object 17"/>
              <p:cNvGrpSpPr/>
              <p:nvPr/>
            </p:nvGrpSpPr>
            <p:grpSpPr>
              <a:xfrm>
                <a:off x="1274781" y="5678906"/>
                <a:ext cx="1281430" cy="194945"/>
                <a:chOff x="1274781" y="5678906"/>
                <a:chExt cx="1281430" cy="194945"/>
              </a:xfrm>
            </p:grpSpPr>
            <p:sp>
              <p:nvSpPr>
                <p:cNvPr id="18" name="object 18"/>
                <p:cNvSpPr/>
                <p:nvPr/>
              </p:nvSpPr>
              <p:spPr>
                <a:xfrm>
                  <a:off x="1427286" y="5729599"/>
                  <a:ext cx="109331" cy="141430"/>
                </a:xfrm>
                <a:prstGeom prst="rect">
                  <a:avLst/>
                </a:prstGeom>
                <a:blipFill>
                  <a:blip r:embed="rId9" cstate="print"/>
                  <a:stretch>
                    <a:fillRect/>
                  </a:stretch>
                </a:blipFill>
              </p:spPr>
              <p:txBody>
                <a:bodyPr wrap="square" lIns="0" tIns="0" rIns="0" bIns="0" rtlCol="0"/>
                <a:lstStyle/>
                <a:p>
                  <a:endParaRPr/>
                </a:p>
              </p:txBody>
            </p:sp>
            <p:sp>
              <p:nvSpPr>
                <p:cNvPr id="19" name="object 19"/>
                <p:cNvSpPr/>
                <p:nvPr/>
              </p:nvSpPr>
              <p:spPr>
                <a:xfrm>
                  <a:off x="1569010" y="5678906"/>
                  <a:ext cx="35560" cy="192405"/>
                </a:xfrm>
                <a:custGeom>
                  <a:avLst/>
                  <a:gdLst/>
                  <a:ahLst/>
                  <a:cxnLst/>
                  <a:rect l="l" t="t" r="r" b="b"/>
                  <a:pathLst>
                    <a:path w="35559" h="192404">
                      <a:moveTo>
                        <a:pt x="33731" y="53363"/>
                      </a:moveTo>
                      <a:lnTo>
                        <a:pt x="2689" y="53363"/>
                      </a:lnTo>
                      <a:lnTo>
                        <a:pt x="2689" y="192123"/>
                      </a:lnTo>
                      <a:lnTo>
                        <a:pt x="33731" y="192123"/>
                      </a:lnTo>
                      <a:lnTo>
                        <a:pt x="33731" y="53363"/>
                      </a:lnTo>
                      <a:close/>
                    </a:path>
                    <a:path w="35559" h="192404">
                      <a:moveTo>
                        <a:pt x="22937" y="0"/>
                      </a:moveTo>
                      <a:lnTo>
                        <a:pt x="13494" y="0"/>
                      </a:lnTo>
                      <a:lnTo>
                        <a:pt x="9442" y="1335"/>
                      </a:lnTo>
                      <a:lnTo>
                        <a:pt x="1339" y="6664"/>
                      </a:lnTo>
                      <a:lnTo>
                        <a:pt x="0" y="10670"/>
                      </a:lnTo>
                      <a:lnTo>
                        <a:pt x="0" y="18670"/>
                      </a:lnTo>
                      <a:lnTo>
                        <a:pt x="2689" y="22676"/>
                      </a:lnTo>
                      <a:lnTo>
                        <a:pt x="8092" y="28016"/>
                      </a:lnTo>
                      <a:lnTo>
                        <a:pt x="12144" y="29352"/>
                      </a:lnTo>
                      <a:lnTo>
                        <a:pt x="21587" y="29352"/>
                      </a:lnTo>
                      <a:lnTo>
                        <a:pt x="26989" y="28016"/>
                      </a:lnTo>
                      <a:lnTo>
                        <a:pt x="29690" y="25346"/>
                      </a:lnTo>
                      <a:lnTo>
                        <a:pt x="33731" y="22676"/>
                      </a:lnTo>
                      <a:lnTo>
                        <a:pt x="35081" y="18670"/>
                      </a:lnTo>
                      <a:lnTo>
                        <a:pt x="35081" y="10670"/>
                      </a:lnTo>
                      <a:lnTo>
                        <a:pt x="33731" y="6664"/>
                      </a:lnTo>
                      <a:lnTo>
                        <a:pt x="29690" y="3994"/>
                      </a:lnTo>
                      <a:lnTo>
                        <a:pt x="26989" y="1335"/>
                      </a:lnTo>
                      <a:lnTo>
                        <a:pt x="22937" y="0"/>
                      </a:lnTo>
                      <a:close/>
                    </a:path>
                  </a:pathLst>
                </a:custGeom>
                <a:solidFill>
                  <a:srgbClr val="000000"/>
                </a:solidFill>
              </p:spPr>
              <p:txBody>
                <a:bodyPr wrap="square" lIns="0" tIns="0" rIns="0" bIns="0" rtlCol="0"/>
                <a:lstStyle/>
                <a:p>
                  <a:endParaRPr/>
                </a:p>
              </p:txBody>
            </p:sp>
            <p:sp>
              <p:nvSpPr>
                <p:cNvPr id="20" name="object 20"/>
                <p:cNvSpPr/>
                <p:nvPr/>
              </p:nvSpPr>
              <p:spPr>
                <a:xfrm>
                  <a:off x="1625690" y="5729599"/>
                  <a:ext cx="252405" cy="142766"/>
                </a:xfrm>
                <a:prstGeom prst="rect">
                  <a:avLst/>
                </a:prstGeom>
                <a:blipFill>
                  <a:blip r:embed="rId10" cstate="print"/>
                  <a:stretch>
                    <a:fillRect/>
                  </a:stretch>
                </a:blipFill>
              </p:spPr>
              <p:txBody>
                <a:bodyPr wrap="square" lIns="0" tIns="0" rIns="0" bIns="0" rtlCol="0"/>
                <a:lstStyle/>
                <a:p>
                  <a:endParaRPr/>
                </a:p>
              </p:txBody>
            </p:sp>
            <p:sp>
              <p:nvSpPr>
                <p:cNvPr id="21" name="object 21"/>
                <p:cNvSpPr/>
                <p:nvPr/>
              </p:nvSpPr>
              <p:spPr>
                <a:xfrm>
                  <a:off x="1907808" y="5729599"/>
                  <a:ext cx="167362" cy="142766"/>
                </a:xfrm>
                <a:prstGeom prst="rect">
                  <a:avLst/>
                </a:prstGeom>
                <a:blipFill>
                  <a:blip r:embed="rId11" cstate="print"/>
                  <a:stretch>
                    <a:fillRect/>
                  </a:stretch>
                </a:blipFill>
              </p:spPr>
              <p:txBody>
                <a:bodyPr wrap="square" lIns="0" tIns="0" rIns="0" bIns="0" rtlCol="0"/>
                <a:lstStyle/>
                <a:p>
                  <a:endParaRPr/>
                </a:p>
              </p:txBody>
            </p:sp>
            <p:sp>
              <p:nvSpPr>
                <p:cNvPr id="22" name="object 22"/>
                <p:cNvSpPr/>
                <p:nvPr/>
              </p:nvSpPr>
              <p:spPr>
                <a:xfrm>
                  <a:off x="2102070" y="5678906"/>
                  <a:ext cx="35560" cy="192405"/>
                </a:xfrm>
                <a:custGeom>
                  <a:avLst/>
                  <a:gdLst/>
                  <a:ahLst/>
                  <a:cxnLst/>
                  <a:rect l="l" t="t" r="r" b="b"/>
                  <a:pathLst>
                    <a:path w="35560" h="192404">
                      <a:moveTo>
                        <a:pt x="32414" y="53363"/>
                      </a:moveTo>
                      <a:lnTo>
                        <a:pt x="1350" y="53363"/>
                      </a:lnTo>
                      <a:lnTo>
                        <a:pt x="1350" y="192123"/>
                      </a:lnTo>
                      <a:lnTo>
                        <a:pt x="32414" y="192123"/>
                      </a:lnTo>
                      <a:lnTo>
                        <a:pt x="32414" y="53363"/>
                      </a:lnTo>
                      <a:close/>
                    </a:path>
                    <a:path w="35560" h="192404">
                      <a:moveTo>
                        <a:pt x="22960" y="0"/>
                      </a:moveTo>
                      <a:lnTo>
                        <a:pt x="13506" y="0"/>
                      </a:lnTo>
                      <a:lnTo>
                        <a:pt x="8103" y="1335"/>
                      </a:lnTo>
                      <a:lnTo>
                        <a:pt x="5402" y="3994"/>
                      </a:lnTo>
                      <a:lnTo>
                        <a:pt x="1350" y="6664"/>
                      </a:lnTo>
                      <a:lnTo>
                        <a:pt x="0" y="10670"/>
                      </a:lnTo>
                      <a:lnTo>
                        <a:pt x="0" y="18670"/>
                      </a:lnTo>
                      <a:lnTo>
                        <a:pt x="2701" y="22676"/>
                      </a:lnTo>
                      <a:lnTo>
                        <a:pt x="8103" y="28016"/>
                      </a:lnTo>
                      <a:lnTo>
                        <a:pt x="12155" y="29352"/>
                      </a:lnTo>
                      <a:lnTo>
                        <a:pt x="21609" y="29352"/>
                      </a:lnTo>
                      <a:lnTo>
                        <a:pt x="27012" y="28016"/>
                      </a:lnTo>
                      <a:lnTo>
                        <a:pt x="29713" y="25346"/>
                      </a:lnTo>
                      <a:lnTo>
                        <a:pt x="33765" y="22676"/>
                      </a:lnTo>
                      <a:lnTo>
                        <a:pt x="35115" y="18670"/>
                      </a:lnTo>
                      <a:lnTo>
                        <a:pt x="35115" y="10670"/>
                      </a:lnTo>
                      <a:lnTo>
                        <a:pt x="32414" y="6664"/>
                      </a:lnTo>
                      <a:lnTo>
                        <a:pt x="27012" y="1335"/>
                      </a:lnTo>
                      <a:lnTo>
                        <a:pt x="22960" y="0"/>
                      </a:lnTo>
                      <a:close/>
                    </a:path>
                  </a:pathLst>
                </a:custGeom>
                <a:solidFill>
                  <a:srgbClr val="000000"/>
                </a:solidFill>
              </p:spPr>
              <p:txBody>
                <a:bodyPr wrap="square" lIns="0" tIns="0" rIns="0" bIns="0" rtlCol="0"/>
                <a:lstStyle/>
                <a:p>
                  <a:endParaRPr/>
                </a:p>
              </p:txBody>
            </p:sp>
            <p:sp>
              <p:nvSpPr>
                <p:cNvPr id="23" name="object 23"/>
                <p:cNvSpPr/>
                <p:nvPr/>
              </p:nvSpPr>
              <p:spPr>
                <a:xfrm>
                  <a:off x="2165548" y="5678906"/>
                  <a:ext cx="114688" cy="194794"/>
                </a:xfrm>
                <a:prstGeom prst="rect">
                  <a:avLst/>
                </a:prstGeom>
                <a:blipFill>
                  <a:blip r:embed="rId12" cstate="print"/>
                  <a:stretch>
                    <a:fillRect/>
                  </a:stretch>
                </a:blipFill>
              </p:spPr>
              <p:txBody>
                <a:bodyPr wrap="square" lIns="0" tIns="0" rIns="0" bIns="0" rtlCol="0"/>
                <a:lstStyle/>
                <a:p>
                  <a:endParaRPr/>
                </a:p>
              </p:txBody>
            </p:sp>
            <p:sp>
              <p:nvSpPr>
                <p:cNvPr id="24" name="object 24"/>
                <p:cNvSpPr/>
                <p:nvPr/>
              </p:nvSpPr>
              <p:spPr>
                <a:xfrm>
                  <a:off x="2305898" y="5729599"/>
                  <a:ext cx="106585" cy="142766"/>
                </a:xfrm>
                <a:prstGeom prst="rect">
                  <a:avLst/>
                </a:prstGeom>
                <a:blipFill>
                  <a:blip r:embed="rId13" cstate="print"/>
                  <a:stretch>
                    <a:fillRect/>
                  </a:stretch>
                </a:blipFill>
              </p:spPr>
              <p:txBody>
                <a:bodyPr wrap="square" lIns="0" tIns="0" rIns="0" bIns="0" rtlCol="0"/>
                <a:lstStyle/>
                <a:p>
                  <a:endParaRPr/>
                </a:p>
              </p:txBody>
            </p:sp>
            <p:sp>
              <p:nvSpPr>
                <p:cNvPr id="25" name="object 25"/>
                <p:cNvSpPr/>
                <p:nvPr/>
              </p:nvSpPr>
              <p:spPr>
                <a:xfrm>
                  <a:off x="2440846" y="5678906"/>
                  <a:ext cx="114801" cy="194794"/>
                </a:xfrm>
                <a:prstGeom prst="rect">
                  <a:avLst/>
                </a:prstGeom>
                <a:blipFill>
                  <a:blip r:embed="rId14" cstate="print"/>
                  <a:stretch>
                    <a:fillRect/>
                  </a:stretch>
                </a:blipFill>
              </p:spPr>
              <p:txBody>
                <a:bodyPr wrap="square" lIns="0" tIns="0" rIns="0" bIns="0" rtlCol="0"/>
                <a:lstStyle/>
                <a:p>
                  <a:endParaRPr/>
                </a:p>
              </p:txBody>
            </p:sp>
            <p:sp>
              <p:nvSpPr>
                <p:cNvPr id="26" name="object 26"/>
                <p:cNvSpPr/>
                <p:nvPr/>
              </p:nvSpPr>
              <p:spPr>
                <a:xfrm>
                  <a:off x="1274781" y="5678906"/>
                  <a:ext cx="117423" cy="193459"/>
                </a:xfrm>
                <a:prstGeom prst="rect">
                  <a:avLst/>
                </a:prstGeom>
                <a:blipFill>
                  <a:blip r:embed="rId15" cstate="print"/>
                  <a:stretch>
                    <a:fillRect/>
                  </a:stretch>
                </a:blipFill>
              </p:spPr>
              <p:txBody>
                <a:bodyPr wrap="square" lIns="0" tIns="0" rIns="0" bIns="0" rtlCol="0"/>
                <a:lstStyle/>
                <a:p>
                  <a:endParaRPr/>
                </a:p>
              </p:txBody>
            </p:sp>
          </p:grpSp>
        </p:grpSp>
      </p:grpSp>
      <p:sp>
        <p:nvSpPr>
          <p:cNvPr id="30" name="object 62">
            <a:extLst>
              <a:ext uri="{FF2B5EF4-FFF2-40B4-BE49-F238E27FC236}">
                <a16:creationId xmlns:a16="http://schemas.microsoft.com/office/drawing/2014/main" id="{26E9C9B7-441D-204D-9AE5-4660B5FC2ECF}"/>
              </a:ext>
            </a:extLst>
          </p:cNvPr>
          <p:cNvSpPr txBox="1">
            <a:spLocks/>
          </p:cNvSpPr>
          <p:nvPr/>
        </p:nvSpPr>
        <p:spPr>
          <a:xfrm>
            <a:off x="2085086" y="2638686"/>
            <a:ext cx="8240098" cy="1367041"/>
          </a:xfrm>
          <a:prstGeom prst="rect">
            <a:avLst/>
          </a:prstGeom>
        </p:spPr>
        <p:txBody>
          <a:bodyPr vert="horz" wrap="square" lIns="0" tIns="12700" rIns="0" bIns="0" rtlCol="0">
            <a:spAutoFit/>
          </a:bodyPr>
          <a:lstStyle>
            <a:lvl1pPr marL="0">
              <a:defRPr sz="6000" b="1" i="0">
                <a:solidFill>
                  <a:schemeClr val="tx1"/>
                </a:solidFill>
                <a:latin typeface="Carlito"/>
                <a:ea typeface="+mn-ea"/>
                <a:cs typeface="Carlito"/>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R="5080" algn="ctr">
              <a:spcBef>
                <a:spcPts val="100"/>
              </a:spcBef>
            </a:pPr>
            <a:r>
              <a:rPr lang="es-CO" sz="4400" kern="0" spc="-25" dirty="0">
                <a:solidFill>
                  <a:schemeClr val="tx2"/>
                </a:solidFill>
                <a:latin typeface="Aptos Narrow" panose="020B0004020202020204" pitchFamily="34" charset="0"/>
              </a:rPr>
              <a:t>Perfil edad–ingreso laboral en Bogotá (GEIH 2018)</a:t>
            </a:r>
          </a:p>
        </p:txBody>
      </p:sp>
      <p:grpSp>
        <p:nvGrpSpPr>
          <p:cNvPr id="37" name="Grupo 36">
            <a:extLst>
              <a:ext uri="{FF2B5EF4-FFF2-40B4-BE49-F238E27FC236}">
                <a16:creationId xmlns:a16="http://schemas.microsoft.com/office/drawing/2014/main" id="{85AAFE2F-E07E-D9B5-6320-CD1934FC3871}"/>
              </a:ext>
            </a:extLst>
          </p:cNvPr>
          <p:cNvGrpSpPr/>
          <p:nvPr/>
        </p:nvGrpSpPr>
        <p:grpSpPr>
          <a:xfrm>
            <a:off x="609600" y="6019983"/>
            <a:ext cx="8458200" cy="767532"/>
            <a:chOff x="609600" y="6019983"/>
            <a:chExt cx="8458200" cy="767532"/>
          </a:xfrm>
        </p:grpSpPr>
        <p:sp>
          <p:nvSpPr>
            <p:cNvPr id="29" name="Rectángulo 28">
              <a:extLst>
                <a:ext uri="{FF2B5EF4-FFF2-40B4-BE49-F238E27FC236}">
                  <a16:creationId xmlns:a16="http://schemas.microsoft.com/office/drawing/2014/main" id="{AF4E12F0-5D66-CF0B-BECC-DE7025CE3A31}"/>
                </a:ext>
              </a:extLst>
            </p:cNvPr>
            <p:cNvSpPr/>
            <p:nvPr/>
          </p:nvSpPr>
          <p:spPr>
            <a:xfrm>
              <a:off x="6858000" y="6096000"/>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36" name="Grupo 35">
              <a:extLst>
                <a:ext uri="{FF2B5EF4-FFF2-40B4-BE49-F238E27FC236}">
                  <a16:creationId xmlns:a16="http://schemas.microsoft.com/office/drawing/2014/main" id="{9AAAC1D2-EDA1-A791-462C-7DCF52ABB9A6}"/>
                </a:ext>
              </a:extLst>
            </p:cNvPr>
            <p:cNvGrpSpPr/>
            <p:nvPr/>
          </p:nvGrpSpPr>
          <p:grpSpPr>
            <a:xfrm>
              <a:off x="609600" y="6019983"/>
              <a:ext cx="5334000" cy="691515"/>
              <a:chOff x="609600" y="6019983"/>
              <a:chExt cx="5334000" cy="691515"/>
            </a:xfrm>
          </p:grpSpPr>
          <p:sp>
            <p:nvSpPr>
              <p:cNvPr id="32" name="Rectángulo 31">
                <a:extLst>
                  <a:ext uri="{FF2B5EF4-FFF2-40B4-BE49-F238E27FC236}">
                    <a16:creationId xmlns:a16="http://schemas.microsoft.com/office/drawing/2014/main" id="{FE11AB28-7BA4-D6C0-1D6C-6BEE424E1C8A}"/>
                  </a:ext>
                </a:extLst>
              </p:cNvPr>
              <p:cNvSpPr/>
              <p:nvPr/>
            </p:nvSpPr>
            <p:spPr>
              <a:xfrm>
                <a:off x="609600" y="6019983"/>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1" name="CuadroTexto 30">
                <a:extLst>
                  <a:ext uri="{FF2B5EF4-FFF2-40B4-BE49-F238E27FC236}">
                    <a16:creationId xmlns:a16="http://schemas.microsoft.com/office/drawing/2014/main" id="{0DE1E234-B946-40C5-51DF-A20AEABBAA11}"/>
                  </a:ext>
                </a:extLst>
              </p:cNvPr>
              <p:cNvSpPr txBox="1"/>
              <p:nvPr/>
            </p:nvSpPr>
            <p:spPr>
              <a:xfrm>
                <a:off x="609600" y="6226043"/>
                <a:ext cx="5334000" cy="276999"/>
              </a:xfrm>
              <a:prstGeom prst="rect">
                <a:avLst/>
              </a:prstGeom>
              <a:noFill/>
            </p:spPr>
            <p:txBody>
              <a:bodyPr wrap="square" rtlCol="0">
                <a:spAutoFit/>
              </a:bodyPr>
              <a:lstStyle/>
              <a:p>
                <a:r>
                  <a:rPr lang="es-CO" sz="1200" i="1" dirty="0">
                    <a:solidFill>
                      <a:schemeClr val="tx2"/>
                    </a:solidFill>
                    <a:latin typeface="Aptos Narrow" panose="020B0004020202020204" pitchFamily="34" charset="0"/>
                  </a:rPr>
                  <a:t>MECA 4107 – </a:t>
                </a:r>
                <a:r>
                  <a:rPr lang="es-CO" sz="1200" i="1" dirty="0" err="1">
                    <a:solidFill>
                      <a:schemeClr val="tx2"/>
                    </a:solidFill>
                    <a:latin typeface="Aptos Narrow" panose="020B0004020202020204" pitchFamily="34" charset="0"/>
                  </a:rPr>
                  <a:t>Problem</a:t>
                </a:r>
                <a:r>
                  <a:rPr lang="es-CO" sz="1200" i="1" dirty="0">
                    <a:solidFill>
                      <a:schemeClr val="tx2"/>
                    </a:solidFill>
                    <a:latin typeface="Aptos Narrow" panose="020B0004020202020204" pitchFamily="34" charset="0"/>
                  </a:rPr>
                  <a:t> Set 1: </a:t>
                </a:r>
                <a:r>
                  <a:rPr lang="es-CO" sz="1200" i="1" dirty="0" err="1">
                    <a:solidFill>
                      <a:schemeClr val="tx2"/>
                    </a:solidFill>
                    <a:latin typeface="Aptos Narrow" panose="020B0004020202020204" pitchFamily="34" charset="0"/>
                  </a:rPr>
                  <a:t>Predicting</a:t>
                </a:r>
                <a:r>
                  <a:rPr lang="es-CO" sz="1200" i="1" dirty="0">
                    <a:solidFill>
                      <a:schemeClr val="tx2"/>
                    </a:solidFill>
                    <a:latin typeface="Aptos Narrow" panose="020B0004020202020204" pitchFamily="34" charset="0"/>
                  </a:rPr>
                  <a:t> </a:t>
                </a:r>
                <a:r>
                  <a:rPr lang="es-CO" sz="1200" i="1" dirty="0" err="1">
                    <a:solidFill>
                      <a:schemeClr val="tx2"/>
                    </a:solidFill>
                    <a:latin typeface="Aptos Narrow" panose="020B0004020202020204" pitchFamily="34" charset="0"/>
                  </a:rPr>
                  <a:t>Income</a:t>
                </a:r>
                <a:endParaRPr lang="es-CO" sz="1050" i="1" dirty="0">
                  <a:solidFill>
                    <a:schemeClr val="tx2"/>
                  </a:solidFill>
                  <a:latin typeface="Aptos Narrow" panose="020B0004020202020204" pitchFamily="34" charset="0"/>
                </a:endParaRPr>
              </a:p>
            </p:txBody>
          </p:sp>
        </p:grpSp>
        <p:sp>
          <p:nvSpPr>
            <p:cNvPr id="34" name="Triángulo 33">
              <a:extLst>
                <a:ext uri="{FF2B5EF4-FFF2-40B4-BE49-F238E27FC236}">
                  <a16:creationId xmlns:a16="http://schemas.microsoft.com/office/drawing/2014/main" id="{ADFD9DC2-2D26-A473-A4D3-4FE6C9B17EBD}"/>
                </a:ext>
              </a:extLst>
            </p:cNvPr>
            <p:cNvSpPr/>
            <p:nvPr/>
          </p:nvSpPr>
          <p:spPr>
            <a:xfrm rot="5400000">
              <a:off x="8518791" y="6142961"/>
              <a:ext cx="488417" cy="483199"/>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5">
            <a:extLst>
              <a:ext uri="{FF2B5EF4-FFF2-40B4-BE49-F238E27FC236}">
                <a16:creationId xmlns:a16="http://schemas.microsoft.com/office/drawing/2014/main" id="{86C31C77-6F54-D0A5-02FE-9084B27DD871}"/>
              </a:ext>
            </a:extLst>
          </p:cNvPr>
          <p:cNvSpPr txBox="1">
            <a:spLocks/>
          </p:cNvSpPr>
          <p:nvPr/>
        </p:nvSpPr>
        <p:spPr>
          <a:xfrm>
            <a:off x="2415559" y="761999"/>
            <a:ext cx="9240140" cy="917575"/>
          </a:xfrm>
          <a:prstGeom prst="rect">
            <a:avLst/>
          </a:prstGeom>
        </p:spPr>
        <p:txBody>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s-CO" sz="1800" dirty="0">
                <a:latin typeface="Open Sans Semibold"/>
              </a:rPr>
              <a:t>Pregunta de investigación:</a:t>
            </a:r>
            <a:endParaRPr kumimoji="0" lang="es-CO" sz="1800" b="0" i="0" u="none" strike="noStrike" kern="1200" cap="none" spc="0" normalizeH="0" baseline="0" noProof="0" dirty="0">
              <a:ln>
                <a:noFill/>
              </a:ln>
              <a:solidFill>
                <a:srgbClr val="003057"/>
              </a:solidFill>
              <a:effectLst/>
              <a:uLnTx/>
              <a:uFillTx/>
              <a:latin typeface="Open Sans Semibold"/>
              <a:ea typeface="+mj-ea"/>
              <a:cs typeface="+mj-cs"/>
            </a:endParaRPr>
          </a:p>
        </p:txBody>
      </p:sp>
      <p:sp>
        <p:nvSpPr>
          <p:cNvPr id="3" name="Título 5">
            <a:extLst>
              <a:ext uri="{FF2B5EF4-FFF2-40B4-BE49-F238E27FC236}">
                <a16:creationId xmlns:a16="http://schemas.microsoft.com/office/drawing/2014/main" id="{EE243B49-6DDB-8E97-6702-AE95174471D3}"/>
              </a:ext>
            </a:extLst>
          </p:cNvPr>
          <p:cNvSpPr txBox="1">
            <a:spLocks/>
          </p:cNvSpPr>
          <p:nvPr/>
        </p:nvSpPr>
        <p:spPr>
          <a:xfrm>
            <a:off x="2405132" y="798583"/>
            <a:ext cx="9776441" cy="9175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1400" b="0" i="1" u="none" strike="noStrike" kern="1200" cap="none" spc="0" normalizeH="0" baseline="0" noProof="0" dirty="0">
                <a:ln>
                  <a:noFill/>
                </a:ln>
                <a:solidFill>
                  <a:schemeClr val="accent1"/>
                </a:solidFill>
                <a:effectLst/>
                <a:uLnTx/>
                <a:uFillTx/>
                <a:latin typeface="Open Sans Semibold"/>
                <a:ea typeface="+mj-ea"/>
                <a:cs typeface="+mj-cs"/>
              </a:rPr>
              <a:t>Perfil edad–ingreso laboral en Bogotá (GEIH 2018)</a:t>
            </a:r>
          </a:p>
        </p:txBody>
      </p:sp>
      <p:sp>
        <p:nvSpPr>
          <p:cNvPr id="9" name="Marcador de texto 1">
            <a:extLst>
              <a:ext uri="{FF2B5EF4-FFF2-40B4-BE49-F238E27FC236}">
                <a16:creationId xmlns:a16="http://schemas.microsoft.com/office/drawing/2014/main" id="{160279A4-1DAF-9B6A-1A75-75F8109BA40D}"/>
              </a:ext>
            </a:extLst>
          </p:cNvPr>
          <p:cNvSpPr txBox="1">
            <a:spLocks/>
          </p:cNvSpPr>
          <p:nvPr/>
        </p:nvSpPr>
        <p:spPr>
          <a:xfrm>
            <a:off x="1206714" y="3674500"/>
            <a:ext cx="4708646" cy="376886"/>
          </a:xfrm>
          <a:prstGeom prst="rect">
            <a:avLst/>
          </a:prstGeom>
        </p:spPr>
        <p:txBody>
          <a:bodyPr vert="horz" lIns="91440" tIns="45720" rIns="91440" bIns="45720" rtlCol="0" anchor="ctr">
            <a:normAutofit/>
          </a:bodyPr>
          <a:lstStyle>
            <a:lvl1pPr marL="0" indent="0" algn="l" defTabSz="914400" rtl="0" eaLnBrk="1" latinLnBrk="0" hangingPunct="1">
              <a:lnSpc>
                <a:spcPct val="90000"/>
              </a:lnSpc>
              <a:spcBef>
                <a:spcPts val="1000"/>
              </a:spcBef>
              <a:buClr>
                <a:srgbClr val="00A3E0"/>
              </a:buClr>
              <a:buFont typeface="Open Sans" panose="020B0606030504020204" pitchFamily="34" charset="0"/>
              <a:buNone/>
              <a:defRPr sz="1600" b="1" kern="1200">
                <a:solidFill>
                  <a:srgbClr val="0070C0"/>
                </a:solidFill>
                <a:latin typeface="+mj-lt"/>
                <a:ea typeface="+mn-ea"/>
                <a:cs typeface="+mn-cs"/>
              </a:defRPr>
            </a:lvl1pPr>
            <a:lvl2pPr marL="457200" indent="0" algn="l" defTabSz="914400" rtl="0" eaLnBrk="1" latinLnBrk="0" hangingPunct="1">
              <a:lnSpc>
                <a:spcPct val="90000"/>
              </a:lnSpc>
              <a:spcBef>
                <a:spcPts val="500"/>
              </a:spcBef>
              <a:buClr>
                <a:srgbClr val="00A3E0"/>
              </a:buClr>
              <a:buFont typeface="Open Sans" panose="020B0606030504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rgbClr val="00A3E0"/>
              </a:buClr>
              <a:buFont typeface="Open Sans" panose="020B0606030504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defRPr/>
            </a:pPr>
            <a:r>
              <a:rPr lang="es-CO" sz="1400" dirty="0">
                <a:latin typeface="Open Sans Semibold"/>
              </a:rPr>
              <a:t>Aspectos a resaltar:</a:t>
            </a:r>
          </a:p>
        </p:txBody>
      </p:sp>
      <p:grpSp>
        <p:nvGrpSpPr>
          <p:cNvPr id="16" name="Grupo 15">
            <a:extLst>
              <a:ext uri="{FF2B5EF4-FFF2-40B4-BE49-F238E27FC236}">
                <a16:creationId xmlns:a16="http://schemas.microsoft.com/office/drawing/2014/main" id="{CEBBE24F-8AD5-EBA8-0ED5-1F82EF688D48}"/>
              </a:ext>
            </a:extLst>
          </p:cNvPr>
          <p:cNvGrpSpPr/>
          <p:nvPr/>
        </p:nvGrpSpPr>
        <p:grpSpPr>
          <a:xfrm>
            <a:off x="2034404" y="1600248"/>
            <a:ext cx="8884088" cy="1828752"/>
            <a:chOff x="1676400" y="1981200"/>
            <a:chExt cx="8884088" cy="1828752"/>
          </a:xfrm>
        </p:grpSpPr>
        <p:sp>
          <p:nvSpPr>
            <p:cNvPr id="8" name="CuadroTexto 7">
              <a:extLst>
                <a:ext uri="{FF2B5EF4-FFF2-40B4-BE49-F238E27FC236}">
                  <a16:creationId xmlns:a16="http://schemas.microsoft.com/office/drawing/2014/main" id="{A3F5547C-BA50-17EB-A702-E710F4538A35}"/>
                </a:ext>
              </a:extLst>
            </p:cNvPr>
            <p:cNvSpPr txBox="1"/>
            <p:nvPr/>
          </p:nvSpPr>
          <p:spPr>
            <a:xfrm>
              <a:off x="2249804" y="2565642"/>
              <a:ext cx="7692392" cy="707886"/>
            </a:xfrm>
            <a:prstGeom prst="rect">
              <a:avLst/>
            </a:prstGeom>
            <a:noFill/>
          </p:spPr>
          <p:txBody>
            <a:bodyPr wrap="square">
              <a:spAutoFit/>
            </a:bodyPr>
            <a:lstStyle/>
            <a:p>
              <a:pPr algn="ctr">
                <a:buClr>
                  <a:srgbClr val="0072CE"/>
                </a:buClr>
              </a:pPr>
              <a:r>
                <a:rPr lang="es-CO" sz="2000" b="1" dirty="0">
                  <a:solidFill>
                    <a:srgbClr val="3C3C3C"/>
                  </a:solidFill>
                  <a:latin typeface="Open Sans"/>
                </a:rPr>
                <a:t>¿Siguen los ingresos en Bogotá el patrón de ciclo de vida predicho por la teoría del capital humano?</a:t>
              </a:r>
            </a:p>
          </p:txBody>
        </p:sp>
        <p:pic>
          <p:nvPicPr>
            <p:cNvPr id="13" name="Gráfico 12" descr="Closed quotation mark contorno">
              <a:extLst>
                <a:ext uri="{FF2B5EF4-FFF2-40B4-BE49-F238E27FC236}">
                  <a16:creationId xmlns:a16="http://schemas.microsoft.com/office/drawing/2014/main" id="{142C3778-CB71-87B9-C2C0-0CD8767BEEB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46088" y="2895552"/>
              <a:ext cx="914400" cy="914400"/>
            </a:xfrm>
            <a:prstGeom prst="rect">
              <a:avLst/>
            </a:prstGeom>
          </p:spPr>
        </p:pic>
        <p:pic>
          <p:nvPicPr>
            <p:cNvPr id="15" name="Gráfico 14" descr="Open quotation mark contorno">
              <a:extLst>
                <a:ext uri="{FF2B5EF4-FFF2-40B4-BE49-F238E27FC236}">
                  <a16:creationId xmlns:a16="http://schemas.microsoft.com/office/drawing/2014/main" id="{2AB5942D-CA49-AB6B-B9B4-0C5362A5AFC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76400" y="1981200"/>
              <a:ext cx="914400" cy="914400"/>
            </a:xfrm>
            <a:prstGeom prst="rect">
              <a:avLst/>
            </a:prstGeom>
          </p:spPr>
        </p:pic>
      </p:grpSp>
      <p:sp>
        <p:nvSpPr>
          <p:cNvPr id="17" name="CuadroTexto 16">
            <a:extLst>
              <a:ext uri="{FF2B5EF4-FFF2-40B4-BE49-F238E27FC236}">
                <a16:creationId xmlns:a16="http://schemas.microsoft.com/office/drawing/2014/main" id="{61487189-9721-0F1F-B061-CC421CDDC837}"/>
              </a:ext>
            </a:extLst>
          </p:cNvPr>
          <p:cNvSpPr txBox="1"/>
          <p:nvPr/>
        </p:nvSpPr>
        <p:spPr>
          <a:xfrm>
            <a:off x="1777383" y="4092453"/>
            <a:ext cx="4137978" cy="1384995"/>
          </a:xfrm>
          <a:prstGeom prst="rect">
            <a:avLst/>
          </a:prstGeom>
          <a:noFill/>
        </p:spPr>
        <p:txBody>
          <a:bodyPr wrap="square">
            <a:spAutoFit/>
          </a:bodyPr>
          <a:lstStyle/>
          <a:p>
            <a:pPr marL="285750" indent="-285750">
              <a:buClr>
                <a:srgbClr val="0072CE"/>
              </a:buClr>
              <a:buFont typeface="Symbol" panose="05050102010706020507" pitchFamily="18" charset="2"/>
              <a:buChar char=""/>
            </a:pPr>
            <a:r>
              <a:rPr lang="es-CO" sz="1200" dirty="0">
                <a:solidFill>
                  <a:srgbClr val="3C3C3C"/>
                </a:solidFill>
                <a:latin typeface="Open Sans"/>
              </a:rPr>
              <a:t>La teoría de capital humano predice un perfil no lineal y cóncavo.</a:t>
            </a:r>
          </a:p>
          <a:p>
            <a:pPr marL="285750" indent="-285750">
              <a:buClr>
                <a:srgbClr val="0072CE"/>
              </a:buClr>
              <a:buFont typeface="Symbol" panose="05050102010706020507" pitchFamily="18" charset="2"/>
              <a:buChar char=""/>
            </a:pPr>
            <a:endParaRPr lang="es-CO" sz="1200" dirty="0">
              <a:solidFill>
                <a:srgbClr val="3C3C3C"/>
              </a:solidFill>
              <a:latin typeface="Open Sans"/>
            </a:endParaRPr>
          </a:p>
          <a:p>
            <a:pPr marL="285750" indent="-285750">
              <a:buClr>
                <a:srgbClr val="0072CE"/>
              </a:buClr>
              <a:buFont typeface="Symbol" panose="05050102010706020507" pitchFamily="18" charset="2"/>
              <a:buChar char=""/>
            </a:pPr>
            <a:r>
              <a:rPr lang="es-CO" sz="1200" dirty="0">
                <a:solidFill>
                  <a:srgbClr val="3C3C3C"/>
                </a:solidFill>
                <a:latin typeface="Open Sans"/>
              </a:rPr>
              <a:t>El ingreso aumenta con experiencia y luego decrece.</a:t>
            </a:r>
          </a:p>
          <a:p>
            <a:pPr marL="285750" indent="-285750">
              <a:buClr>
                <a:srgbClr val="0072CE"/>
              </a:buClr>
              <a:buFont typeface="Symbol" panose="05050102010706020507" pitchFamily="18" charset="2"/>
              <a:buChar char=""/>
            </a:pPr>
            <a:endParaRPr lang="es-CO" sz="1200" dirty="0">
              <a:solidFill>
                <a:srgbClr val="3C3C3C"/>
              </a:solidFill>
              <a:latin typeface="Open Sans"/>
            </a:endParaRPr>
          </a:p>
          <a:p>
            <a:pPr marL="285750" indent="-285750">
              <a:buClr>
                <a:srgbClr val="0072CE"/>
              </a:buClr>
              <a:buFont typeface="Symbol" panose="05050102010706020507" pitchFamily="18" charset="2"/>
              <a:buChar char=""/>
            </a:pPr>
            <a:r>
              <a:rPr lang="es-CO" sz="1200" dirty="0">
                <a:solidFill>
                  <a:srgbClr val="3C3C3C"/>
                </a:solidFill>
                <a:latin typeface="Open Sans"/>
              </a:rPr>
              <a:t>Evaluamos esta predicción en Bogotá (GEIH 2018).</a:t>
            </a:r>
          </a:p>
        </p:txBody>
      </p:sp>
      <p:grpSp>
        <p:nvGrpSpPr>
          <p:cNvPr id="18" name="Grupo 17">
            <a:extLst>
              <a:ext uri="{FF2B5EF4-FFF2-40B4-BE49-F238E27FC236}">
                <a16:creationId xmlns:a16="http://schemas.microsoft.com/office/drawing/2014/main" id="{80E74D3D-A4A7-5D36-A5DA-E16391F008F1}"/>
              </a:ext>
            </a:extLst>
          </p:cNvPr>
          <p:cNvGrpSpPr/>
          <p:nvPr/>
        </p:nvGrpSpPr>
        <p:grpSpPr>
          <a:xfrm>
            <a:off x="609600" y="6019983"/>
            <a:ext cx="8458200" cy="767532"/>
            <a:chOff x="609600" y="6019983"/>
            <a:chExt cx="8458200" cy="767532"/>
          </a:xfrm>
        </p:grpSpPr>
        <p:sp>
          <p:nvSpPr>
            <p:cNvPr id="19" name="Rectángulo 18">
              <a:extLst>
                <a:ext uri="{FF2B5EF4-FFF2-40B4-BE49-F238E27FC236}">
                  <a16:creationId xmlns:a16="http://schemas.microsoft.com/office/drawing/2014/main" id="{78E6E018-D374-6B9D-30DA-1F04471A75D7}"/>
                </a:ext>
              </a:extLst>
            </p:cNvPr>
            <p:cNvSpPr/>
            <p:nvPr/>
          </p:nvSpPr>
          <p:spPr>
            <a:xfrm>
              <a:off x="6858000" y="6096000"/>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rupo 19">
              <a:extLst>
                <a:ext uri="{FF2B5EF4-FFF2-40B4-BE49-F238E27FC236}">
                  <a16:creationId xmlns:a16="http://schemas.microsoft.com/office/drawing/2014/main" id="{4CF82C0C-6B59-12EE-33F5-911C6C6A3D6C}"/>
                </a:ext>
              </a:extLst>
            </p:cNvPr>
            <p:cNvGrpSpPr/>
            <p:nvPr/>
          </p:nvGrpSpPr>
          <p:grpSpPr>
            <a:xfrm>
              <a:off x="609600" y="6019983"/>
              <a:ext cx="5334000" cy="691515"/>
              <a:chOff x="609600" y="6019983"/>
              <a:chExt cx="5334000" cy="691515"/>
            </a:xfrm>
          </p:grpSpPr>
          <p:sp>
            <p:nvSpPr>
              <p:cNvPr id="22" name="Rectángulo 21">
                <a:extLst>
                  <a:ext uri="{FF2B5EF4-FFF2-40B4-BE49-F238E27FC236}">
                    <a16:creationId xmlns:a16="http://schemas.microsoft.com/office/drawing/2014/main" id="{E36D4C3D-8D3C-B0C4-48F5-B67BDAD14DBD}"/>
                  </a:ext>
                </a:extLst>
              </p:cNvPr>
              <p:cNvSpPr/>
              <p:nvPr/>
            </p:nvSpPr>
            <p:spPr>
              <a:xfrm>
                <a:off x="609600" y="6019983"/>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5235B552-3D1A-280A-79D5-27A7DEC5042F}"/>
                  </a:ext>
                </a:extLst>
              </p:cNvPr>
              <p:cNvSpPr txBox="1"/>
              <p:nvPr/>
            </p:nvSpPr>
            <p:spPr>
              <a:xfrm>
                <a:off x="609600" y="6226043"/>
                <a:ext cx="5334000" cy="276999"/>
              </a:xfrm>
              <a:prstGeom prst="rect">
                <a:avLst/>
              </a:prstGeom>
              <a:noFill/>
            </p:spPr>
            <p:txBody>
              <a:bodyPr wrap="square" rtlCol="0">
                <a:spAutoFit/>
              </a:bodyPr>
              <a:lstStyle/>
              <a:p>
                <a:r>
                  <a:rPr lang="es-CO" sz="1200" i="1" dirty="0">
                    <a:solidFill>
                      <a:schemeClr val="tx2"/>
                    </a:solidFill>
                    <a:latin typeface="Aptos Narrow" panose="020B0004020202020204" pitchFamily="34" charset="0"/>
                  </a:rPr>
                  <a:t>MECA 4107 – </a:t>
                </a:r>
                <a:r>
                  <a:rPr lang="es-CO" sz="1200" i="1" dirty="0" err="1">
                    <a:solidFill>
                      <a:schemeClr val="tx2"/>
                    </a:solidFill>
                    <a:latin typeface="Aptos Narrow" panose="020B0004020202020204" pitchFamily="34" charset="0"/>
                  </a:rPr>
                  <a:t>Problem</a:t>
                </a:r>
                <a:r>
                  <a:rPr lang="es-CO" sz="1200" i="1" dirty="0">
                    <a:solidFill>
                      <a:schemeClr val="tx2"/>
                    </a:solidFill>
                    <a:latin typeface="Aptos Narrow" panose="020B0004020202020204" pitchFamily="34" charset="0"/>
                  </a:rPr>
                  <a:t> Set 1: </a:t>
                </a:r>
                <a:r>
                  <a:rPr lang="es-CO" sz="1200" i="1" dirty="0" err="1">
                    <a:solidFill>
                      <a:schemeClr val="tx2"/>
                    </a:solidFill>
                    <a:latin typeface="Aptos Narrow" panose="020B0004020202020204" pitchFamily="34" charset="0"/>
                  </a:rPr>
                  <a:t>Predicting</a:t>
                </a:r>
                <a:r>
                  <a:rPr lang="es-CO" sz="1200" i="1" dirty="0">
                    <a:solidFill>
                      <a:schemeClr val="tx2"/>
                    </a:solidFill>
                    <a:latin typeface="Aptos Narrow" panose="020B0004020202020204" pitchFamily="34" charset="0"/>
                  </a:rPr>
                  <a:t> </a:t>
                </a:r>
                <a:r>
                  <a:rPr lang="es-CO" sz="1200" i="1" dirty="0" err="1">
                    <a:solidFill>
                      <a:schemeClr val="tx2"/>
                    </a:solidFill>
                    <a:latin typeface="Aptos Narrow" panose="020B0004020202020204" pitchFamily="34" charset="0"/>
                  </a:rPr>
                  <a:t>Income</a:t>
                </a:r>
                <a:endParaRPr lang="es-CO" sz="1050" i="1" dirty="0">
                  <a:solidFill>
                    <a:schemeClr val="tx2"/>
                  </a:solidFill>
                  <a:latin typeface="Aptos Narrow" panose="020B0004020202020204" pitchFamily="34" charset="0"/>
                </a:endParaRPr>
              </a:p>
            </p:txBody>
          </p:sp>
        </p:grpSp>
        <p:sp>
          <p:nvSpPr>
            <p:cNvPr id="21" name="Triángulo 20">
              <a:extLst>
                <a:ext uri="{FF2B5EF4-FFF2-40B4-BE49-F238E27FC236}">
                  <a16:creationId xmlns:a16="http://schemas.microsoft.com/office/drawing/2014/main" id="{131157C7-AE23-6628-7BAA-6C211C2E4449}"/>
                </a:ext>
              </a:extLst>
            </p:cNvPr>
            <p:cNvSpPr/>
            <p:nvPr/>
          </p:nvSpPr>
          <p:spPr>
            <a:xfrm rot="5400000">
              <a:off x="8518791" y="6142961"/>
              <a:ext cx="488417" cy="483199"/>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4" name="Grupo 23">
            <a:extLst>
              <a:ext uri="{FF2B5EF4-FFF2-40B4-BE49-F238E27FC236}">
                <a16:creationId xmlns:a16="http://schemas.microsoft.com/office/drawing/2014/main" id="{9E5E2412-19F8-854F-AA4D-369366F12E28}"/>
              </a:ext>
            </a:extLst>
          </p:cNvPr>
          <p:cNvGrpSpPr/>
          <p:nvPr/>
        </p:nvGrpSpPr>
        <p:grpSpPr>
          <a:xfrm>
            <a:off x="9818298" y="273960"/>
            <a:ext cx="2373702" cy="691515"/>
            <a:chOff x="338281" y="6096000"/>
            <a:chExt cx="2373702" cy="691515"/>
          </a:xfrm>
        </p:grpSpPr>
        <p:sp>
          <p:nvSpPr>
            <p:cNvPr id="25" name="Rectángulo 24">
              <a:extLst>
                <a:ext uri="{FF2B5EF4-FFF2-40B4-BE49-F238E27FC236}">
                  <a16:creationId xmlns:a16="http://schemas.microsoft.com/office/drawing/2014/main" id="{11473AB5-392A-04BC-254D-5DCFE7889B2E}"/>
                </a:ext>
              </a:extLst>
            </p:cNvPr>
            <p:cNvSpPr/>
            <p:nvPr/>
          </p:nvSpPr>
          <p:spPr>
            <a:xfrm>
              <a:off x="338281" y="6096000"/>
              <a:ext cx="2373702"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6" name="Grupo 25">
              <a:extLst>
                <a:ext uri="{FF2B5EF4-FFF2-40B4-BE49-F238E27FC236}">
                  <a16:creationId xmlns:a16="http://schemas.microsoft.com/office/drawing/2014/main" id="{74B2B4B4-000E-0E78-4B9E-9A50830410A9}"/>
                </a:ext>
              </a:extLst>
            </p:cNvPr>
            <p:cNvGrpSpPr/>
            <p:nvPr/>
          </p:nvGrpSpPr>
          <p:grpSpPr>
            <a:xfrm>
              <a:off x="685800" y="6096000"/>
              <a:ext cx="1447800" cy="495372"/>
              <a:chOff x="582416" y="5645548"/>
              <a:chExt cx="2329523" cy="691515"/>
            </a:xfrm>
          </p:grpSpPr>
          <p:sp>
            <p:nvSpPr>
              <p:cNvPr id="27" name="object 2">
                <a:extLst>
                  <a:ext uri="{FF2B5EF4-FFF2-40B4-BE49-F238E27FC236}">
                    <a16:creationId xmlns:a16="http://schemas.microsoft.com/office/drawing/2014/main" id="{CFE41A6A-18CC-1A48-6BDF-6764E8CEEAC0}"/>
                  </a:ext>
                </a:extLst>
              </p:cNvPr>
              <p:cNvSpPr/>
              <p:nvPr/>
            </p:nvSpPr>
            <p:spPr>
              <a:xfrm>
                <a:off x="582416" y="5645548"/>
                <a:ext cx="589915" cy="691515"/>
              </a:xfrm>
              <a:custGeom>
                <a:avLst/>
                <a:gdLst/>
                <a:ahLst/>
                <a:cxnLst/>
                <a:rect l="l" t="t" r="r" b="b"/>
                <a:pathLst>
                  <a:path w="589915" h="691514">
                    <a:moveTo>
                      <a:pt x="311958" y="97402"/>
                    </a:moveTo>
                    <a:lnTo>
                      <a:pt x="286126" y="97402"/>
                    </a:lnTo>
                    <a:lnTo>
                      <a:pt x="287264" y="104907"/>
                    </a:lnTo>
                    <a:lnTo>
                      <a:pt x="290172" y="124419"/>
                    </a:lnTo>
                    <a:lnTo>
                      <a:pt x="294174" y="152016"/>
                    </a:lnTo>
                    <a:lnTo>
                      <a:pt x="298270" y="181453"/>
                    </a:lnTo>
                    <a:lnTo>
                      <a:pt x="302721" y="200882"/>
                    </a:lnTo>
                    <a:lnTo>
                      <a:pt x="312125" y="239243"/>
                    </a:lnTo>
                    <a:lnTo>
                      <a:pt x="320584" y="296325"/>
                    </a:lnTo>
                    <a:lnTo>
                      <a:pt x="327583" y="362622"/>
                    </a:lnTo>
                    <a:lnTo>
                      <a:pt x="331926" y="440339"/>
                    </a:lnTo>
                    <a:lnTo>
                      <a:pt x="337659" y="553000"/>
                    </a:lnTo>
                    <a:lnTo>
                      <a:pt x="330998" y="595071"/>
                    </a:lnTo>
                    <a:lnTo>
                      <a:pt x="308224" y="625761"/>
                    </a:lnTo>
                    <a:lnTo>
                      <a:pt x="301539" y="633722"/>
                    </a:lnTo>
                    <a:lnTo>
                      <a:pt x="298270" y="648438"/>
                    </a:lnTo>
                    <a:lnTo>
                      <a:pt x="297656" y="661866"/>
                    </a:lnTo>
                    <a:lnTo>
                      <a:pt x="297595" y="673796"/>
                    </a:lnTo>
                    <a:lnTo>
                      <a:pt x="298650" y="681469"/>
                    </a:lnTo>
                    <a:lnTo>
                      <a:pt x="300971" y="691142"/>
                    </a:lnTo>
                    <a:lnTo>
                      <a:pt x="322460" y="690557"/>
                    </a:lnTo>
                    <a:lnTo>
                      <a:pt x="367010" y="684945"/>
                    </a:lnTo>
                    <a:lnTo>
                      <a:pt x="345996" y="683276"/>
                    </a:lnTo>
                    <a:lnTo>
                      <a:pt x="330662" y="664450"/>
                    </a:lnTo>
                    <a:lnTo>
                      <a:pt x="326610" y="656450"/>
                    </a:lnTo>
                    <a:lnTo>
                      <a:pt x="329311" y="656450"/>
                    </a:lnTo>
                    <a:lnTo>
                      <a:pt x="329311" y="643109"/>
                    </a:lnTo>
                    <a:lnTo>
                      <a:pt x="346960" y="604642"/>
                    </a:lnTo>
                    <a:lnTo>
                      <a:pt x="365755" y="584393"/>
                    </a:lnTo>
                    <a:lnTo>
                      <a:pt x="365755" y="579064"/>
                    </a:lnTo>
                    <a:lnTo>
                      <a:pt x="368456" y="568382"/>
                    </a:lnTo>
                    <a:lnTo>
                      <a:pt x="373472" y="527690"/>
                    </a:lnTo>
                    <a:lnTo>
                      <a:pt x="376212" y="475991"/>
                    </a:lnTo>
                    <a:lnTo>
                      <a:pt x="376422" y="425791"/>
                    </a:lnTo>
                    <a:lnTo>
                      <a:pt x="373847" y="389599"/>
                    </a:lnTo>
                    <a:lnTo>
                      <a:pt x="371211" y="374189"/>
                    </a:lnTo>
                    <a:lnTo>
                      <a:pt x="365920" y="344397"/>
                    </a:lnTo>
                    <a:lnTo>
                      <a:pt x="358857" y="303848"/>
                    </a:lnTo>
                    <a:lnTo>
                      <a:pt x="350910" y="256168"/>
                    </a:lnTo>
                    <a:lnTo>
                      <a:pt x="342956" y="212974"/>
                    </a:lnTo>
                    <a:lnTo>
                      <a:pt x="334782" y="181453"/>
                    </a:lnTo>
                    <a:lnTo>
                      <a:pt x="326043" y="151100"/>
                    </a:lnTo>
                    <a:lnTo>
                      <a:pt x="315816" y="109408"/>
                    </a:lnTo>
                    <a:lnTo>
                      <a:pt x="311958" y="97402"/>
                    </a:lnTo>
                    <a:close/>
                  </a:path>
                  <a:path w="589915" h="691514">
                    <a:moveTo>
                      <a:pt x="367433" y="684891"/>
                    </a:moveTo>
                    <a:lnTo>
                      <a:pt x="367010" y="684945"/>
                    </a:lnTo>
                    <a:lnTo>
                      <a:pt x="367274" y="684966"/>
                    </a:lnTo>
                    <a:lnTo>
                      <a:pt x="367433" y="684891"/>
                    </a:lnTo>
                    <a:close/>
                  </a:path>
                  <a:path w="589915" h="691514">
                    <a:moveTo>
                      <a:pt x="558230" y="26681"/>
                    </a:moveTo>
                    <a:lnTo>
                      <a:pt x="294218" y="26681"/>
                    </a:lnTo>
                    <a:lnTo>
                      <a:pt x="355567" y="27369"/>
                    </a:lnTo>
                    <a:lnTo>
                      <a:pt x="400339" y="32185"/>
                    </a:lnTo>
                    <a:lnTo>
                      <a:pt x="450425" y="45256"/>
                    </a:lnTo>
                    <a:lnTo>
                      <a:pt x="527715" y="70709"/>
                    </a:lnTo>
                    <a:lnTo>
                      <a:pt x="527669" y="553000"/>
                    </a:lnTo>
                    <a:lnTo>
                      <a:pt x="527061" y="579143"/>
                    </a:lnTo>
                    <a:lnTo>
                      <a:pt x="522484" y="595736"/>
                    </a:lnTo>
                    <a:lnTo>
                      <a:pt x="510061" y="607327"/>
                    </a:lnTo>
                    <a:lnTo>
                      <a:pt x="485869" y="620421"/>
                    </a:lnTo>
                    <a:lnTo>
                      <a:pt x="409049" y="665390"/>
                    </a:lnTo>
                    <a:lnTo>
                      <a:pt x="367433" y="684891"/>
                    </a:lnTo>
                    <a:lnTo>
                      <a:pt x="378743" y="683466"/>
                    </a:lnTo>
                    <a:lnTo>
                      <a:pt x="457548" y="661866"/>
                    </a:lnTo>
                    <a:lnTo>
                      <a:pt x="546601" y="617751"/>
                    </a:lnTo>
                    <a:lnTo>
                      <a:pt x="583618" y="580044"/>
                    </a:lnTo>
                    <a:lnTo>
                      <a:pt x="589797" y="551047"/>
                    </a:lnTo>
                    <a:lnTo>
                      <a:pt x="589797" y="32022"/>
                    </a:lnTo>
                    <a:lnTo>
                      <a:pt x="560485" y="27018"/>
                    </a:lnTo>
                    <a:lnTo>
                      <a:pt x="558230" y="26681"/>
                    </a:lnTo>
                    <a:close/>
                  </a:path>
                  <a:path w="589915" h="691514">
                    <a:moveTo>
                      <a:pt x="292867" y="0"/>
                    </a:moveTo>
                    <a:lnTo>
                      <a:pt x="228905" y="2372"/>
                    </a:lnTo>
                    <a:lnTo>
                      <a:pt x="162655" y="8302"/>
                    </a:lnTo>
                    <a:lnTo>
                      <a:pt x="100378" y="16011"/>
                    </a:lnTo>
                    <a:lnTo>
                      <a:pt x="48336" y="23720"/>
                    </a:lnTo>
                    <a:lnTo>
                      <a:pt x="0" y="32022"/>
                    </a:lnTo>
                    <a:lnTo>
                      <a:pt x="61" y="548376"/>
                    </a:lnTo>
                    <a:lnTo>
                      <a:pt x="1771" y="585444"/>
                    </a:lnTo>
                    <a:lnTo>
                      <a:pt x="14171" y="609085"/>
                    </a:lnTo>
                    <a:lnTo>
                      <a:pt x="47829" y="627721"/>
                    </a:lnTo>
                    <a:lnTo>
                      <a:pt x="113372" y="651109"/>
                    </a:lnTo>
                    <a:lnTo>
                      <a:pt x="87770" y="631303"/>
                    </a:lnTo>
                    <a:lnTo>
                      <a:pt x="73555" y="603744"/>
                    </a:lnTo>
                    <a:lnTo>
                      <a:pt x="67439" y="574184"/>
                    </a:lnTo>
                    <a:lnTo>
                      <a:pt x="66132" y="548376"/>
                    </a:lnTo>
                    <a:lnTo>
                      <a:pt x="66132" y="70709"/>
                    </a:lnTo>
                    <a:lnTo>
                      <a:pt x="87537" y="63830"/>
                    </a:lnTo>
                    <a:lnTo>
                      <a:pt x="142219" y="48695"/>
                    </a:lnTo>
                    <a:lnTo>
                      <a:pt x="215879" y="33561"/>
                    </a:lnTo>
                    <a:lnTo>
                      <a:pt x="294218" y="26681"/>
                    </a:lnTo>
                    <a:lnTo>
                      <a:pt x="558230" y="26681"/>
                    </a:lnTo>
                    <a:lnTo>
                      <a:pt x="486886" y="16011"/>
                    </a:lnTo>
                    <a:lnTo>
                      <a:pt x="390510" y="5003"/>
                    </a:lnTo>
                    <a:lnTo>
                      <a:pt x="292867" y="0"/>
                    </a:lnTo>
                    <a:close/>
                  </a:path>
                  <a:path w="589915" h="691514">
                    <a:moveTo>
                      <a:pt x="284775" y="46698"/>
                    </a:moveTo>
                    <a:lnTo>
                      <a:pt x="261826" y="98726"/>
                    </a:lnTo>
                    <a:lnTo>
                      <a:pt x="251961" y="152016"/>
                    </a:lnTo>
                    <a:lnTo>
                      <a:pt x="246898" y="196759"/>
                    </a:lnTo>
                    <a:lnTo>
                      <a:pt x="242830" y="248167"/>
                    </a:lnTo>
                    <a:lnTo>
                      <a:pt x="241590" y="272180"/>
                    </a:lnTo>
                    <a:lnTo>
                      <a:pt x="236862" y="348067"/>
                    </a:lnTo>
                    <a:lnTo>
                      <a:pt x="228084" y="487002"/>
                    </a:lnTo>
                    <a:lnTo>
                      <a:pt x="228147" y="489107"/>
                    </a:lnTo>
                    <a:lnTo>
                      <a:pt x="228590" y="492838"/>
                    </a:lnTo>
                    <a:lnTo>
                      <a:pt x="229793" y="494315"/>
                    </a:lnTo>
                    <a:lnTo>
                      <a:pt x="232135" y="489661"/>
                    </a:lnTo>
                    <a:lnTo>
                      <a:pt x="236333" y="462103"/>
                    </a:lnTo>
                    <a:lnTo>
                      <a:pt x="243441" y="405274"/>
                    </a:lnTo>
                    <a:lnTo>
                      <a:pt x="251309" y="339936"/>
                    </a:lnTo>
                    <a:lnTo>
                      <a:pt x="257786" y="286856"/>
                    </a:lnTo>
                    <a:lnTo>
                      <a:pt x="259826" y="267637"/>
                    </a:lnTo>
                    <a:lnTo>
                      <a:pt x="262054" y="247705"/>
                    </a:lnTo>
                    <a:lnTo>
                      <a:pt x="264422" y="228695"/>
                    </a:lnTo>
                    <a:lnTo>
                      <a:pt x="267229" y="209470"/>
                    </a:lnTo>
                    <a:lnTo>
                      <a:pt x="272270" y="171698"/>
                    </a:lnTo>
                    <a:lnTo>
                      <a:pt x="277184" y="138428"/>
                    </a:lnTo>
                    <a:lnTo>
                      <a:pt x="281844" y="112661"/>
                    </a:lnTo>
                    <a:lnTo>
                      <a:pt x="286126" y="97402"/>
                    </a:lnTo>
                    <a:lnTo>
                      <a:pt x="311958" y="97402"/>
                    </a:lnTo>
                    <a:lnTo>
                      <a:pt x="308687" y="87227"/>
                    </a:lnTo>
                    <a:lnTo>
                      <a:pt x="299283" y="67046"/>
                    </a:lnTo>
                    <a:lnTo>
                      <a:pt x="290385" y="52369"/>
                    </a:lnTo>
                    <a:lnTo>
                      <a:pt x="284775" y="46698"/>
                    </a:lnTo>
                    <a:close/>
                  </a:path>
                </a:pathLst>
              </a:custGeom>
              <a:solidFill>
                <a:srgbClr val="000000"/>
              </a:solidFill>
            </p:spPr>
            <p:txBody>
              <a:bodyPr wrap="square" lIns="0" tIns="0" rIns="0" bIns="0" rtlCol="0"/>
              <a:lstStyle/>
              <a:p>
                <a:endParaRPr/>
              </a:p>
            </p:txBody>
          </p:sp>
          <p:grpSp>
            <p:nvGrpSpPr>
              <p:cNvPr id="28" name="object 3">
                <a:extLst>
                  <a:ext uri="{FF2B5EF4-FFF2-40B4-BE49-F238E27FC236}">
                    <a16:creationId xmlns:a16="http://schemas.microsoft.com/office/drawing/2014/main" id="{316C4696-0E7F-2B89-C4B5-952C69AB3E1D}"/>
                  </a:ext>
                </a:extLst>
              </p:cNvPr>
              <p:cNvGrpSpPr/>
              <p:nvPr/>
            </p:nvGrpSpPr>
            <p:grpSpPr>
              <a:xfrm>
                <a:off x="2654129" y="5677571"/>
                <a:ext cx="257810" cy="194945"/>
                <a:chOff x="2654129" y="5677571"/>
                <a:chExt cx="257810" cy="194945"/>
              </a:xfrm>
            </p:grpSpPr>
            <p:sp>
              <p:nvSpPr>
                <p:cNvPr id="50" name="object 4">
                  <a:extLst>
                    <a:ext uri="{FF2B5EF4-FFF2-40B4-BE49-F238E27FC236}">
                      <a16:creationId xmlns:a16="http://schemas.microsoft.com/office/drawing/2014/main" id="{0EA67052-F756-33C6-9933-5AE01B126ED4}"/>
                    </a:ext>
                  </a:extLst>
                </p:cNvPr>
                <p:cNvSpPr/>
                <p:nvPr/>
              </p:nvSpPr>
              <p:spPr>
                <a:xfrm>
                  <a:off x="2654129" y="5677571"/>
                  <a:ext cx="114688" cy="194794"/>
                </a:xfrm>
                <a:prstGeom prst="rect">
                  <a:avLst/>
                </a:prstGeom>
                <a:blipFill>
                  <a:blip r:embed="rId6" cstate="print"/>
                  <a:stretch>
                    <a:fillRect/>
                  </a:stretch>
                </a:blipFill>
              </p:spPr>
              <p:txBody>
                <a:bodyPr wrap="square" lIns="0" tIns="0" rIns="0" bIns="0" rtlCol="0"/>
                <a:lstStyle/>
                <a:p>
                  <a:endParaRPr/>
                </a:p>
              </p:txBody>
            </p:sp>
            <p:sp>
              <p:nvSpPr>
                <p:cNvPr id="51" name="object 5">
                  <a:extLst>
                    <a:ext uri="{FF2B5EF4-FFF2-40B4-BE49-F238E27FC236}">
                      <a16:creationId xmlns:a16="http://schemas.microsoft.com/office/drawing/2014/main" id="{4C006E6A-0F82-ED2B-2FAD-E5F6FD9BE763}"/>
                    </a:ext>
                  </a:extLst>
                </p:cNvPr>
                <p:cNvSpPr/>
                <p:nvPr/>
              </p:nvSpPr>
              <p:spPr>
                <a:xfrm>
                  <a:off x="2797180" y="5729599"/>
                  <a:ext cx="114688" cy="142766"/>
                </a:xfrm>
                <a:prstGeom prst="rect">
                  <a:avLst/>
                </a:prstGeom>
                <a:blipFill>
                  <a:blip r:embed="rId7" cstate="print"/>
                  <a:stretch>
                    <a:fillRect/>
                  </a:stretch>
                </a:blipFill>
              </p:spPr>
              <p:txBody>
                <a:bodyPr wrap="square" lIns="0" tIns="0" rIns="0" bIns="0" rtlCol="0"/>
                <a:lstStyle/>
                <a:p>
                  <a:endParaRPr/>
                </a:p>
              </p:txBody>
            </p:sp>
          </p:grpSp>
          <p:grpSp>
            <p:nvGrpSpPr>
              <p:cNvPr id="29" name="object 6">
                <a:extLst>
                  <a:ext uri="{FF2B5EF4-FFF2-40B4-BE49-F238E27FC236}">
                    <a16:creationId xmlns:a16="http://schemas.microsoft.com/office/drawing/2014/main" id="{86AD0B4A-B9E1-FDAC-D448-06533989F573}"/>
                  </a:ext>
                </a:extLst>
              </p:cNvPr>
              <p:cNvGrpSpPr/>
              <p:nvPr/>
            </p:nvGrpSpPr>
            <p:grpSpPr>
              <a:xfrm>
                <a:off x="1276131" y="5935075"/>
                <a:ext cx="447040" cy="307340"/>
                <a:chOff x="1276131" y="5935075"/>
                <a:chExt cx="447040" cy="307340"/>
              </a:xfrm>
            </p:grpSpPr>
            <p:sp>
              <p:nvSpPr>
                <p:cNvPr id="47" name="object 7">
                  <a:extLst>
                    <a:ext uri="{FF2B5EF4-FFF2-40B4-BE49-F238E27FC236}">
                      <a16:creationId xmlns:a16="http://schemas.microsoft.com/office/drawing/2014/main" id="{60257AB0-FACB-5209-0560-3186444B34A4}"/>
                    </a:ext>
                  </a:extLst>
                </p:cNvPr>
                <p:cNvSpPr/>
                <p:nvPr/>
              </p:nvSpPr>
              <p:spPr>
                <a:xfrm>
                  <a:off x="1276131" y="5935075"/>
                  <a:ext cx="50165" cy="302895"/>
                </a:xfrm>
                <a:custGeom>
                  <a:avLst/>
                  <a:gdLst/>
                  <a:ahLst/>
                  <a:cxnLst/>
                  <a:rect l="l" t="t" r="r" b="b"/>
                  <a:pathLst>
                    <a:path w="50165" h="302895">
                      <a:moveTo>
                        <a:pt x="49938" y="0"/>
                      </a:moveTo>
                      <a:lnTo>
                        <a:pt x="0" y="0"/>
                      </a:lnTo>
                      <a:lnTo>
                        <a:pt x="0" y="302878"/>
                      </a:lnTo>
                      <a:lnTo>
                        <a:pt x="49938" y="302878"/>
                      </a:lnTo>
                      <a:lnTo>
                        <a:pt x="49938" y="0"/>
                      </a:lnTo>
                      <a:close/>
                    </a:path>
                  </a:pathLst>
                </a:custGeom>
                <a:solidFill>
                  <a:srgbClr val="000000"/>
                </a:solidFill>
              </p:spPr>
              <p:txBody>
                <a:bodyPr wrap="square" lIns="0" tIns="0" rIns="0" bIns="0" rtlCol="0"/>
                <a:lstStyle/>
                <a:p>
                  <a:endParaRPr/>
                </a:p>
              </p:txBody>
            </p:sp>
            <p:sp>
              <p:nvSpPr>
                <p:cNvPr id="48" name="object 8">
                  <a:extLst>
                    <a:ext uri="{FF2B5EF4-FFF2-40B4-BE49-F238E27FC236}">
                      <a16:creationId xmlns:a16="http://schemas.microsoft.com/office/drawing/2014/main" id="{75395CCA-6E08-6FB8-5FFB-0194F7DC6DCA}"/>
                    </a:ext>
                  </a:extLst>
                </p:cNvPr>
                <p:cNvSpPr/>
                <p:nvPr/>
              </p:nvSpPr>
              <p:spPr>
                <a:xfrm>
                  <a:off x="1369255" y="6017801"/>
                  <a:ext cx="183558" cy="224157"/>
                </a:xfrm>
                <a:prstGeom prst="rect">
                  <a:avLst/>
                </a:prstGeom>
                <a:blipFill>
                  <a:blip r:embed="rId8" cstate="print"/>
                  <a:stretch>
                    <a:fillRect/>
                  </a:stretch>
                </a:blipFill>
              </p:spPr>
              <p:txBody>
                <a:bodyPr wrap="square" lIns="0" tIns="0" rIns="0" bIns="0" rtlCol="0"/>
                <a:lstStyle/>
                <a:p>
                  <a:endParaRPr/>
                </a:p>
              </p:txBody>
            </p:sp>
            <p:sp>
              <p:nvSpPr>
                <p:cNvPr id="49" name="object 9">
                  <a:extLst>
                    <a:ext uri="{FF2B5EF4-FFF2-40B4-BE49-F238E27FC236}">
                      <a16:creationId xmlns:a16="http://schemas.microsoft.com/office/drawing/2014/main" id="{3143818E-3637-F95F-333D-61EFA4ED329B}"/>
                    </a:ext>
                  </a:extLst>
                </p:cNvPr>
                <p:cNvSpPr/>
                <p:nvPr/>
              </p:nvSpPr>
              <p:spPr>
                <a:xfrm>
                  <a:off x="1583855" y="6020117"/>
                  <a:ext cx="139033" cy="220840"/>
                </a:xfrm>
                <a:prstGeom prst="rect">
                  <a:avLst/>
                </a:prstGeom>
                <a:blipFill>
                  <a:blip r:embed="rId9" cstate="print"/>
                  <a:stretch>
                    <a:fillRect/>
                  </a:stretch>
                </a:blipFill>
              </p:spPr>
              <p:txBody>
                <a:bodyPr wrap="square" lIns="0" tIns="0" rIns="0" bIns="0" rtlCol="0"/>
                <a:lstStyle/>
                <a:p>
                  <a:endParaRPr/>
                </a:p>
              </p:txBody>
            </p:sp>
          </p:grpSp>
          <p:grpSp>
            <p:nvGrpSpPr>
              <p:cNvPr id="30" name="object 10">
                <a:extLst>
                  <a:ext uri="{FF2B5EF4-FFF2-40B4-BE49-F238E27FC236}">
                    <a16:creationId xmlns:a16="http://schemas.microsoft.com/office/drawing/2014/main" id="{35325478-6E6A-24E0-2F81-A16307A9E08A}"/>
                  </a:ext>
                </a:extLst>
              </p:cNvPr>
              <p:cNvGrpSpPr/>
              <p:nvPr/>
            </p:nvGrpSpPr>
            <p:grpSpPr>
              <a:xfrm>
                <a:off x="1834876" y="5937745"/>
                <a:ext cx="456565" cy="300355"/>
                <a:chOff x="1834876" y="5937745"/>
                <a:chExt cx="456565" cy="300355"/>
              </a:xfrm>
            </p:grpSpPr>
            <p:sp>
              <p:nvSpPr>
                <p:cNvPr id="45" name="object 11">
                  <a:extLst>
                    <a:ext uri="{FF2B5EF4-FFF2-40B4-BE49-F238E27FC236}">
                      <a16:creationId xmlns:a16="http://schemas.microsoft.com/office/drawing/2014/main" id="{1F357092-C3E2-2406-134A-089CDEB9981F}"/>
                    </a:ext>
                  </a:extLst>
                </p:cNvPr>
                <p:cNvSpPr/>
                <p:nvPr/>
              </p:nvSpPr>
              <p:spPr>
                <a:xfrm>
                  <a:off x="1834876" y="5937745"/>
                  <a:ext cx="252729" cy="300355"/>
                </a:xfrm>
                <a:custGeom>
                  <a:avLst/>
                  <a:gdLst/>
                  <a:ahLst/>
                  <a:cxnLst/>
                  <a:rect l="l" t="t" r="r" b="b"/>
                  <a:pathLst>
                    <a:path w="252730" h="300354">
                      <a:moveTo>
                        <a:pt x="152505" y="0"/>
                      </a:moveTo>
                      <a:lnTo>
                        <a:pt x="99832" y="0"/>
                      </a:lnTo>
                      <a:lnTo>
                        <a:pt x="0" y="300208"/>
                      </a:lnTo>
                      <a:lnTo>
                        <a:pt x="49972" y="300208"/>
                      </a:lnTo>
                      <a:lnTo>
                        <a:pt x="74283" y="222822"/>
                      </a:lnTo>
                      <a:lnTo>
                        <a:pt x="226603" y="222822"/>
                      </a:lnTo>
                      <a:lnTo>
                        <a:pt x="215954" y="190799"/>
                      </a:lnTo>
                      <a:lnTo>
                        <a:pt x="82386" y="190799"/>
                      </a:lnTo>
                      <a:lnTo>
                        <a:pt x="116039" y="85397"/>
                      </a:lnTo>
                      <a:lnTo>
                        <a:pt x="118824" y="74137"/>
                      </a:lnTo>
                      <a:lnTo>
                        <a:pt x="121104" y="64378"/>
                      </a:lnTo>
                      <a:lnTo>
                        <a:pt x="122876" y="56121"/>
                      </a:lnTo>
                      <a:lnTo>
                        <a:pt x="124142" y="49368"/>
                      </a:lnTo>
                      <a:lnTo>
                        <a:pt x="168922" y="49368"/>
                      </a:lnTo>
                      <a:lnTo>
                        <a:pt x="152505" y="0"/>
                      </a:lnTo>
                      <a:close/>
                    </a:path>
                    <a:path w="252730" h="300354">
                      <a:moveTo>
                        <a:pt x="226603" y="222822"/>
                      </a:moveTo>
                      <a:lnTo>
                        <a:pt x="171413" y="222822"/>
                      </a:lnTo>
                      <a:lnTo>
                        <a:pt x="194374" y="300208"/>
                      </a:lnTo>
                      <a:lnTo>
                        <a:pt x="252337" y="300208"/>
                      </a:lnTo>
                      <a:lnTo>
                        <a:pt x="226603" y="222822"/>
                      </a:lnTo>
                      <a:close/>
                    </a:path>
                    <a:path w="252730" h="300354">
                      <a:moveTo>
                        <a:pt x="168922" y="49368"/>
                      </a:moveTo>
                      <a:lnTo>
                        <a:pt x="125493" y="49368"/>
                      </a:lnTo>
                      <a:lnTo>
                        <a:pt x="126759" y="56872"/>
                      </a:lnTo>
                      <a:lnTo>
                        <a:pt x="128532" y="65380"/>
                      </a:lnTo>
                      <a:lnTo>
                        <a:pt x="130811" y="74888"/>
                      </a:lnTo>
                      <a:lnTo>
                        <a:pt x="133597" y="85397"/>
                      </a:lnTo>
                      <a:lnTo>
                        <a:pt x="164660" y="190799"/>
                      </a:lnTo>
                      <a:lnTo>
                        <a:pt x="215954" y="190799"/>
                      </a:lnTo>
                      <a:lnTo>
                        <a:pt x="168922" y="49368"/>
                      </a:lnTo>
                      <a:close/>
                    </a:path>
                  </a:pathLst>
                </a:custGeom>
                <a:solidFill>
                  <a:srgbClr val="000000"/>
                </a:solidFill>
              </p:spPr>
              <p:txBody>
                <a:bodyPr wrap="square" lIns="0" tIns="0" rIns="0" bIns="0" rtlCol="0"/>
                <a:lstStyle/>
                <a:p>
                  <a:endParaRPr/>
                </a:p>
              </p:txBody>
            </p:sp>
            <p:sp>
              <p:nvSpPr>
                <p:cNvPr id="46" name="object 12">
                  <a:extLst>
                    <a:ext uri="{FF2B5EF4-FFF2-40B4-BE49-F238E27FC236}">
                      <a16:creationId xmlns:a16="http://schemas.microsoft.com/office/drawing/2014/main" id="{07B5A486-73C7-DCE0-1F1A-85C122686029}"/>
                    </a:ext>
                  </a:extLst>
                </p:cNvPr>
                <p:cNvSpPr/>
                <p:nvPr/>
              </p:nvSpPr>
              <p:spPr>
                <a:xfrm>
                  <a:off x="2119628" y="6017801"/>
                  <a:ext cx="171414" cy="220151"/>
                </a:xfrm>
                <a:prstGeom prst="rect">
                  <a:avLst/>
                </a:prstGeom>
                <a:blipFill>
                  <a:blip r:embed="rId10" cstate="print"/>
                  <a:stretch>
                    <a:fillRect/>
                  </a:stretch>
                </a:blipFill>
              </p:spPr>
              <p:txBody>
                <a:bodyPr wrap="square" lIns="0" tIns="0" rIns="0" bIns="0" rtlCol="0"/>
                <a:lstStyle/>
                <a:p>
                  <a:endParaRPr/>
                </a:p>
              </p:txBody>
            </p:sp>
          </p:grpSp>
          <p:grpSp>
            <p:nvGrpSpPr>
              <p:cNvPr id="31" name="object 13">
                <a:extLst>
                  <a:ext uri="{FF2B5EF4-FFF2-40B4-BE49-F238E27FC236}">
                    <a16:creationId xmlns:a16="http://schemas.microsoft.com/office/drawing/2014/main" id="{B59A42ED-B419-E356-6258-A0CBE45EBA9B}"/>
                  </a:ext>
                </a:extLst>
              </p:cNvPr>
              <p:cNvGrpSpPr/>
              <p:nvPr/>
            </p:nvGrpSpPr>
            <p:grpSpPr>
              <a:xfrm>
                <a:off x="2335612" y="5937745"/>
                <a:ext cx="574040" cy="306070"/>
                <a:chOff x="2335612" y="5937745"/>
                <a:chExt cx="574040" cy="306070"/>
              </a:xfrm>
            </p:grpSpPr>
            <p:sp>
              <p:nvSpPr>
                <p:cNvPr id="42" name="object 14">
                  <a:extLst>
                    <a:ext uri="{FF2B5EF4-FFF2-40B4-BE49-F238E27FC236}">
                      <a16:creationId xmlns:a16="http://schemas.microsoft.com/office/drawing/2014/main" id="{0110BF04-1DB0-8A59-91ED-AB93BF9D9F90}"/>
                    </a:ext>
                  </a:extLst>
                </p:cNvPr>
                <p:cNvSpPr/>
                <p:nvPr/>
              </p:nvSpPr>
              <p:spPr>
                <a:xfrm>
                  <a:off x="2335612" y="5937745"/>
                  <a:ext cx="179705" cy="306070"/>
                </a:xfrm>
                <a:custGeom>
                  <a:avLst/>
                  <a:gdLst/>
                  <a:ahLst/>
                  <a:cxnLst/>
                  <a:rect l="l" t="t" r="r" b="b"/>
                  <a:pathLst>
                    <a:path w="179705" h="306070">
                      <a:moveTo>
                        <a:pt x="95780" y="84061"/>
                      </a:moveTo>
                      <a:lnTo>
                        <a:pt x="57344" y="91231"/>
                      </a:lnTo>
                      <a:lnTo>
                        <a:pt x="15384" y="129905"/>
                      </a:lnTo>
                      <a:lnTo>
                        <a:pt x="1751" y="171393"/>
                      </a:lnTo>
                      <a:lnTo>
                        <a:pt x="0" y="196140"/>
                      </a:lnTo>
                      <a:lnTo>
                        <a:pt x="1751" y="220090"/>
                      </a:lnTo>
                      <a:lnTo>
                        <a:pt x="15384" y="260491"/>
                      </a:lnTo>
                      <a:lnTo>
                        <a:pt x="42230" y="289218"/>
                      </a:lnTo>
                      <a:lnTo>
                        <a:pt x="79717" y="303775"/>
                      </a:lnTo>
                      <a:lnTo>
                        <a:pt x="102533" y="305548"/>
                      </a:lnTo>
                      <a:lnTo>
                        <a:pt x="125577" y="304547"/>
                      </a:lnTo>
                      <a:lnTo>
                        <a:pt x="146090" y="301544"/>
                      </a:lnTo>
                      <a:lnTo>
                        <a:pt x="164070" y="296541"/>
                      </a:lnTo>
                      <a:lnTo>
                        <a:pt x="179517" y="289537"/>
                      </a:lnTo>
                      <a:lnTo>
                        <a:pt x="178167" y="289537"/>
                      </a:lnTo>
                      <a:lnTo>
                        <a:pt x="178167" y="274861"/>
                      </a:lnTo>
                      <a:lnTo>
                        <a:pt x="103883" y="274861"/>
                      </a:lnTo>
                      <a:lnTo>
                        <a:pt x="63253" y="254177"/>
                      </a:lnTo>
                      <a:lnTo>
                        <a:pt x="49972" y="193470"/>
                      </a:lnTo>
                      <a:lnTo>
                        <a:pt x="53711" y="157463"/>
                      </a:lnTo>
                      <a:lnTo>
                        <a:pt x="64772" y="131590"/>
                      </a:lnTo>
                      <a:lnTo>
                        <a:pt x="82924" y="115976"/>
                      </a:lnTo>
                      <a:lnTo>
                        <a:pt x="107935" y="110743"/>
                      </a:lnTo>
                      <a:lnTo>
                        <a:pt x="178167" y="110743"/>
                      </a:lnTo>
                      <a:lnTo>
                        <a:pt x="178167" y="88056"/>
                      </a:lnTo>
                      <a:lnTo>
                        <a:pt x="128194" y="88056"/>
                      </a:lnTo>
                      <a:lnTo>
                        <a:pt x="121420" y="86310"/>
                      </a:lnTo>
                      <a:lnTo>
                        <a:pt x="113506" y="85061"/>
                      </a:lnTo>
                      <a:lnTo>
                        <a:pt x="104833" y="84312"/>
                      </a:lnTo>
                      <a:lnTo>
                        <a:pt x="95780" y="84061"/>
                      </a:lnTo>
                      <a:close/>
                    </a:path>
                    <a:path w="179705" h="306070">
                      <a:moveTo>
                        <a:pt x="178167" y="110743"/>
                      </a:moveTo>
                      <a:lnTo>
                        <a:pt x="116039" y="110743"/>
                      </a:lnTo>
                      <a:lnTo>
                        <a:pt x="129545" y="113413"/>
                      </a:lnTo>
                      <a:lnTo>
                        <a:pt x="129545" y="268185"/>
                      </a:lnTo>
                      <a:lnTo>
                        <a:pt x="124965" y="270730"/>
                      </a:lnTo>
                      <a:lnTo>
                        <a:pt x="119246" y="272525"/>
                      </a:lnTo>
                      <a:lnTo>
                        <a:pt x="112261" y="273818"/>
                      </a:lnTo>
                      <a:lnTo>
                        <a:pt x="103883" y="274861"/>
                      </a:lnTo>
                      <a:lnTo>
                        <a:pt x="178167" y="274861"/>
                      </a:lnTo>
                      <a:lnTo>
                        <a:pt x="178167" y="110743"/>
                      </a:lnTo>
                      <a:close/>
                    </a:path>
                    <a:path w="179705" h="306070">
                      <a:moveTo>
                        <a:pt x="178166" y="0"/>
                      </a:moveTo>
                      <a:lnTo>
                        <a:pt x="128194" y="0"/>
                      </a:lnTo>
                      <a:lnTo>
                        <a:pt x="128194" y="88056"/>
                      </a:lnTo>
                      <a:lnTo>
                        <a:pt x="178167" y="88056"/>
                      </a:lnTo>
                      <a:lnTo>
                        <a:pt x="178166" y="0"/>
                      </a:lnTo>
                      <a:close/>
                    </a:path>
                  </a:pathLst>
                </a:custGeom>
                <a:solidFill>
                  <a:srgbClr val="000000"/>
                </a:solidFill>
              </p:spPr>
              <p:txBody>
                <a:bodyPr wrap="square" lIns="0" tIns="0" rIns="0" bIns="0" rtlCol="0"/>
                <a:lstStyle/>
                <a:p>
                  <a:endParaRPr/>
                </a:p>
              </p:txBody>
            </p:sp>
            <p:sp>
              <p:nvSpPr>
                <p:cNvPr id="43" name="object 15">
                  <a:extLst>
                    <a:ext uri="{FF2B5EF4-FFF2-40B4-BE49-F238E27FC236}">
                      <a16:creationId xmlns:a16="http://schemas.microsoft.com/office/drawing/2014/main" id="{F2B785F3-C854-B4F3-ECBA-D44D0C5E0E1A}"/>
                    </a:ext>
                  </a:extLst>
                </p:cNvPr>
                <p:cNvSpPr/>
                <p:nvPr/>
              </p:nvSpPr>
              <p:spPr>
                <a:xfrm>
                  <a:off x="2558326" y="6015131"/>
                  <a:ext cx="180778" cy="225492"/>
                </a:xfrm>
                <a:prstGeom prst="rect">
                  <a:avLst/>
                </a:prstGeom>
                <a:blipFill>
                  <a:blip r:embed="rId11" cstate="print"/>
                  <a:stretch>
                    <a:fillRect/>
                  </a:stretch>
                </a:blipFill>
              </p:spPr>
              <p:txBody>
                <a:bodyPr wrap="square" lIns="0" tIns="0" rIns="0" bIns="0" rtlCol="0"/>
                <a:lstStyle/>
                <a:p>
                  <a:endParaRPr/>
                </a:p>
              </p:txBody>
            </p:sp>
            <p:sp>
              <p:nvSpPr>
                <p:cNvPr id="44" name="object 16">
                  <a:extLst>
                    <a:ext uri="{FF2B5EF4-FFF2-40B4-BE49-F238E27FC236}">
                      <a16:creationId xmlns:a16="http://schemas.microsoft.com/office/drawing/2014/main" id="{5033A219-1660-40DB-9B5B-90B45135D865}"/>
                    </a:ext>
                  </a:extLst>
                </p:cNvPr>
                <p:cNvSpPr/>
                <p:nvPr/>
              </p:nvSpPr>
              <p:spPr>
                <a:xfrm>
                  <a:off x="2770168" y="6020117"/>
                  <a:ext cx="138999" cy="220840"/>
                </a:xfrm>
                <a:prstGeom prst="rect">
                  <a:avLst/>
                </a:prstGeom>
                <a:blipFill>
                  <a:blip r:embed="rId12" cstate="print"/>
                  <a:stretch>
                    <a:fillRect/>
                  </a:stretch>
                </a:blipFill>
              </p:spPr>
              <p:txBody>
                <a:bodyPr wrap="square" lIns="0" tIns="0" rIns="0" bIns="0" rtlCol="0"/>
                <a:lstStyle/>
                <a:p>
                  <a:endParaRPr/>
                </a:p>
              </p:txBody>
            </p:sp>
          </p:grpSp>
          <p:grpSp>
            <p:nvGrpSpPr>
              <p:cNvPr id="32" name="object 17">
                <a:extLst>
                  <a:ext uri="{FF2B5EF4-FFF2-40B4-BE49-F238E27FC236}">
                    <a16:creationId xmlns:a16="http://schemas.microsoft.com/office/drawing/2014/main" id="{51FB2326-2EA8-64FC-6E7F-5BA8B71B7B43}"/>
                  </a:ext>
                </a:extLst>
              </p:cNvPr>
              <p:cNvGrpSpPr/>
              <p:nvPr/>
            </p:nvGrpSpPr>
            <p:grpSpPr>
              <a:xfrm>
                <a:off x="1274781" y="5678906"/>
                <a:ext cx="1281430" cy="194945"/>
                <a:chOff x="1274781" y="5678906"/>
                <a:chExt cx="1281430" cy="194945"/>
              </a:xfrm>
            </p:grpSpPr>
            <p:sp>
              <p:nvSpPr>
                <p:cNvPr id="33" name="object 18">
                  <a:extLst>
                    <a:ext uri="{FF2B5EF4-FFF2-40B4-BE49-F238E27FC236}">
                      <a16:creationId xmlns:a16="http://schemas.microsoft.com/office/drawing/2014/main" id="{44015265-B16D-6440-FA61-439CC0DA945A}"/>
                    </a:ext>
                  </a:extLst>
                </p:cNvPr>
                <p:cNvSpPr/>
                <p:nvPr/>
              </p:nvSpPr>
              <p:spPr>
                <a:xfrm>
                  <a:off x="1427286" y="5729599"/>
                  <a:ext cx="109331" cy="141430"/>
                </a:xfrm>
                <a:prstGeom prst="rect">
                  <a:avLst/>
                </a:prstGeom>
                <a:blipFill>
                  <a:blip r:embed="rId13" cstate="print"/>
                  <a:stretch>
                    <a:fillRect/>
                  </a:stretch>
                </a:blipFill>
              </p:spPr>
              <p:txBody>
                <a:bodyPr wrap="square" lIns="0" tIns="0" rIns="0" bIns="0" rtlCol="0"/>
                <a:lstStyle/>
                <a:p>
                  <a:endParaRPr/>
                </a:p>
              </p:txBody>
            </p:sp>
            <p:sp>
              <p:nvSpPr>
                <p:cNvPr id="34" name="object 19">
                  <a:extLst>
                    <a:ext uri="{FF2B5EF4-FFF2-40B4-BE49-F238E27FC236}">
                      <a16:creationId xmlns:a16="http://schemas.microsoft.com/office/drawing/2014/main" id="{571AD381-2BE6-7DDB-047D-475F20591324}"/>
                    </a:ext>
                  </a:extLst>
                </p:cNvPr>
                <p:cNvSpPr/>
                <p:nvPr/>
              </p:nvSpPr>
              <p:spPr>
                <a:xfrm>
                  <a:off x="1569010" y="5678906"/>
                  <a:ext cx="35560" cy="192405"/>
                </a:xfrm>
                <a:custGeom>
                  <a:avLst/>
                  <a:gdLst/>
                  <a:ahLst/>
                  <a:cxnLst/>
                  <a:rect l="l" t="t" r="r" b="b"/>
                  <a:pathLst>
                    <a:path w="35559" h="192404">
                      <a:moveTo>
                        <a:pt x="33731" y="53363"/>
                      </a:moveTo>
                      <a:lnTo>
                        <a:pt x="2689" y="53363"/>
                      </a:lnTo>
                      <a:lnTo>
                        <a:pt x="2689" y="192123"/>
                      </a:lnTo>
                      <a:lnTo>
                        <a:pt x="33731" y="192123"/>
                      </a:lnTo>
                      <a:lnTo>
                        <a:pt x="33731" y="53363"/>
                      </a:lnTo>
                      <a:close/>
                    </a:path>
                    <a:path w="35559" h="192404">
                      <a:moveTo>
                        <a:pt x="22937" y="0"/>
                      </a:moveTo>
                      <a:lnTo>
                        <a:pt x="13494" y="0"/>
                      </a:lnTo>
                      <a:lnTo>
                        <a:pt x="9442" y="1335"/>
                      </a:lnTo>
                      <a:lnTo>
                        <a:pt x="1339" y="6664"/>
                      </a:lnTo>
                      <a:lnTo>
                        <a:pt x="0" y="10670"/>
                      </a:lnTo>
                      <a:lnTo>
                        <a:pt x="0" y="18670"/>
                      </a:lnTo>
                      <a:lnTo>
                        <a:pt x="2689" y="22676"/>
                      </a:lnTo>
                      <a:lnTo>
                        <a:pt x="8092" y="28016"/>
                      </a:lnTo>
                      <a:lnTo>
                        <a:pt x="12144" y="29352"/>
                      </a:lnTo>
                      <a:lnTo>
                        <a:pt x="21587" y="29352"/>
                      </a:lnTo>
                      <a:lnTo>
                        <a:pt x="26989" y="28016"/>
                      </a:lnTo>
                      <a:lnTo>
                        <a:pt x="29690" y="25346"/>
                      </a:lnTo>
                      <a:lnTo>
                        <a:pt x="33731" y="22676"/>
                      </a:lnTo>
                      <a:lnTo>
                        <a:pt x="35081" y="18670"/>
                      </a:lnTo>
                      <a:lnTo>
                        <a:pt x="35081" y="10670"/>
                      </a:lnTo>
                      <a:lnTo>
                        <a:pt x="33731" y="6664"/>
                      </a:lnTo>
                      <a:lnTo>
                        <a:pt x="29690" y="3994"/>
                      </a:lnTo>
                      <a:lnTo>
                        <a:pt x="26989" y="1335"/>
                      </a:lnTo>
                      <a:lnTo>
                        <a:pt x="22937" y="0"/>
                      </a:lnTo>
                      <a:close/>
                    </a:path>
                  </a:pathLst>
                </a:custGeom>
                <a:solidFill>
                  <a:srgbClr val="000000"/>
                </a:solidFill>
              </p:spPr>
              <p:txBody>
                <a:bodyPr wrap="square" lIns="0" tIns="0" rIns="0" bIns="0" rtlCol="0"/>
                <a:lstStyle/>
                <a:p>
                  <a:endParaRPr/>
                </a:p>
              </p:txBody>
            </p:sp>
            <p:sp>
              <p:nvSpPr>
                <p:cNvPr id="35" name="object 20">
                  <a:extLst>
                    <a:ext uri="{FF2B5EF4-FFF2-40B4-BE49-F238E27FC236}">
                      <a16:creationId xmlns:a16="http://schemas.microsoft.com/office/drawing/2014/main" id="{6ECC27F8-993C-B73B-B4BF-AF5CA03EC6F1}"/>
                    </a:ext>
                  </a:extLst>
                </p:cNvPr>
                <p:cNvSpPr/>
                <p:nvPr/>
              </p:nvSpPr>
              <p:spPr>
                <a:xfrm>
                  <a:off x="1625690" y="5729599"/>
                  <a:ext cx="252405" cy="142766"/>
                </a:xfrm>
                <a:prstGeom prst="rect">
                  <a:avLst/>
                </a:prstGeom>
                <a:blipFill>
                  <a:blip r:embed="rId14" cstate="print"/>
                  <a:stretch>
                    <a:fillRect/>
                  </a:stretch>
                </a:blipFill>
              </p:spPr>
              <p:txBody>
                <a:bodyPr wrap="square" lIns="0" tIns="0" rIns="0" bIns="0" rtlCol="0"/>
                <a:lstStyle/>
                <a:p>
                  <a:endParaRPr/>
                </a:p>
              </p:txBody>
            </p:sp>
            <p:sp>
              <p:nvSpPr>
                <p:cNvPr id="36" name="object 21">
                  <a:extLst>
                    <a:ext uri="{FF2B5EF4-FFF2-40B4-BE49-F238E27FC236}">
                      <a16:creationId xmlns:a16="http://schemas.microsoft.com/office/drawing/2014/main" id="{B47C1AF9-E7CC-AE58-FCB3-1D67C3D35941}"/>
                    </a:ext>
                  </a:extLst>
                </p:cNvPr>
                <p:cNvSpPr/>
                <p:nvPr/>
              </p:nvSpPr>
              <p:spPr>
                <a:xfrm>
                  <a:off x="1907808" y="5729599"/>
                  <a:ext cx="167362" cy="142766"/>
                </a:xfrm>
                <a:prstGeom prst="rect">
                  <a:avLst/>
                </a:prstGeom>
                <a:blipFill>
                  <a:blip r:embed="rId15" cstate="print"/>
                  <a:stretch>
                    <a:fillRect/>
                  </a:stretch>
                </a:blipFill>
              </p:spPr>
              <p:txBody>
                <a:bodyPr wrap="square" lIns="0" tIns="0" rIns="0" bIns="0" rtlCol="0"/>
                <a:lstStyle/>
                <a:p>
                  <a:endParaRPr/>
                </a:p>
              </p:txBody>
            </p:sp>
            <p:sp>
              <p:nvSpPr>
                <p:cNvPr id="37" name="object 22">
                  <a:extLst>
                    <a:ext uri="{FF2B5EF4-FFF2-40B4-BE49-F238E27FC236}">
                      <a16:creationId xmlns:a16="http://schemas.microsoft.com/office/drawing/2014/main" id="{8710D778-D644-8C87-2222-4A1EED8A1DAC}"/>
                    </a:ext>
                  </a:extLst>
                </p:cNvPr>
                <p:cNvSpPr/>
                <p:nvPr/>
              </p:nvSpPr>
              <p:spPr>
                <a:xfrm>
                  <a:off x="2102070" y="5678906"/>
                  <a:ext cx="35560" cy="192405"/>
                </a:xfrm>
                <a:custGeom>
                  <a:avLst/>
                  <a:gdLst/>
                  <a:ahLst/>
                  <a:cxnLst/>
                  <a:rect l="l" t="t" r="r" b="b"/>
                  <a:pathLst>
                    <a:path w="35560" h="192404">
                      <a:moveTo>
                        <a:pt x="32414" y="53363"/>
                      </a:moveTo>
                      <a:lnTo>
                        <a:pt x="1350" y="53363"/>
                      </a:lnTo>
                      <a:lnTo>
                        <a:pt x="1350" y="192123"/>
                      </a:lnTo>
                      <a:lnTo>
                        <a:pt x="32414" y="192123"/>
                      </a:lnTo>
                      <a:lnTo>
                        <a:pt x="32414" y="53363"/>
                      </a:lnTo>
                      <a:close/>
                    </a:path>
                    <a:path w="35560" h="192404">
                      <a:moveTo>
                        <a:pt x="22960" y="0"/>
                      </a:moveTo>
                      <a:lnTo>
                        <a:pt x="13506" y="0"/>
                      </a:lnTo>
                      <a:lnTo>
                        <a:pt x="8103" y="1335"/>
                      </a:lnTo>
                      <a:lnTo>
                        <a:pt x="5402" y="3994"/>
                      </a:lnTo>
                      <a:lnTo>
                        <a:pt x="1350" y="6664"/>
                      </a:lnTo>
                      <a:lnTo>
                        <a:pt x="0" y="10670"/>
                      </a:lnTo>
                      <a:lnTo>
                        <a:pt x="0" y="18670"/>
                      </a:lnTo>
                      <a:lnTo>
                        <a:pt x="2701" y="22676"/>
                      </a:lnTo>
                      <a:lnTo>
                        <a:pt x="8103" y="28016"/>
                      </a:lnTo>
                      <a:lnTo>
                        <a:pt x="12155" y="29352"/>
                      </a:lnTo>
                      <a:lnTo>
                        <a:pt x="21609" y="29352"/>
                      </a:lnTo>
                      <a:lnTo>
                        <a:pt x="27012" y="28016"/>
                      </a:lnTo>
                      <a:lnTo>
                        <a:pt x="29713" y="25346"/>
                      </a:lnTo>
                      <a:lnTo>
                        <a:pt x="33765" y="22676"/>
                      </a:lnTo>
                      <a:lnTo>
                        <a:pt x="35115" y="18670"/>
                      </a:lnTo>
                      <a:lnTo>
                        <a:pt x="35115" y="10670"/>
                      </a:lnTo>
                      <a:lnTo>
                        <a:pt x="32414" y="6664"/>
                      </a:lnTo>
                      <a:lnTo>
                        <a:pt x="27012" y="1335"/>
                      </a:lnTo>
                      <a:lnTo>
                        <a:pt x="22960" y="0"/>
                      </a:lnTo>
                      <a:close/>
                    </a:path>
                  </a:pathLst>
                </a:custGeom>
                <a:solidFill>
                  <a:srgbClr val="000000"/>
                </a:solidFill>
              </p:spPr>
              <p:txBody>
                <a:bodyPr wrap="square" lIns="0" tIns="0" rIns="0" bIns="0" rtlCol="0"/>
                <a:lstStyle/>
                <a:p>
                  <a:endParaRPr/>
                </a:p>
              </p:txBody>
            </p:sp>
            <p:sp>
              <p:nvSpPr>
                <p:cNvPr id="38" name="object 23">
                  <a:extLst>
                    <a:ext uri="{FF2B5EF4-FFF2-40B4-BE49-F238E27FC236}">
                      <a16:creationId xmlns:a16="http://schemas.microsoft.com/office/drawing/2014/main" id="{27F472BD-90DB-2AAC-7F49-C5E547FAFBEB}"/>
                    </a:ext>
                  </a:extLst>
                </p:cNvPr>
                <p:cNvSpPr/>
                <p:nvPr/>
              </p:nvSpPr>
              <p:spPr>
                <a:xfrm>
                  <a:off x="2165548" y="5678906"/>
                  <a:ext cx="114688" cy="194794"/>
                </a:xfrm>
                <a:prstGeom prst="rect">
                  <a:avLst/>
                </a:prstGeom>
                <a:blipFill>
                  <a:blip r:embed="rId16" cstate="print"/>
                  <a:stretch>
                    <a:fillRect/>
                  </a:stretch>
                </a:blipFill>
              </p:spPr>
              <p:txBody>
                <a:bodyPr wrap="square" lIns="0" tIns="0" rIns="0" bIns="0" rtlCol="0"/>
                <a:lstStyle/>
                <a:p>
                  <a:endParaRPr/>
                </a:p>
              </p:txBody>
            </p:sp>
            <p:sp>
              <p:nvSpPr>
                <p:cNvPr id="39" name="object 24">
                  <a:extLst>
                    <a:ext uri="{FF2B5EF4-FFF2-40B4-BE49-F238E27FC236}">
                      <a16:creationId xmlns:a16="http://schemas.microsoft.com/office/drawing/2014/main" id="{61B2FE1B-9F68-9126-014F-D2183094AF09}"/>
                    </a:ext>
                  </a:extLst>
                </p:cNvPr>
                <p:cNvSpPr/>
                <p:nvPr/>
              </p:nvSpPr>
              <p:spPr>
                <a:xfrm>
                  <a:off x="2305898" y="5729599"/>
                  <a:ext cx="106585" cy="142766"/>
                </a:xfrm>
                <a:prstGeom prst="rect">
                  <a:avLst/>
                </a:prstGeom>
                <a:blipFill>
                  <a:blip r:embed="rId17" cstate="print"/>
                  <a:stretch>
                    <a:fillRect/>
                  </a:stretch>
                </a:blipFill>
              </p:spPr>
              <p:txBody>
                <a:bodyPr wrap="square" lIns="0" tIns="0" rIns="0" bIns="0" rtlCol="0"/>
                <a:lstStyle/>
                <a:p>
                  <a:endParaRPr/>
                </a:p>
              </p:txBody>
            </p:sp>
            <p:sp>
              <p:nvSpPr>
                <p:cNvPr id="40" name="object 25">
                  <a:extLst>
                    <a:ext uri="{FF2B5EF4-FFF2-40B4-BE49-F238E27FC236}">
                      <a16:creationId xmlns:a16="http://schemas.microsoft.com/office/drawing/2014/main" id="{5975CB89-3FE1-E958-8F21-C11D8CBBC271}"/>
                    </a:ext>
                  </a:extLst>
                </p:cNvPr>
                <p:cNvSpPr/>
                <p:nvPr/>
              </p:nvSpPr>
              <p:spPr>
                <a:xfrm>
                  <a:off x="2440846" y="5678906"/>
                  <a:ext cx="114801" cy="194794"/>
                </a:xfrm>
                <a:prstGeom prst="rect">
                  <a:avLst/>
                </a:prstGeom>
                <a:blipFill>
                  <a:blip r:embed="rId18" cstate="print"/>
                  <a:stretch>
                    <a:fillRect/>
                  </a:stretch>
                </a:blipFill>
              </p:spPr>
              <p:txBody>
                <a:bodyPr wrap="square" lIns="0" tIns="0" rIns="0" bIns="0" rtlCol="0"/>
                <a:lstStyle/>
                <a:p>
                  <a:endParaRPr/>
                </a:p>
              </p:txBody>
            </p:sp>
            <p:sp>
              <p:nvSpPr>
                <p:cNvPr id="41" name="object 26">
                  <a:extLst>
                    <a:ext uri="{FF2B5EF4-FFF2-40B4-BE49-F238E27FC236}">
                      <a16:creationId xmlns:a16="http://schemas.microsoft.com/office/drawing/2014/main" id="{B1E482F0-C528-B546-850C-90D5233B3315}"/>
                    </a:ext>
                  </a:extLst>
                </p:cNvPr>
                <p:cNvSpPr/>
                <p:nvPr/>
              </p:nvSpPr>
              <p:spPr>
                <a:xfrm>
                  <a:off x="1274781" y="5678906"/>
                  <a:ext cx="117423" cy="193459"/>
                </a:xfrm>
                <a:prstGeom prst="rect">
                  <a:avLst/>
                </a:prstGeom>
                <a:blipFill>
                  <a:blip r:embed="rId19" cstate="print"/>
                  <a:stretch>
                    <a:fillRect/>
                  </a:stretch>
                </a:blipFill>
              </p:spPr>
              <p:txBody>
                <a:bodyPr wrap="square" lIns="0" tIns="0" rIns="0" bIns="0" rtlCol="0"/>
                <a:lstStyle/>
                <a:p>
                  <a:endParaRPr/>
                </a:p>
              </p:txBody>
            </p:sp>
          </p:grpSp>
        </p:grpSp>
      </p:grpSp>
      <p:sp>
        <p:nvSpPr>
          <p:cNvPr id="52" name="CuadroTexto 51">
            <a:extLst>
              <a:ext uri="{FF2B5EF4-FFF2-40B4-BE49-F238E27FC236}">
                <a16:creationId xmlns:a16="http://schemas.microsoft.com/office/drawing/2014/main" id="{AEA0F615-BAF9-5AA9-8B2D-086E18D3856A}"/>
              </a:ext>
            </a:extLst>
          </p:cNvPr>
          <p:cNvSpPr txBox="1"/>
          <p:nvPr/>
        </p:nvSpPr>
        <p:spPr>
          <a:xfrm>
            <a:off x="6495585" y="4092453"/>
            <a:ext cx="4993442" cy="1015663"/>
          </a:xfrm>
          <a:prstGeom prst="rect">
            <a:avLst/>
          </a:prstGeom>
          <a:noFill/>
        </p:spPr>
        <p:txBody>
          <a:bodyPr wrap="square">
            <a:spAutoFit/>
          </a:bodyPr>
          <a:lstStyle/>
          <a:p>
            <a:pPr algn="ctr">
              <a:buClr>
                <a:srgbClr val="0072CE"/>
              </a:buClr>
            </a:pPr>
            <a:r>
              <a:rPr lang="es-CO" sz="1200" b="1" dirty="0">
                <a:solidFill>
                  <a:srgbClr val="3C3C3C"/>
                </a:solidFill>
                <a:latin typeface="Open Sans"/>
              </a:rPr>
              <a:t>Nuestros resultados respaldan la teoría del capital humano. El ingreso alcanza su máximo a los 40.6 años de forma incondicional, pero este "pico" se desplaza a los 43.6 años </a:t>
            </a:r>
            <a:r>
              <a:rPr lang="es-CO" sz="1200" dirty="0">
                <a:solidFill>
                  <a:srgbClr val="3C3C3C"/>
                </a:solidFill>
                <a:latin typeface="Open Sans"/>
              </a:rPr>
              <a:t>cuando aislamos el efecto de la oferta laboral (horas) y la composición ocupacional.).</a:t>
            </a:r>
          </a:p>
        </p:txBody>
      </p:sp>
      <p:sp>
        <p:nvSpPr>
          <p:cNvPr id="53" name="Rectángulo redondeado 52">
            <a:extLst>
              <a:ext uri="{FF2B5EF4-FFF2-40B4-BE49-F238E27FC236}">
                <a16:creationId xmlns:a16="http://schemas.microsoft.com/office/drawing/2014/main" id="{FF1A7807-53AE-DB26-0C4B-818BDCACEE96}"/>
              </a:ext>
            </a:extLst>
          </p:cNvPr>
          <p:cNvSpPr/>
          <p:nvPr/>
        </p:nvSpPr>
        <p:spPr>
          <a:xfrm>
            <a:off x="6340693" y="3958750"/>
            <a:ext cx="5327812" cy="130610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96810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7637B-8627-EC38-9FFE-91B8C0C68A5D}"/>
            </a:ext>
          </a:extLst>
        </p:cNvPr>
        <p:cNvGrpSpPr/>
        <p:nvPr/>
      </p:nvGrpSpPr>
      <p:grpSpPr>
        <a:xfrm>
          <a:off x="0" y="0"/>
          <a:ext cx="0" cy="0"/>
          <a:chOff x="0" y="0"/>
          <a:chExt cx="0" cy="0"/>
        </a:xfrm>
      </p:grpSpPr>
      <p:sp>
        <p:nvSpPr>
          <p:cNvPr id="2" name="Título 5">
            <a:extLst>
              <a:ext uri="{FF2B5EF4-FFF2-40B4-BE49-F238E27FC236}">
                <a16:creationId xmlns:a16="http://schemas.microsoft.com/office/drawing/2014/main" id="{8688907C-3612-21EB-90AD-8B2F26BA0C10}"/>
              </a:ext>
            </a:extLst>
          </p:cNvPr>
          <p:cNvSpPr txBox="1">
            <a:spLocks/>
          </p:cNvSpPr>
          <p:nvPr/>
        </p:nvSpPr>
        <p:spPr>
          <a:xfrm>
            <a:off x="2415559" y="761999"/>
            <a:ext cx="9240140" cy="917575"/>
          </a:xfrm>
          <a:prstGeom prst="rect">
            <a:avLst/>
          </a:prstGeom>
        </p:spPr>
        <p:txBody>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s-CO" sz="1800" dirty="0">
                <a:latin typeface="Open Sans Semibold"/>
              </a:rPr>
              <a:t>Principal resultado</a:t>
            </a:r>
            <a:endParaRPr kumimoji="0" lang="es-CO" sz="1800" b="0" i="0" u="none" strike="noStrike" kern="1200" cap="none" spc="0" normalizeH="0" baseline="0" noProof="0" dirty="0">
              <a:ln>
                <a:noFill/>
              </a:ln>
              <a:solidFill>
                <a:srgbClr val="003057"/>
              </a:solidFill>
              <a:effectLst/>
              <a:uLnTx/>
              <a:uFillTx/>
              <a:latin typeface="Open Sans Semibold"/>
              <a:ea typeface="+mj-ea"/>
              <a:cs typeface="+mj-cs"/>
            </a:endParaRPr>
          </a:p>
        </p:txBody>
      </p:sp>
      <p:sp>
        <p:nvSpPr>
          <p:cNvPr id="3" name="Título 5">
            <a:extLst>
              <a:ext uri="{FF2B5EF4-FFF2-40B4-BE49-F238E27FC236}">
                <a16:creationId xmlns:a16="http://schemas.microsoft.com/office/drawing/2014/main" id="{CA84FB7B-A9A7-E560-52B1-50F1A09BA5F3}"/>
              </a:ext>
            </a:extLst>
          </p:cNvPr>
          <p:cNvSpPr txBox="1">
            <a:spLocks/>
          </p:cNvSpPr>
          <p:nvPr/>
        </p:nvSpPr>
        <p:spPr>
          <a:xfrm>
            <a:off x="2415559" y="762000"/>
            <a:ext cx="9776441" cy="9175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1400" b="0" i="1" u="none" strike="noStrike" kern="1200" cap="none" spc="0" normalizeH="0" baseline="0" noProof="0" dirty="0">
                <a:ln>
                  <a:noFill/>
                </a:ln>
                <a:solidFill>
                  <a:schemeClr val="accent1"/>
                </a:solidFill>
                <a:effectLst/>
                <a:uLnTx/>
                <a:uFillTx/>
                <a:latin typeface="Open Sans Semibold"/>
                <a:ea typeface="+mj-ea"/>
                <a:cs typeface="+mj-cs"/>
              </a:rPr>
              <a:t>Principal hallazgo</a:t>
            </a:r>
          </a:p>
        </p:txBody>
      </p:sp>
      <p:sp>
        <p:nvSpPr>
          <p:cNvPr id="9" name="Marcador de texto 1">
            <a:extLst>
              <a:ext uri="{FF2B5EF4-FFF2-40B4-BE49-F238E27FC236}">
                <a16:creationId xmlns:a16="http://schemas.microsoft.com/office/drawing/2014/main" id="{9DB8C029-9035-1D50-C1E7-D3167556981D}"/>
              </a:ext>
            </a:extLst>
          </p:cNvPr>
          <p:cNvSpPr txBox="1">
            <a:spLocks/>
          </p:cNvSpPr>
          <p:nvPr/>
        </p:nvSpPr>
        <p:spPr>
          <a:xfrm>
            <a:off x="2819400" y="5103435"/>
            <a:ext cx="4708646" cy="376886"/>
          </a:xfrm>
          <a:prstGeom prst="rect">
            <a:avLst/>
          </a:prstGeom>
        </p:spPr>
        <p:txBody>
          <a:bodyPr vert="horz" lIns="91440" tIns="45720" rIns="91440" bIns="45720" rtlCol="0" anchor="ctr">
            <a:normAutofit/>
          </a:bodyPr>
          <a:lstStyle>
            <a:lvl1pPr marL="0" indent="0" algn="l" defTabSz="914400" rtl="0" eaLnBrk="1" latinLnBrk="0" hangingPunct="1">
              <a:lnSpc>
                <a:spcPct val="90000"/>
              </a:lnSpc>
              <a:spcBef>
                <a:spcPts val="1000"/>
              </a:spcBef>
              <a:buClr>
                <a:srgbClr val="00A3E0"/>
              </a:buClr>
              <a:buFont typeface="Open Sans" panose="020B0606030504020204" pitchFamily="34" charset="0"/>
              <a:buNone/>
              <a:defRPr sz="1600" b="1" kern="1200">
                <a:solidFill>
                  <a:srgbClr val="0070C0"/>
                </a:solidFill>
                <a:latin typeface="+mj-lt"/>
                <a:ea typeface="+mn-ea"/>
                <a:cs typeface="+mn-cs"/>
              </a:defRPr>
            </a:lvl1pPr>
            <a:lvl2pPr marL="457200" indent="0" algn="l" defTabSz="914400" rtl="0" eaLnBrk="1" latinLnBrk="0" hangingPunct="1">
              <a:lnSpc>
                <a:spcPct val="90000"/>
              </a:lnSpc>
              <a:spcBef>
                <a:spcPts val="500"/>
              </a:spcBef>
              <a:buClr>
                <a:srgbClr val="00A3E0"/>
              </a:buClr>
              <a:buFont typeface="Open Sans" panose="020B0606030504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rgbClr val="00A3E0"/>
              </a:buClr>
              <a:buFont typeface="Open Sans" panose="020B0606030504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defRPr/>
            </a:pPr>
            <a:r>
              <a:rPr lang="es-CO" sz="1400" dirty="0">
                <a:latin typeface="Open Sans Semibold"/>
              </a:rPr>
              <a:t>Interpretación clave:</a:t>
            </a:r>
          </a:p>
        </p:txBody>
      </p:sp>
      <p:sp>
        <p:nvSpPr>
          <p:cNvPr id="17" name="CuadroTexto 16">
            <a:extLst>
              <a:ext uri="{FF2B5EF4-FFF2-40B4-BE49-F238E27FC236}">
                <a16:creationId xmlns:a16="http://schemas.microsoft.com/office/drawing/2014/main" id="{7D96C644-A2BE-C423-445F-B4047A10FD54}"/>
              </a:ext>
            </a:extLst>
          </p:cNvPr>
          <p:cNvSpPr txBox="1"/>
          <p:nvPr/>
        </p:nvSpPr>
        <p:spPr>
          <a:xfrm>
            <a:off x="3126442" y="1790128"/>
            <a:ext cx="5270322" cy="276999"/>
          </a:xfrm>
          <a:prstGeom prst="rect">
            <a:avLst/>
          </a:prstGeom>
          <a:noFill/>
        </p:spPr>
        <p:txBody>
          <a:bodyPr wrap="square">
            <a:spAutoFit/>
          </a:bodyPr>
          <a:lstStyle/>
          <a:p>
            <a:pPr>
              <a:buClr>
                <a:srgbClr val="0072CE"/>
              </a:buClr>
            </a:pPr>
            <a:r>
              <a:rPr lang="es-CO" sz="1200" dirty="0">
                <a:solidFill>
                  <a:srgbClr val="3C3C3C"/>
                </a:solidFill>
                <a:latin typeface="Open Sans"/>
              </a:rPr>
              <a:t>El perfil edad–ingreso es cóncavo y estadísticamente significativo.</a:t>
            </a:r>
          </a:p>
        </p:txBody>
      </p:sp>
      <p:grpSp>
        <p:nvGrpSpPr>
          <p:cNvPr id="18" name="Grupo 17">
            <a:extLst>
              <a:ext uri="{FF2B5EF4-FFF2-40B4-BE49-F238E27FC236}">
                <a16:creationId xmlns:a16="http://schemas.microsoft.com/office/drawing/2014/main" id="{0E1E2E4F-BB71-40F7-5D9D-5827E1C280DC}"/>
              </a:ext>
            </a:extLst>
          </p:cNvPr>
          <p:cNvGrpSpPr/>
          <p:nvPr/>
        </p:nvGrpSpPr>
        <p:grpSpPr>
          <a:xfrm>
            <a:off x="609600" y="6019983"/>
            <a:ext cx="8458200" cy="767532"/>
            <a:chOff x="609600" y="6019983"/>
            <a:chExt cx="8458200" cy="767532"/>
          </a:xfrm>
        </p:grpSpPr>
        <p:sp>
          <p:nvSpPr>
            <p:cNvPr id="19" name="Rectángulo 18">
              <a:extLst>
                <a:ext uri="{FF2B5EF4-FFF2-40B4-BE49-F238E27FC236}">
                  <a16:creationId xmlns:a16="http://schemas.microsoft.com/office/drawing/2014/main" id="{B2541447-24AF-B7B5-AB60-A18EFC173878}"/>
                </a:ext>
              </a:extLst>
            </p:cNvPr>
            <p:cNvSpPr/>
            <p:nvPr/>
          </p:nvSpPr>
          <p:spPr>
            <a:xfrm>
              <a:off x="6858000" y="6096000"/>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rupo 19">
              <a:extLst>
                <a:ext uri="{FF2B5EF4-FFF2-40B4-BE49-F238E27FC236}">
                  <a16:creationId xmlns:a16="http://schemas.microsoft.com/office/drawing/2014/main" id="{95FB488A-9767-0C9F-7B48-F89A3C9C241C}"/>
                </a:ext>
              </a:extLst>
            </p:cNvPr>
            <p:cNvGrpSpPr/>
            <p:nvPr/>
          </p:nvGrpSpPr>
          <p:grpSpPr>
            <a:xfrm>
              <a:off x="609600" y="6019983"/>
              <a:ext cx="5334000" cy="691515"/>
              <a:chOff x="609600" y="6019983"/>
              <a:chExt cx="5334000" cy="691515"/>
            </a:xfrm>
          </p:grpSpPr>
          <p:sp>
            <p:nvSpPr>
              <p:cNvPr id="22" name="Rectángulo 21">
                <a:extLst>
                  <a:ext uri="{FF2B5EF4-FFF2-40B4-BE49-F238E27FC236}">
                    <a16:creationId xmlns:a16="http://schemas.microsoft.com/office/drawing/2014/main" id="{0C716954-7EED-62D8-4ABE-A77682BBF66D}"/>
                  </a:ext>
                </a:extLst>
              </p:cNvPr>
              <p:cNvSpPr/>
              <p:nvPr/>
            </p:nvSpPr>
            <p:spPr>
              <a:xfrm>
                <a:off x="609600" y="6019983"/>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D98BD5D2-72DE-A0F8-1769-F484F73FFCD4}"/>
                  </a:ext>
                </a:extLst>
              </p:cNvPr>
              <p:cNvSpPr txBox="1"/>
              <p:nvPr/>
            </p:nvSpPr>
            <p:spPr>
              <a:xfrm>
                <a:off x="609600" y="6226043"/>
                <a:ext cx="5334000" cy="276999"/>
              </a:xfrm>
              <a:prstGeom prst="rect">
                <a:avLst/>
              </a:prstGeom>
              <a:noFill/>
            </p:spPr>
            <p:txBody>
              <a:bodyPr wrap="square" rtlCol="0">
                <a:spAutoFit/>
              </a:bodyPr>
              <a:lstStyle/>
              <a:p>
                <a:r>
                  <a:rPr lang="es-CO" sz="1200" i="1" dirty="0">
                    <a:solidFill>
                      <a:schemeClr val="tx2"/>
                    </a:solidFill>
                    <a:latin typeface="Aptos Narrow" panose="020B0004020202020204" pitchFamily="34" charset="0"/>
                  </a:rPr>
                  <a:t>MECA 4107 – </a:t>
                </a:r>
                <a:r>
                  <a:rPr lang="es-CO" sz="1200" i="1" dirty="0" err="1">
                    <a:solidFill>
                      <a:schemeClr val="tx2"/>
                    </a:solidFill>
                    <a:latin typeface="Aptos Narrow" panose="020B0004020202020204" pitchFamily="34" charset="0"/>
                  </a:rPr>
                  <a:t>Problem</a:t>
                </a:r>
                <a:r>
                  <a:rPr lang="es-CO" sz="1200" i="1" dirty="0">
                    <a:solidFill>
                      <a:schemeClr val="tx2"/>
                    </a:solidFill>
                    <a:latin typeface="Aptos Narrow" panose="020B0004020202020204" pitchFamily="34" charset="0"/>
                  </a:rPr>
                  <a:t> Set 1: </a:t>
                </a:r>
                <a:r>
                  <a:rPr lang="es-CO" sz="1200" i="1" dirty="0" err="1">
                    <a:solidFill>
                      <a:schemeClr val="tx2"/>
                    </a:solidFill>
                    <a:latin typeface="Aptos Narrow" panose="020B0004020202020204" pitchFamily="34" charset="0"/>
                  </a:rPr>
                  <a:t>Predicting</a:t>
                </a:r>
                <a:r>
                  <a:rPr lang="es-CO" sz="1200" i="1" dirty="0">
                    <a:solidFill>
                      <a:schemeClr val="tx2"/>
                    </a:solidFill>
                    <a:latin typeface="Aptos Narrow" panose="020B0004020202020204" pitchFamily="34" charset="0"/>
                  </a:rPr>
                  <a:t> </a:t>
                </a:r>
                <a:r>
                  <a:rPr lang="es-CO" sz="1200" i="1" dirty="0" err="1">
                    <a:solidFill>
                      <a:schemeClr val="tx2"/>
                    </a:solidFill>
                    <a:latin typeface="Aptos Narrow" panose="020B0004020202020204" pitchFamily="34" charset="0"/>
                  </a:rPr>
                  <a:t>Income</a:t>
                </a:r>
                <a:endParaRPr lang="es-CO" sz="1050" i="1" dirty="0">
                  <a:solidFill>
                    <a:schemeClr val="tx2"/>
                  </a:solidFill>
                  <a:latin typeface="Aptos Narrow" panose="020B0004020202020204" pitchFamily="34" charset="0"/>
                </a:endParaRPr>
              </a:p>
            </p:txBody>
          </p:sp>
        </p:grpSp>
        <p:sp>
          <p:nvSpPr>
            <p:cNvPr id="21" name="Triángulo 20">
              <a:extLst>
                <a:ext uri="{FF2B5EF4-FFF2-40B4-BE49-F238E27FC236}">
                  <a16:creationId xmlns:a16="http://schemas.microsoft.com/office/drawing/2014/main" id="{DB46FA19-2833-EC5E-A1AD-FF20167C6082}"/>
                </a:ext>
              </a:extLst>
            </p:cNvPr>
            <p:cNvSpPr/>
            <p:nvPr/>
          </p:nvSpPr>
          <p:spPr>
            <a:xfrm rot="5400000">
              <a:off x="8518791" y="6142961"/>
              <a:ext cx="488417" cy="483199"/>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4" name="Grupo 23">
            <a:extLst>
              <a:ext uri="{FF2B5EF4-FFF2-40B4-BE49-F238E27FC236}">
                <a16:creationId xmlns:a16="http://schemas.microsoft.com/office/drawing/2014/main" id="{72915A43-E1DA-C3B4-284F-256893ECFA29}"/>
              </a:ext>
            </a:extLst>
          </p:cNvPr>
          <p:cNvGrpSpPr/>
          <p:nvPr/>
        </p:nvGrpSpPr>
        <p:grpSpPr>
          <a:xfrm>
            <a:off x="9818298" y="273960"/>
            <a:ext cx="2373702" cy="691515"/>
            <a:chOff x="338281" y="6096000"/>
            <a:chExt cx="2373702" cy="691515"/>
          </a:xfrm>
        </p:grpSpPr>
        <p:sp>
          <p:nvSpPr>
            <p:cNvPr id="25" name="Rectángulo 24">
              <a:extLst>
                <a:ext uri="{FF2B5EF4-FFF2-40B4-BE49-F238E27FC236}">
                  <a16:creationId xmlns:a16="http://schemas.microsoft.com/office/drawing/2014/main" id="{1A06E965-18B2-ADBA-48DE-133AA6BA5B25}"/>
                </a:ext>
              </a:extLst>
            </p:cNvPr>
            <p:cNvSpPr/>
            <p:nvPr/>
          </p:nvSpPr>
          <p:spPr>
            <a:xfrm>
              <a:off x="338281" y="6096000"/>
              <a:ext cx="2373702"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6" name="Grupo 25">
              <a:extLst>
                <a:ext uri="{FF2B5EF4-FFF2-40B4-BE49-F238E27FC236}">
                  <a16:creationId xmlns:a16="http://schemas.microsoft.com/office/drawing/2014/main" id="{66CBFAF6-6394-3750-B50F-65160DA82D0C}"/>
                </a:ext>
              </a:extLst>
            </p:cNvPr>
            <p:cNvGrpSpPr/>
            <p:nvPr/>
          </p:nvGrpSpPr>
          <p:grpSpPr>
            <a:xfrm>
              <a:off x="685800" y="6096000"/>
              <a:ext cx="1447800" cy="495372"/>
              <a:chOff x="582416" y="5645548"/>
              <a:chExt cx="2329523" cy="691515"/>
            </a:xfrm>
          </p:grpSpPr>
          <p:sp>
            <p:nvSpPr>
              <p:cNvPr id="27" name="object 2">
                <a:extLst>
                  <a:ext uri="{FF2B5EF4-FFF2-40B4-BE49-F238E27FC236}">
                    <a16:creationId xmlns:a16="http://schemas.microsoft.com/office/drawing/2014/main" id="{D95B43A7-7D14-9419-5ED5-F415DC48F761}"/>
                  </a:ext>
                </a:extLst>
              </p:cNvPr>
              <p:cNvSpPr/>
              <p:nvPr/>
            </p:nvSpPr>
            <p:spPr>
              <a:xfrm>
                <a:off x="582416" y="5645548"/>
                <a:ext cx="589915" cy="691515"/>
              </a:xfrm>
              <a:custGeom>
                <a:avLst/>
                <a:gdLst/>
                <a:ahLst/>
                <a:cxnLst/>
                <a:rect l="l" t="t" r="r" b="b"/>
                <a:pathLst>
                  <a:path w="589915" h="691514">
                    <a:moveTo>
                      <a:pt x="311958" y="97402"/>
                    </a:moveTo>
                    <a:lnTo>
                      <a:pt x="286126" y="97402"/>
                    </a:lnTo>
                    <a:lnTo>
                      <a:pt x="287264" y="104907"/>
                    </a:lnTo>
                    <a:lnTo>
                      <a:pt x="290172" y="124419"/>
                    </a:lnTo>
                    <a:lnTo>
                      <a:pt x="294174" y="152016"/>
                    </a:lnTo>
                    <a:lnTo>
                      <a:pt x="298270" y="181453"/>
                    </a:lnTo>
                    <a:lnTo>
                      <a:pt x="302721" y="200882"/>
                    </a:lnTo>
                    <a:lnTo>
                      <a:pt x="312125" y="239243"/>
                    </a:lnTo>
                    <a:lnTo>
                      <a:pt x="320584" y="296325"/>
                    </a:lnTo>
                    <a:lnTo>
                      <a:pt x="327583" y="362622"/>
                    </a:lnTo>
                    <a:lnTo>
                      <a:pt x="331926" y="440339"/>
                    </a:lnTo>
                    <a:lnTo>
                      <a:pt x="337659" y="553000"/>
                    </a:lnTo>
                    <a:lnTo>
                      <a:pt x="330998" y="595071"/>
                    </a:lnTo>
                    <a:lnTo>
                      <a:pt x="308224" y="625761"/>
                    </a:lnTo>
                    <a:lnTo>
                      <a:pt x="301539" y="633722"/>
                    </a:lnTo>
                    <a:lnTo>
                      <a:pt x="298270" y="648438"/>
                    </a:lnTo>
                    <a:lnTo>
                      <a:pt x="297656" y="661866"/>
                    </a:lnTo>
                    <a:lnTo>
                      <a:pt x="297595" y="673796"/>
                    </a:lnTo>
                    <a:lnTo>
                      <a:pt x="298650" y="681469"/>
                    </a:lnTo>
                    <a:lnTo>
                      <a:pt x="300971" y="691142"/>
                    </a:lnTo>
                    <a:lnTo>
                      <a:pt x="322460" y="690557"/>
                    </a:lnTo>
                    <a:lnTo>
                      <a:pt x="367010" y="684945"/>
                    </a:lnTo>
                    <a:lnTo>
                      <a:pt x="345996" y="683276"/>
                    </a:lnTo>
                    <a:lnTo>
                      <a:pt x="330662" y="664450"/>
                    </a:lnTo>
                    <a:lnTo>
                      <a:pt x="326610" y="656450"/>
                    </a:lnTo>
                    <a:lnTo>
                      <a:pt x="329311" y="656450"/>
                    </a:lnTo>
                    <a:lnTo>
                      <a:pt x="329311" y="643109"/>
                    </a:lnTo>
                    <a:lnTo>
                      <a:pt x="346960" y="604642"/>
                    </a:lnTo>
                    <a:lnTo>
                      <a:pt x="365755" y="584393"/>
                    </a:lnTo>
                    <a:lnTo>
                      <a:pt x="365755" y="579064"/>
                    </a:lnTo>
                    <a:lnTo>
                      <a:pt x="368456" y="568382"/>
                    </a:lnTo>
                    <a:lnTo>
                      <a:pt x="373472" y="527690"/>
                    </a:lnTo>
                    <a:lnTo>
                      <a:pt x="376212" y="475991"/>
                    </a:lnTo>
                    <a:lnTo>
                      <a:pt x="376422" y="425791"/>
                    </a:lnTo>
                    <a:lnTo>
                      <a:pt x="373847" y="389599"/>
                    </a:lnTo>
                    <a:lnTo>
                      <a:pt x="371211" y="374189"/>
                    </a:lnTo>
                    <a:lnTo>
                      <a:pt x="365920" y="344397"/>
                    </a:lnTo>
                    <a:lnTo>
                      <a:pt x="358857" y="303848"/>
                    </a:lnTo>
                    <a:lnTo>
                      <a:pt x="350910" y="256168"/>
                    </a:lnTo>
                    <a:lnTo>
                      <a:pt x="342956" y="212974"/>
                    </a:lnTo>
                    <a:lnTo>
                      <a:pt x="334782" y="181453"/>
                    </a:lnTo>
                    <a:lnTo>
                      <a:pt x="326043" y="151100"/>
                    </a:lnTo>
                    <a:lnTo>
                      <a:pt x="315816" y="109408"/>
                    </a:lnTo>
                    <a:lnTo>
                      <a:pt x="311958" y="97402"/>
                    </a:lnTo>
                    <a:close/>
                  </a:path>
                  <a:path w="589915" h="691514">
                    <a:moveTo>
                      <a:pt x="367433" y="684891"/>
                    </a:moveTo>
                    <a:lnTo>
                      <a:pt x="367010" y="684945"/>
                    </a:lnTo>
                    <a:lnTo>
                      <a:pt x="367274" y="684966"/>
                    </a:lnTo>
                    <a:lnTo>
                      <a:pt x="367433" y="684891"/>
                    </a:lnTo>
                    <a:close/>
                  </a:path>
                  <a:path w="589915" h="691514">
                    <a:moveTo>
                      <a:pt x="558230" y="26681"/>
                    </a:moveTo>
                    <a:lnTo>
                      <a:pt x="294218" y="26681"/>
                    </a:lnTo>
                    <a:lnTo>
                      <a:pt x="355567" y="27369"/>
                    </a:lnTo>
                    <a:lnTo>
                      <a:pt x="400339" y="32185"/>
                    </a:lnTo>
                    <a:lnTo>
                      <a:pt x="450425" y="45256"/>
                    </a:lnTo>
                    <a:lnTo>
                      <a:pt x="527715" y="70709"/>
                    </a:lnTo>
                    <a:lnTo>
                      <a:pt x="527669" y="553000"/>
                    </a:lnTo>
                    <a:lnTo>
                      <a:pt x="527061" y="579143"/>
                    </a:lnTo>
                    <a:lnTo>
                      <a:pt x="522484" y="595736"/>
                    </a:lnTo>
                    <a:lnTo>
                      <a:pt x="510061" y="607327"/>
                    </a:lnTo>
                    <a:lnTo>
                      <a:pt x="485869" y="620421"/>
                    </a:lnTo>
                    <a:lnTo>
                      <a:pt x="409049" y="665390"/>
                    </a:lnTo>
                    <a:lnTo>
                      <a:pt x="367433" y="684891"/>
                    </a:lnTo>
                    <a:lnTo>
                      <a:pt x="378743" y="683466"/>
                    </a:lnTo>
                    <a:lnTo>
                      <a:pt x="457548" y="661866"/>
                    </a:lnTo>
                    <a:lnTo>
                      <a:pt x="546601" y="617751"/>
                    </a:lnTo>
                    <a:lnTo>
                      <a:pt x="583618" y="580044"/>
                    </a:lnTo>
                    <a:lnTo>
                      <a:pt x="589797" y="551047"/>
                    </a:lnTo>
                    <a:lnTo>
                      <a:pt x="589797" y="32022"/>
                    </a:lnTo>
                    <a:lnTo>
                      <a:pt x="560485" y="27018"/>
                    </a:lnTo>
                    <a:lnTo>
                      <a:pt x="558230" y="26681"/>
                    </a:lnTo>
                    <a:close/>
                  </a:path>
                  <a:path w="589915" h="691514">
                    <a:moveTo>
                      <a:pt x="292867" y="0"/>
                    </a:moveTo>
                    <a:lnTo>
                      <a:pt x="228905" y="2372"/>
                    </a:lnTo>
                    <a:lnTo>
                      <a:pt x="162655" y="8302"/>
                    </a:lnTo>
                    <a:lnTo>
                      <a:pt x="100378" y="16011"/>
                    </a:lnTo>
                    <a:lnTo>
                      <a:pt x="48336" y="23720"/>
                    </a:lnTo>
                    <a:lnTo>
                      <a:pt x="0" y="32022"/>
                    </a:lnTo>
                    <a:lnTo>
                      <a:pt x="61" y="548376"/>
                    </a:lnTo>
                    <a:lnTo>
                      <a:pt x="1771" y="585444"/>
                    </a:lnTo>
                    <a:lnTo>
                      <a:pt x="14171" y="609085"/>
                    </a:lnTo>
                    <a:lnTo>
                      <a:pt x="47829" y="627721"/>
                    </a:lnTo>
                    <a:lnTo>
                      <a:pt x="113372" y="651109"/>
                    </a:lnTo>
                    <a:lnTo>
                      <a:pt x="87770" y="631303"/>
                    </a:lnTo>
                    <a:lnTo>
                      <a:pt x="73555" y="603744"/>
                    </a:lnTo>
                    <a:lnTo>
                      <a:pt x="67439" y="574184"/>
                    </a:lnTo>
                    <a:lnTo>
                      <a:pt x="66132" y="548376"/>
                    </a:lnTo>
                    <a:lnTo>
                      <a:pt x="66132" y="70709"/>
                    </a:lnTo>
                    <a:lnTo>
                      <a:pt x="87537" y="63830"/>
                    </a:lnTo>
                    <a:lnTo>
                      <a:pt x="142219" y="48695"/>
                    </a:lnTo>
                    <a:lnTo>
                      <a:pt x="215879" y="33561"/>
                    </a:lnTo>
                    <a:lnTo>
                      <a:pt x="294218" y="26681"/>
                    </a:lnTo>
                    <a:lnTo>
                      <a:pt x="558230" y="26681"/>
                    </a:lnTo>
                    <a:lnTo>
                      <a:pt x="486886" y="16011"/>
                    </a:lnTo>
                    <a:lnTo>
                      <a:pt x="390510" y="5003"/>
                    </a:lnTo>
                    <a:lnTo>
                      <a:pt x="292867" y="0"/>
                    </a:lnTo>
                    <a:close/>
                  </a:path>
                  <a:path w="589915" h="691514">
                    <a:moveTo>
                      <a:pt x="284775" y="46698"/>
                    </a:moveTo>
                    <a:lnTo>
                      <a:pt x="261826" y="98726"/>
                    </a:lnTo>
                    <a:lnTo>
                      <a:pt x="251961" y="152016"/>
                    </a:lnTo>
                    <a:lnTo>
                      <a:pt x="246898" y="196759"/>
                    </a:lnTo>
                    <a:lnTo>
                      <a:pt x="242830" y="248167"/>
                    </a:lnTo>
                    <a:lnTo>
                      <a:pt x="241590" y="272180"/>
                    </a:lnTo>
                    <a:lnTo>
                      <a:pt x="236862" y="348067"/>
                    </a:lnTo>
                    <a:lnTo>
                      <a:pt x="228084" y="487002"/>
                    </a:lnTo>
                    <a:lnTo>
                      <a:pt x="228147" y="489107"/>
                    </a:lnTo>
                    <a:lnTo>
                      <a:pt x="228590" y="492838"/>
                    </a:lnTo>
                    <a:lnTo>
                      <a:pt x="229793" y="494315"/>
                    </a:lnTo>
                    <a:lnTo>
                      <a:pt x="232135" y="489661"/>
                    </a:lnTo>
                    <a:lnTo>
                      <a:pt x="236333" y="462103"/>
                    </a:lnTo>
                    <a:lnTo>
                      <a:pt x="243441" y="405274"/>
                    </a:lnTo>
                    <a:lnTo>
                      <a:pt x="251309" y="339936"/>
                    </a:lnTo>
                    <a:lnTo>
                      <a:pt x="257786" y="286856"/>
                    </a:lnTo>
                    <a:lnTo>
                      <a:pt x="259826" y="267637"/>
                    </a:lnTo>
                    <a:lnTo>
                      <a:pt x="262054" y="247705"/>
                    </a:lnTo>
                    <a:lnTo>
                      <a:pt x="264422" y="228695"/>
                    </a:lnTo>
                    <a:lnTo>
                      <a:pt x="267229" y="209470"/>
                    </a:lnTo>
                    <a:lnTo>
                      <a:pt x="272270" y="171698"/>
                    </a:lnTo>
                    <a:lnTo>
                      <a:pt x="277184" y="138428"/>
                    </a:lnTo>
                    <a:lnTo>
                      <a:pt x="281844" y="112661"/>
                    </a:lnTo>
                    <a:lnTo>
                      <a:pt x="286126" y="97402"/>
                    </a:lnTo>
                    <a:lnTo>
                      <a:pt x="311958" y="97402"/>
                    </a:lnTo>
                    <a:lnTo>
                      <a:pt x="308687" y="87227"/>
                    </a:lnTo>
                    <a:lnTo>
                      <a:pt x="299283" y="67046"/>
                    </a:lnTo>
                    <a:lnTo>
                      <a:pt x="290385" y="52369"/>
                    </a:lnTo>
                    <a:lnTo>
                      <a:pt x="284775" y="46698"/>
                    </a:lnTo>
                    <a:close/>
                  </a:path>
                </a:pathLst>
              </a:custGeom>
              <a:solidFill>
                <a:srgbClr val="000000"/>
              </a:solidFill>
            </p:spPr>
            <p:txBody>
              <a:bodyPr wrap="square" lIns="0" tIns="0" rIns="0" bIns="0" rtlCol="0"/>
              <a:lstStyle/>
              <a:p>
                <a:endParaRPr/>
              </a:p>
            </p:txBody>
          </p:sp>
          <p:grpSp>
            <p:nvGrpSpPr>
              <p:cNvPr id="28" name="object 3">
                <a:extLst>
                  <a:ext uri="{FF2B5EF4-FFF2-40B4-BE49-F238E27FC236}">
                    <a16:creationId xmlns:a16="http://schemas.microsoft.com/office/drawing/2014/main" id="{4CD78F21-0F08-9CE8-EDBF-6C70D9C35054}"/>
                  </a:ext>
                </a:extLst>
              </p:cNvPr>
              <p:cNvGrpSpPr/>
              <p:nvPr/>
            </p:nvGrpSpPr>
            <p:grpSpPr>
              <a:xfrm>
                <a:off x="2654129" y="5677571"/>
                <a:ext cx="257810" cy="194945"/>
                <a:chOff x="2654129" y="5677571"/>
                <a:chExt cx="257810" cy="194945"/>
              </a:xfrm>
            </p:grpSpPr>
            <p:sp>
              <p:nvSpPr>
                <p:cNvPr id="50" name="object 4">
                  <a:extLst>
                    <a:ext uri="{FF2B5EF4-FFF2-40B4-BE49-F238E27FC236}">
                      <a16:creationId xmlns:a16="http://schemas.microsoft.com/office/drawing/2014/main" id="{EF60B2D7-F10A-EEBD-C227-29FAE191046D}"/>
                    </a:ext>
                  </a:extLst>
                </p:cNvPr>
                <p:cNvSpPr/>
                <p:nvPr/>
              </p:nvSpPr>
              <p:spPr>
                <a:xfrm>
                  <a:off x="2654129" y="5677571"/>
                  <a:ext cx="114688" cy="194794"/>
                </a:xfrm>
                <a:prstGeom prst="rect">
                  <a:avLst/>
                </a:prstGeom>
                <a:blipFill>
                  <a:blip r:embed="rId2" cstate="print"/>
                  <a:stretch>
                    <a:fillRect/>
                  </a:stretch>
                </a:blipFill>
              </p:spPr>
              <p:txBody>
                <a:bodyPr wrap="square" lIns="0" tIns="0" rIns="0" bIns="0" rtlCol="0"/>
                <a:lstStyle/>
                <a:p>
                  <a:endParaRPr/>
                </a:p>
              </p:txBody>
            </p:sp>
            <p:sp>
              <p:nvSpPr>
                <p:cNvPr id="51" name="object 5">
                  <a:extLst>
                    <a:ext uri="{FF2B5EF4-FFF2-40B4-BE49-F238E27FC236}">
                      <a16:creationId xmlns:a16="http://schemas.microsoft.com/office/drawing/2014/main" id="{396E446E-1957-D5D3-5A35-8DAC7D2FDE9E}"/>
                    </a:ext>
                  </a:extLst>
                </p:cNvPr>
                <p:cNvSpPr/>
                <p:nvPr/>
              </p:nvSpPr>
              <p:spPr>
                <a:xfrm>
                  <a:off x="2797180" y="5729599"/>
                  <a:ext cx="114688" cy="142766"/>
                </a:xfrm>
                <a:prstGeom prst="rect">
                  <a:avLst/>
                </a:prstGeom>
                <a:blipFill>
                  <a:blip r:embed="rId3" cstate="print"/>
                  <a:stretch>
                    <a:fillRect/>
                  </a:stretch>
                </a:blipFill>
              </p:spPr>
              <p:txBody>
                <a:bodyPr wrap="square" lIns="0" tIns="0" rIns="0" bIns="0" rtlCol="0"/>
                <a:lstStyle/>
                <a:p>
                  <a:endParaRPr/>
                </a:p>
              </p:txBody>
            </p:sp>
          </p:grpSp>
          <p:grpSp>
            <p:nvGrpSpPr>
              <p:cNvPr id="29" name="object 6">
                <a:extLst>
                  <a:ext uri="{FF2B5EF4-FFF2-40B4-BE49-F238E27FC236}">
                    <a16:creationId xmlns:a16="http://schemas.microsoft.com/office/drawing/2014/main" id="{C7DFAA67-6FC5-B54F-D667-704BB42A56FE}"/>
                  </a:ext>
                </a:extLst>
              </p:cNvPr>
              <p:cNvGrpSpPr/>
              <p:nvPr/>
            </p:nvGrpSpPr>
            <p:grpSpPr>
              <a:xfrm>
                <a:off x="1276131" y="5935075"/>
                <a:ext cx="447040" cy="307340"/>
                <a:chOff x="1276131" y="5935075"/>
                <a:chExt cx="447040" cy="307340"/>
              </a:xfrm>
            </p:grpSpPr>
            <p:sp>
              <p:nvSpPr>
                <p:cNvPr id="47" name="object 7">
                  <a:extLst>
                    <a:ext uri="{FF2B5EF4-FFF2-40B4-BE49-F238E27FC236}">
                      <a16:creationId xmlns:a16="http://schemas.microsoft.com/office/drawing/2014/main" id="{B9D1B0F3-379D-84FB-D610-317360930CB2}"/>
                    </a:ext>
                  </a:extLst>
                </p:cNvPr>
                <p:cNvSpPr/>
                <p:nvPr/>
              </p:nvSpPr>
              <p:spPr>
                <a:xfrm>
                  <a:off x="1276131" y="5935075"/>
                  <a:ext cx="50165" cy="302895"/>
                </a:xfrm>
                <a:custGeom>
                  <a:avLst/>
                  <a:gdLst/>
                  <a:ahLst/>
                  <a:cxnLst/>
                  <a:rect l="l" t="t" r="r" b="b"/>
                  <a:pathLst>
                    <a:path w="50165" h="302895">
                      <a:moveTo>
                        <a:pt x="49938" y="0"/>
                      </a:moveTo>
                      <a:lnTo>
                        <a:pt x="0" y="0"/>
                      </a:lnTo>
                      <a:lnTo>
                        <a:pt x="0" y="302878"/>
                      </a:lnTo>
                      <a:lnTo>
                        <a:pt x="49938" y="302878"/>
                      </a:lnTo>
                      <a:lnTo>
                        <a:pt x="49938" y="0"/>
                      </a:lnTo>
                      <a:close/>
                    </a:path>
                  </a:pathLst>
                </a:custGeom>
                <a:solidFill>
                  <a:srgbClr val="000000"/>
                </a:solidFill>
              </p:spPr>
              <p:txBody>
                <a:bodyPr wrap="square" lIns="0" tIns="0" rIns="0" bIns="0" rtlCol="0"/>
                <a:lstStyle/>
                <a:p>
                  <a:endParaRPr/>
                </a:p>
              </p:txBody>
            </p:sp>
            <p:sp>
              <p:nvSpPr>
                <p:cNvPr id="48" name="object 8">
                  <a:extLst>
                    <a:ext uri="{FF2B5EF4-FFF2-40B4-BE49-F238E27FC236}">
                      <a16:creationId xmlns:a16="http://schemas.microsoft.com/office/drawing/2014/main" id="{B6778C1F-AEB6-193B-88E2-DD627A0BFDDB}"/>
                    </a:ext>
                  </a:extLst>
                </p:cNvPr>
                <p:cNvSpPr/>
                <p:nvPr/>
              </p:nvSpPr>
              <p:spPr>
                <a:xfrm>
                  <a:off x="1369255" y="6017801"/>
                  <a:ext cx="183558" cy="224157"/>
                </a:xfrm>
                <a:prstGeom prst="rect">
                  <a:avLst/>
                </a:prstGeom>
                <a:blipFill>
                  <a:blip r:embed="rId4" cstate="print"/>
                  <a:stretch>
                    <a:fillRect/>
                  </a:stretch>
                </a:blipFill>
              </p:spPr>
              <p:txBody>
                <a:bodyPr wrap="square" lIns="0" tIns="0" rIns="0" bIns="0" rtlCol="0"/>
                <a:lstStyle/>
                <a:p>
                  <a:endParaRPr/>
                </a:p>
              </p:txBody>
            </p:sp>
            <p:sp>
              <p:nvSpPr>
                <p:cNvPr id="49" name="object 9">
                  <a:extLst>
                    <a:ext uri="{FF2B5EF4-FFF2-40B4-BE49-F238E27FC236}">
                      <a16:creationId xmlns:a16="http://schemas.microsoft.com/office/drawing/2014/main" id="{3C5FDEF6-7AD6-D3B3-F6D9-5772C41C9E9B}"/>
                    </a:ext>
                  </a:extLst>
                </p:cNvPr>
                <p:cNvSpPr/>
                <p:nvPr/>
              </p:nvSpPr>
              <p:spPr>
                <a:xfrm>
                  <a:off x="1583855" y="6020117"/>
                  <a:ext cx="139033" cy="220840"/>
                </a:xfrm>
                <a:prstGeom prst="rect">
                  <a:avLst/>
                </a:prstGeom>
                <a:blipFill>
                  <a:blip r:embed="rId5" cstate="print"/>
                  <a:stretch>
                    <a:fillRect/>
                  </a:stretch>
                </a:blipFill>
              </p:spPr>
              <p:txBody>
                <a:bodyPr wrap="square" lIns="0" tIns="0" rIns="0" bIns="0" rtlCol="0"/>
                <a:lstStyle/>
                <a:p>
                  <a:endParaRPr/>
                </a:p>
              </p:txBody>
            </p:sp>
          </p:grpSp>
          <p:grpSp>
            <p:nvGrpSpPr>
              <p:cNvPr id="30" name="object 10">
                <a:extLst>
                  <a:ext uri="{FF2B5EF4-FFF2-40B4-BE49-F238E27FC236}">
                    <a16:creationId xmlns:a16="http://schemas.microsoft.com/office/drawing/2014/main" id="{CAFB7436-0799-C189-B7D0-4D440CA1EC1A}"/>
                  </a:ext>
                </a:extLst>
              </p:cNvPr>
              <p:cNvGrpSpPr/>
              <p:nvPr/>
            </p:nvGrpSpPr>
            <p:grpSpPr>
              <a:xfrm>
                <a:off x="1834876" y="5937745"/>
                <a:ext cx="456565" cy="300355"/>
                <a:chOff x="1834876" y="5937745"/>
                <a:chExt cx="456565" cy="300355"/>
              </a:xfrm>
            </p:grpSpPr>
            <p:sp>
              <p:nvSpPr>
                <p:cNvPr id="45" name="object 11">
                  <a:extLst>
                    <a:ext uri="{FF2B5EF4-FFF2-40B4-BE49-F238E27FC236}">
                      <a16:creationId xmlns:a16="http://schemas.microsoft.com/office/drawing/2014/main" id="{3E189E93-8C7B-CC89-E03B-EC3E4B185304}"/>
                    </a:ext>
                  </a:extLst>
                </p:cNvPr>
                <p:cNvSpPr/>
                <p:nvPr/>
              </p:nvSpPr>
              <p:spPr>
                <a:xfrm>
                  <a:off x="1834876" y="5937745"/>
                  <a:ext cx="252729" cy="300355"/>
                </a:xfrm>
                <a:custGeom>
                  <a:avLst/>
                  <a:gdLst/>
                  <a:ahLst/>
                  <a:cxnLst/>
                  <a:rect l="l" t="t" r="r" b="b"/>
                  <a:pathLst>
                    <a:path w="252730" h="300354">
                      <a:moveTo>
                        <a:pt x="152505" y="0"/>
                      </a:moveTo>
                      <a:lnTo>
                        <a:pt x="99832" y="0"/>
                      </a:lnTo>
                      <a:lnTo>
                        <a:pt x="0" y="300208"/>
                      </a:lnTo>
                      <a:lnTo>
                        <a:pt x="49972" y="300208"/>
                      </a:lnTo>
                      <a:lnTo>
                        <a:pt x="74283" y="222822"/>
                      </a:lnTo>
                      <a:lnTo>
                        <a:pt x="226603" y="222822"/>
                      </a:lnTo>
                      <a:lnTo>
                        <a:pt x="215954" y="190799"/>
                      </a:lnTo>
                      <a:lnTo>
                        <a:pt x="82386" y="190799"/>
                      </a:lnTo>
                      <a:lnTo>
                        <a:pt x="116039" y="85397"/>
                      </a:lnTo>
                      <a:lnTo>
                        <a:pt x="118824" y="74137"/>
                      </a:lnTo>
                      <a:lnTo>
                        <a:pt x="121104" y="64378"/>
                      </a:lnTo>
                      <a:lnTo>
                        <a:pt x="122876" y="56121"/>
                      </a:lnTo>
                      <a:lnTo>
                        <a:pt x="124142" y="49368"/>
                      </a:lnTo>
                      <a:lnTo>
                        <a:pt x="168922" y="49368"/>
                      </a:lnTo>
                      <a:lnTo>
                        <a:pt x="152505" y="0"/>
                      </a:lnTo>
                      <a:close/>
                    </a:path>
                    <a:path w="252730" h="300354">
                      <a:moveTo>
                        <a:pt x="226603" y="222822"/>
                      </a:moveTo>
                      <a:lnTo>
                        <a:pt x="171413" y="222822"/>
                      </a:lnTo>
                      <a:lnTo>
                        <a:pt x="194374" y="300208"/>
                      </a:lnTo>
                      <a:lnTo>
                        <a:pt x="252337" y="300208"/>
                      </a:lnTo>
                      <a:lnTo>
                        <a:pt x="226603" y="222822"/>
                      </a:lnTo>
                      <a:close/>
                    </a:path>
                    <a:path w="252730" h="300354">
                      <a:moveTo>
                        <a:pt x="168922" y="49368"/>
                      </a:moveTo>
                      <a:lnTo>
                        <a:pt x="125493" y="49368"/>
                      </a:lnTo>
                      <a:lnTo>
                        <a:pt x="126759" y="56872"/>
                      </a:lnTo>
                      <a:lnTo>
                        <a:pt x="128532" y="65380"/>
                      </a:lnTo>
                      <a:lnTo>
                        <a:pt x="130811" y="74888"/>
                      </a:lnTo>
                      <a:lnTo>
                        <a:pt x="133597" y="85397"/>
                      </a:lnTo>
                      <a:lnTo>
                        <a:pt x="164660" y="190799"/>
                      </a:lnTo>
                      <a:lnTo>
                        <a:pt x="215954" y="190799"/>
                      </a:lnTo>
                      <a:lnTo>
                        <a:pt x="168922" y="49368"/>
                      </a:lnTo>
                      <a:close/>
                    </a:path>
                  </a:pathLst>
                </a:custGeom>
                <a:solidFill>
                  <a:srgbClr val="000000"/>
                </a:solidFill>
              </p:spPr>
              <p:txBody>
                <a:bodyPr wrap="square" lIns="0" tIns="0" rIns="0" bIns="0" rtlCol="0"/>
                <a:lstStyle/>
                <a:p>
                  <a:endParaRPr/>
                </a:p>
              </p:txBody>
            </p:sp>
            <p:sp>
              <p:nvSpPr>
                <p:cNvPr id="46" name="object 12">
                  <a:extLst>
                    <a:ext uri="{FF2B5EF4-FFF2-40B4-BE49-F238E27FC236}">
                      <a16:creationId xmlns:a16="http://schemas.microsoft.com/office/drawing/2014/main" id="{1A5CB017-4A27-144C-BA45-4AF331690C7C}"/>
                    </a:ext>
                  </a:extLst>
                </p:cNvPr>
                <p:cNvSpPr/>
                <p:nvPr/>
              </p:nvSpPr>
              <p:spPr>
                <a:xfrm>
                  <a:off x="2119628" y="6017801"/>
                  <a:ext cx="171414" cy="220151"/>
                </a:xfrm>
                <a:prstGeom prst="rect">
                  <a:avLst/>
                </a:prstGeom>
                <a:blipFill>
                  <a:blip r:embed="rId6" cstate="print"/>
                  <a:stretch>
                    <a:fillRect/>
                  </a:stretch>
                </a:blipFill>
              </p:spPr>
              <p:txBody>
                <a:bodyPr wrap="square" lIns="0" tIns="0" rIns="0" bIns="0" rtlCol="0"/>
                <a:lstStyle/>
                <a:p>
                  <a:endParaRPr/>
                </a:p>
              </p:txBody>
            </p:sp>
          </p:grpSp>
          <p:grpSp>
            <p:nvGrpSpPr>
              <p:cNvPr id="31" name="object 13">
                <a:extLst>
                  <a:ext uri="{FF2B5EF4-FFF2-40B4-BE49-F238E27FC236}">
                    <a16:creationId xmlns:a16="http://schemas.microsoft.com/office/drawing/2014/main" id="{28C9F4FD-1B07-7A05-FCC0-383A44481828}"/>
                  </a:ext>
                </a:extLst>
              </p:cNvPr>
              <p:cNvGrpSpPr/>
              <p:nvPr/>
            </p:nvGrpSpPr>
            <p:grpSpPr>
              <a:xfrm>
                <a:off x="2335612" y="5937745"/>
                <a:ext cx="574040" cy="306070"/>
                <a:chOff x="2335612" y="5937745"/>
                <a:chExt cx="574040" cy="306070"/>
              </a:xfrm>
            </p:grpSpPr>
            <p:sp>
              <p:nvSpPr>
                <p:cNvPr id="42" name="object 14">
                  <a:extLst>
                    <a:ext uri="{FF2B5EF4-FFF2-40B4-BE49-F238E27FC236}">
                      <a16:creationId xmlns:a16="http://schemas.microsoft.com/office/drawing/2014/main" id="{835506EC-9BCF-87C9-7260-F52C69EE2001}"/>
                    </a:ext>
                  </a:extLst>
                </p:cNvPr>
                <p:cNvSpPr/>
                <p:nvPr/>
              </p:nvSpPr>
              <p:spPr>
                <a:xfrm>
                  <a:off x="2335612" y="5937745"/>
                  <a:ext cx="179705" cy="306070"/>
                </a:xfrm>
                <a:custGeom>
                  <a:avLst/>
                  <a:gdLst/>
                  <a:ahLst/>
                  <a:cxnLst/>
                  <a:rect l="l" t="t" r="r" b="b"/>
                  <a:pathLst>
                    <a:path w="179705" h="306070">
                      <a:moveTo>
                        <a:pt x="95780" y="84061"/>
                      </a:moveTo>
                      <a:lnTo>
                        <a:pt x="57344" y="91231"/>
                      </a:lnTo>
                      <a:lnTo>
                        <a:pt x="15384" y="129905"/>
                      </a:lnTo>
                      <a:lnTo>
                        <a:pt x="1751" y="171393"/>
                      </a:lnTo>
                      <a:lnTo>
                        <a:pt x="0" y="196140"/>
                      </a:lnTo>
                      <a:lnTo>
                        <a:pt x="1751" y="220090"/>
                      </a:lnTo>
                      <a:lnTo>
                        <a:pt x="15384" y="260491"/>
                      </a:lnTo>
                      <a:lnTo>
                        <a:pt x="42230" y="289218"/>
                      </a:lnTo>
                      <a:lnTo>
                        <a:pt x="79717" y="303775"/>
                      </a:lnTo>
                      <a:lnTo>
                        <a:pt x="102533" y="305548"/>
                      </a:lnTo>
                      <a:lnTo>
                        <a:pt x="125577" y="304547"/>
                      </a:lnTo>
                      <a:lnTo>
                        <a:pt x="146090" y="301544"/>
                      </a:lnTo>
                      <a:lnTo>
                        <a:pt x="164070" y="296541"/>
                      </a:lnTo>
                      <a:lnTo>
                        <a:pt x="179517" y="289537"/>
                      </a:lnTo>
                      <a:lnTo>
                        <a:pt x="178167" y="289537"/>
                      </a:lnTo>
                      <a:lnTo>
                        <a:pt x="178167" y="274861"/>
                      </a:lnTo>
                      <a:lnTo>
                        <a:pt x="103883" y="274861"/>
                      </a:lnTo>
                      <a:lnTo>
                        <a:pt x="63253" y="254177"/>
                      </a:lnTo>
                      <a:lnTo>
                        <a:pt x="49972" y="193470"/>
                      </a:lnTo>
                      <a:lnTo>
                        <a:pt x="53711" y="157463"/>
                      </a:lnTo>
                      <a:lnTo>
                        <a:pt x="64772" y="131590"/>
                      </a:lnTo>
                      <a:lnTo>
                        <a:pt x="82924" y="115976"/>
                      </a:lnTo>
                      <a:lnTo>
                        <a:pt x="107935" y="110743"/>
                      </a:lnTo>
                      <a:lnTo>
                        <a:pt x="178167" y="110743"/>
                      </a:lnTo>
                      <a:lnTo>
                        <a:pt x="178167" y="88056"/>
                      </a:lnTo>
                      <a:lnTo>
                        <a:pt x="128194" y="88056"/>
                      </a:lnTo>
                      <a:lnTo>
                        <a:pt x="121420" y="86310"/>
                      </a:lnTo>
                      <a:lnTo>
                        <a:pt x="113506" y="85061"/>
                      </a:lnTo>
                      <a:lnTo>
                        <a:pt x="104833" y="84312"/>
                      </a:lnTo>
                      <a:lnTo>
                        <a:pt x="95780" y="84061"/>
                      </a:lnTo>
                      <a:close/>
                    </a:path>
                    <a:path w="179705" h="306070">
                      <a:moveTo>
                        <a:pt x="178167" y="110743"/>
                      </a:moveTo>
                      <a:lnTo>
                        <a:pt x="116039" y="110743"/>
                      </a:lnTo>
                      <a:lnTo>
                        <a:pt x="129545" y="113413"/>
                      </a:lnTo>
                      <a:lnTo>
                        <a:pt x="129545" y="268185"/>
                      </a:lnTo>
                      <a:lnTo>
                        <a:pt x="124965" y="270730"/>
                      </a:lnTo>
                      <a:lnTo>
                        <a:pt x="119246" y="272525"/>
                      </a:lnTo>
                      <a:lnTo>
                        <a:pt x="112261" y="273818"/>
                      </a:lnTo>
                      <a:lnTo>
                        <a:pt x="103883" y="274861"/>
                      </a:lnTo>
                      <a:lnTo>
                        <a:pt x="178167" y="274861"/>
                      </a:lnTo>
                      <a:lnTo>
                        <a:pt x="178167" y="110743"/>
                      </a:lnTo>
                      <a:close/>
                    </a:path>
                    <a:path w="179705" h="306070">
                      <a:moveTo>
                        <a:pt x="178166" y="0"/>
                      </a:moveTo>
                      <a:lnTo>
                        <a:pt x="128194" y="0"/>
                      </a:lnTo>
                      <a:lnTo>
                        <a:pt x="128194" y="88056"/>
                      </a:lnTo>
                      <a:lnTo>
                        <a:pt x="178167" y="88056"/>
                      </a:lnTo>
                      <a:lnTo>
                        <a:pt x="178166" y="0"/>
                      </a:lnTo>
                      <a:close/>
                    </a:path>
                  </a:pathLst>
                </a:custGeom>
                <a:solidFill>
                  <a:srgbClr val="000000"/>
                </a:solidFill>
              </p:spPr>
              <p:txBody>
                <a:bodyPr wrap="square" lIns="0" tIns="0" rIns="0" bIns="0" rtlCol="0"/>
                <a:lstStyle/>
                <a:p>
                  <a:endParaRPr/>
                </a:p>
              </p:txBody>
            </p:sp>
            <p:sp>
              <p:nvSpPr>
                <p:cNvPr id="43" name="object 15">
                  <a:extLst>
                    <a:ext uri="{FF2B5EF4-FFF2-40B4-BE49-F238E27FC236}">
                      <a16:creationId xmlns:a16="http://schemas.microsoft.com/office/drawing/2014/main" id="{1CCE0864-D17A-6880-C44D-C819E5EA14A7}"/>
                    </a:ext>
                  </a:extLst>
                </p:cNvPr>
                <p:cNvSpPr/>
                <p:nvPr/>
              </p:nvSpPr>
              <p:spPr>
                <a:xfrm>
                  <a:off x="2558326" y="6015131"/>
                  <a:ext cx="180778" cy="225492"/>
                </a:xfrm>
                <a:prstGeom prst="rect">
                  <a:avLst/>
                </a:prstGeom>
                <a:blipFill>
                  <a:blip r:embed="rId7" cstate="print"/>
                  <a:stretch>
                    <a:fillRect/>
                  </a:stretch>
                </a:blipFill>
              </p:spPr>
              <p:txBody>
                <a:bodyPr wrap="square" lIns="0" tIns="0" rIns="0" bIns="0" rtlCol="0"/>
                <a:lstStyle/>
                <a:p>
                  <a:endParaRPr/>
                </a:p>
              </p:txBody>
            </p:sp>
            <p:sp>
              <p:nvSpPr>
                <p:cNvPr id="44" name="object 16">
                  <a:extLst>
                    <a:ext uri="{FF2B5EF4-FFF2-40B4-BE49-F238E27FC236}">
                      <a16:creationId xmlns:a16="http://schemas.microsoft.com/office/drawing/2014/main" id="{10552135-C817-3CDE-938C-B7B65892D62E}"/>
                    </a:ext>
                  </a:extLst>
                </p:cNvPr>
                <p:cNvSpPr/>
                <p:nvPr/>
              </p:nvSpPr>
              <p:spPr>
                <a:xfrm>
                  <a:off x="2770168" y="6020117"/>
                  <a:ext cx="138999" cy="220840"/>
                </a:xfrm>
                <a:prstGeom prst="rect">
                  <a:avLst/>
                </a:prstGeom>
                <a:blipFill>
                  <a:blip r:embed="rId8" cstate="print"/>
                  <a:stretch>
                    <a:fillRect/>
                  </a:stretch>
                </a:blipFill>
              </p:spPr>
              <p:txBody>
                <a:bodyPr wrap="square" lIns="0" tIns="0" rIns="0" bIns="0" rtlCol="0"/>
                <a:lstStyle/>
                <a:p>
                  <a:endParaRPr/>
                </a:p>
              </p:txBody>
            </p:sp>
          </p:grpSp>
          <p:grpSp>
            <p:nvGrpSpPr>
              <p:cNvPr id="32" name="object 17">
                <a:extLst>
                  <a:ext uri="{FF2B5EF4-FFF2-40B4-BE49-F238E27FC236}">
                    <a16:creationId xmlns:a16="http://schemas.microsoft.com/office/drawing/2014/main" id="{2868DFE8-C161-4EEE-1B47-2CEC277ABAED}"/>
                  </a:ext>
                </a:extLst>
              </p:cNvPr>
              <p:cNvGrpSpPr/>
              <p:nvPr/>
            </p:nvGrpSpPr>
            <p:grpSpPr>
              <a:xfrm>
                <a:off x="1274781" y="5678906"/>
                <a:ext cx="1281430" cy="194945"/>
                <a:chOff x="1274781" y="5678906"/>
                <a:chExt cx="1281430" cy="194945"/>
              </a:xfrm>
            </p:grpSpPr>
            <p:sp>
              <p:nvSpPr>
                <p:cNvPr id="33" name="object 18">
                  <a:extLst>
                    <a:ext uri="{FF2B5EF4-FFF2-40B4-BE49-F238E27FC236}">
                      <a16:creationId xmlns:a16="http://schemas.microsoft.com/office/drawing/2014/main" id="{85C4DE68-8577-3516-007A-2B1E6A3DB0B0}"/>
                    </a:ext>
                  </a:extLst>
                </p:cNvPr>
                <p:cNvSpPr/>
                <p:nvPr/>
              </p:nvSpPr>
              <p:spPr>
                <a:xfrm>
                  <a:off x="1427286" y="5729599"/>
                  <a:ext cx="109331" cy="141430"/>
                </a:xfrm>
                <a:prstGeom prst="rect">
                  <a:avLst/>
                </a:prstGeom>
                <a:blipFill>
                  <a:blip r:embed="rId9" cstate="print"/>
                  <a:stretch>
                    <a:fillRect/>
                  </a:stretch>
                </a:blipFill>
              </p:spPr>
              <p:txBody>
                <a:bodyPr wrap="square" lIns="0" tIns="0" rIns="0" bIns="0" rtlCol="0"/>
                <a:lstStyle/>
                <a:p>
                  <a:endParaRPr/>
                </a:p>
              </p:txBody>
            </p:sp>
            <p:sp>
              <p:nvSpPr>
                <p:cNvPr id="34" name="object 19">
                  <a:extLst>
                    <a:ext uri="{FF2B5EF4-FFF2-40B4-BE49-F238E27FC236}">
                      <a16:creationId xmlns:a16="http://schemas.microsoft.com/office/drawing/2014/main" id="{6C01F258-DC77-1B0B-AA0A-78C2E20356EA}"/>
                    </a:ext>
                  </a:extLst>
                </p:cNvPr>
                <p:cNvSpPr/>
                <p:nvPr/>
              </p:nvSpPr>
              <p:spPr>
                <a:xfrm>
                  <a:off x="1569010" y="5678906"/>
                  <a:ext cx="35560" cy="192405"/>
                </a:xfrm>
                <a:custGeom>
                  <a:avLst/>
                  <a:gdLst/>
                  <a:ahLst/>
                  <a:cxnLst/>
                  <a:rect l="l" t="t" r="r" b="b"/>
                  <a:pathLst>
                    <a:path w="35559" h="192404">
                      <a:moveTo>
                        <a:pt x="33731" y="53363"/>
                      </a:moveTo>
                      <a:lnTo>
                        <a:pt x="2689" y="53363"/>
                      </a:lnTo>
                      <a:lnTo>
                        <a:pt x="2689" y="192123"/>
                      </a:lnTo>
                      <a:lnTo>
                        <a:pt x="33731" y="192123"/>
                      </a:lnTo>
                      <a:lnTo>
                        <a:pt x="33731" y="53363"/>
                      </a:lnTo>
                      <a:close/>
                    </a:path>
                    <a:path w="35559" h="192404">
                      <a:moveTo>
                        <a:pt x="22937" y="0"/>
                      </a:moveTo>
                      <a:lnTo>
                        <a:pt x="13494" y="0"/>
                      </a:lnTo>
                      <a:lnTo>
                        <a:pt x="9442" y="1335"/>
                      </a:lnTo>
                      <a:lnTo>
                        <a:pt x="1339" y="6664"/>
                      </a:lnTo>
                      <a:lnTo>
                        <a:pt x="0" y="10670"/>
                      </a:lnTo>
                      <a:lnTo>
                        <a:pt x="0" y="18670"/>
                      </a:lnTo>
                      <a:lnTo>
                        <a:pt x="2689" y="22676"/>
                      </a:lnTo>
                      <a:lnTo>
                        <a:pt x="8092" y="28016"/>
                      </a:lnTo>
                      <a:lnTo>
                        <a:pt x="12144" y="29352"/>
                      </a:lnTo>
                      <a:lnTo>
                        <a:pt x="21587" y="29352"/>
                      </a:lnTo>
                      <a:lnTo>
                        <a:pt x="26989" y="28016"/>
                      </a:lnTo>
                      <a:lnTo>
                        <a:pt x="29690" y="25346"/>
                      </a:lnTo>
                      <a:lnTo>
                        <a:pt x="33731" y="22676"/>
                      </a:lnTo>
                      <a:lnTo>
                        <a:pt x="35081" y="18670"/>
                      </a:lnTo>
                      <a:lnTo>
                        <a:pt x="35081" y="10670"/>
                      </a:lnTo>
                      <a:lnTo>
                        <a:pt x="33731" y="6664"/>
                      </a:lnTo>
                      <a:lnTo>
                        <a:pt x="29690" y="3994"/>
                      </a:lnTo>
                      <a:lnTo>
                        <a:pt x="26989" y="1335"/>
                      </a:lnTo>
                      <a:lnTo>
                        <a:pt x="22937" y="0"/>
                      </a:lnTo>
                      <a:close/>
                    </a:path>
                  </a:pathLst>
                </a:custGeom>
                <a:solidFill>
                  <a:srgbClr val="000000"/>
                </a:solidFill>
              </p:spPr>
              <p:txBody>
                <a:bodyPr wrap="square" lIns="0" tIns="0" rIns="0" bIns="0" rtlCol="0"/>
                <a:lstStyle/>
                <a:p>
                  <a:endParaRPr/>
                </a:p>
              </p:txBody>
            </p:sp>
            <p:sp>
              <p:nvSpPr>
                <p:cNvPr id="35" name="object 20">
                  <a:extLst>
                    <a:ext uri="{FF2B5EF4-FFF2-40B4-BE49-F238E27FC236}">
                      <a16:creationId xmlns:a16="http://schemas.microsoft.com/office/drawing/2014/main" id="{D53F3CFF-0C1C-537F-D6E0-A43705A785A8}"/>
                    </a:ext>
                  </a:extLst>
                </p:cNvPr>
                <p:cNvSpPr/>
                <p:nvPr/>
              </p:nvSpPr>
              <p:spPr>
                <a:xfrm>
                  <a:off x="1625690" y="5729599"/>
                  <a:ext cx="252405" cy="142766"/>
                </a:xfrm>
                <a:prstGeom prst="rect">
                  <a:avLst/>
                </a:prstGeom>
                <a:blipFill>
                  <a:blip r:embed="rId10" cstate="print"/>
                  <a:stretch>
                    <a:fillRect/>
                  </a:stretch>
                </a:blipFill>
              </p:spPr>
              <p:txBody>
                <a:bodyPr wrap="square" lIns="0" tIns="0" rIns="0" bIns="0" rtlCol="0"/>
                <a:lstStyle/>
                <a:p>
                  <a:endParaRPr/>
                </a:p>
              </p:txBody>
            </p:sp>
            <p:sp>
              <p:nvSpPr>
                <p:cNvPr id="36" name="object 21">
                  <a:extLst>
                    <a:ext uri="{FF2B5EF4-FFF2-40B4-BE49-F238E27FC236}">
                      <a16:creationId xmlns:a16="http://schemas.microsoft.com/office/drawing/2014/main" id="{0CA1A93D-69B9-2861-E684-154264BE270A}"/>
                    </a:ext>
                  </a:extLst>
                </p:cNvPr>
                <p:cNvSpPr/>
                <p:nvPr/>
              </p:nvSpPr>
              <p:spPr>
                <a:xfrm>
                  <a:off x="1907808" y="5729599"/>
                  <a:ext cx="167362" cy="142766"/>
                </a:xfrm>
                <a:prstGeom prst="rect">
                  <a:avLst/>
                </a:prstGeom>
                <a:blipFill>
                  <a:blip r:embed="rId11" cstate="print"/>
                  <a:stretch>
                    <a:fillRect/>
                  </a:stretch>
                </a:blipFill>
              </p:spPr>
              <p:txBody>
                <a:bodyPr wrap="square" lIns="0" tIns="0" rIns="0" bIns="0" rtlCol="0"/>
                <a:lstStyle/>
                <a:p>
                  <a:endParaRPr/>
                </a:p>
              </p:txBody>
            </p:sp>
            <p:sp>
              <p:nvSpPr>
                <p:cNvPr id="37" name="object 22">
                  <a:extLst>
                    <a:ext uri="{FF2B5EF4-FFF2-40B4-BE49-F238E27FC236}">
                      <a16:creationId xmlns:a16="http://schemas.microsoft.com/office/drawing/2014/main" id="{F8A0C599-9952-E0CC-E92D-53548992015A}"/>
                    </a:ext>
                  </a:extLst>
                </p:cNvPr>
                <p:cNvSpPr/>
                <p:nvPr/>
              </p:nvSpPr>
              <p:spPr>
                <a:xfrm>
                  <a:off x="2102070" y="5678906"/>
                  <a:ext cx="35560" cy="192405"/>
                </a:xfrm>
                <a:custGeom>
                  <a:avLst/>
                  <a:gdLst/>
                  <a:ahLst/>
                  <a:cxnLst/>
                  <a:rect l="l" t="t" r="r" b="b"/>
                  <a:pathLst>
                    <a:path w="35560" h="192404">
                      <a:moveTo>
                        <a:pt x="32414" y="53363"/>
                      </a:moveTo>
                      <a:lnTo>
                        <a:pt x="1350" y="53363"/>
                      </a:lnTo>
                      <a:lnTo>
                        <a:pt x="1350" y="192123"/>
                      </a:lnTo>
                      <a:lnTo>
                        <a:pt x="32414" y="192123"/>
                      </a:lnTo>
                      <a:lnTo>
                        <a:pt x="32414" y="53363"/>
                      </a:lnTo>
                      <a:close/>
                    </a:path>
                    <a:path w="35560" h="192404">
                      <a:moveTo>
                        <a:pt x="22960" y="0"/>
                      </a:moveTo>
                      <a:lnTo>
                        <a:pt x="13506" y="0"/>
                      </a:lnTo>
                      <a:lnTo>
                        <a:pt x="8103" y="1335"/>
                      </a:lnTo>
                      <a:lnTo>
                        <a:pt x="5402" y="3994"/>
                      </a:lnTo>
                      <a:lnTo>
                        <a:pt x="1350" y="6664"/>
                      </a:lnTo>
                      <a:lnTo>
                        <a:pt x="0" y="10670"/>
                      </a:lnTo>
                      <a:lnTo>
                        <a:pt x="0" y="18670"/>
                      </a:lnTo>
                      <a:lnTo>
                        <a:pt x="2701" y="22676"/>
                      </a:lnTo>
                      <a:lnTo>
                        <a:pt x="8103" y="28016"/>
                      </a:lnTo>
                      <a:lnTo>
                        <a:pt x="12155" y="29352"/>
                      </a:lnTo>
                      <a:lnTo>
                        <a:pt x="21609" y="29352"/>
                      </a:lnTo>
                      <a:lnTo>
                        <a:pt x="27012" y="28016"/>
                      </a:lnTo>
                      <a:lnTo>
                        <a:pt x="29713" y="25346"/>
                      </a:lnTo>
                      <a:lnTo>
                        <a:pt x="33765" y="22676"/>
                      </a:lnTo>
                      <a:lnTo>
                        <a:pt x="35115" y="18670"/>
                      </a:lnTo>
                      <a:lnTo>
                        <a:pt x="35115" y="10670"/>
                      </a:lnTo>
                      <a:lnTo>
                        <a:pt x="32414" y="6664"/>
                      </a:lnTo>
                      <a:lnTo>
                        <a:pt x="27012" y="1335"/>
                      </a:lnTo>
                      <a:lnTo>
                        <a:pt x="22960" y="0"/>
                      </a:lnTo>
                      <a:close/>
                    </a:path>
                  </a:pathLst>
                </a:custGeom>
                <a:solidFill>
                  <a:srgbClr val="000000"/>
                </a:solidFill>
              </p:spPr>
              <p:txBody>
                <a:bodyPr wrap="square" lIns="0" tIns="0" rIns="0" bIns="0" rtlCol="0"/>
                <a:lstStyle/>
                <a:p>
                  <a:endParaRPr/>
                </a:p>
              </p:txBody>
            </p:sp>
            <p:sp>
              <p:nvSpPr>
                <p:cNvPr id="38" name="object 23">
                  <a:extLst>
                    <a:ext uri="{FF2B5EF4-FFF2-40B4-BE49-F238E27FC236}">
                      <a16:creationId xmlns:a16="http://schemas.microsoft.com/office/drawing/2014/main" id="{C6D82809-9E74-60D3-9C91-2E48AD9E87D1}"/>
                    </a:ext>
                  </a:extLst>
                </p:cNvPr>
                <p:cNvSpPr/>
                <p:nvPr/>
              </p:nvSpPr>
              <p:spPr>
                <a:xfrm>
                  <a:off x="2165548" y="5678906"/>
                  <a:ext cx="114688" cy="194794"/>
                </a:xfrm>
                <a:prstGeom prst="rect">
                  <a:avLst/>
                </a:prstGeom>
                <a:blipFill>
                  <a:blip r:embed="rId12" cstate="print"/>
                  <a:stretch>
                    <a:fillRect/>
                  </a:stretch>
                </a:blipFill>
              </p:spPr>
              <p:txBody>
                <a:bodyPr wrap="square" lIns="0" tIns="0" rIns="0" bIns="0" rtlCol="0"/>
                <a:lstStyle/>
                <a:p>
                  <a:endParaRPr/>
                </a:p>
              </p:txBody>
            </p:sp>
            <p:sp>
              <p:nvSpPr>
                <p:cNvPr id="39" name="object 24">
                  <a:extLst>
                    <a:ext uri="{FF2B5EF4-FFF2-40B4-BE49-F238E27FC236}">
                      <a16:creationId xmlns:a16="http://schemas.microsoft.com/office/drawing/2014/main" id="{0C6F4F8E-2FF9-71F9-B8C5-BE71A1A1440C}"/>
                    </a:ext>
                  </a:extLst>
                </p:cNvPr>
                <p:cNvSpPr/>
                <p:nvPr/>
              </p:nvSpPr>
              <p:spPr>
                <a:xfrm>
                  <a:off x="2305898" y="5729599"/>
                  <a:ext cx="106585" cy="142766"/>
                </a:xfrm>
                <a:prstGeom prst="rect">
                  <a:avLst/>
                </a:prstGeom>
                <a:blipFill>
                  <a:blip r:embed="rId13" cstate="print"/>
                  <a:stretch>
                    <a:fillRect/>
                  </a:stretch>
                </a:blipFill>
              </p:spPr>
              <p:txBody>
                <a:bodyPr wrap="square" lIns="0" tIns="0" rIns="0" bIns="0" rtlCol="0"/>
                <a:lstStyle/>
                <a:p>
                  <a:endParaRPr/>
                </a:p>
              </p:txBody>
            </p:sp>
            <p:sp>
              <p:nvSpPr>
                <p:cNvPr id="40" name="object 25">
                  <a:extLst>
                    <a:ext uri="{FF2B5EF4-FFF2-40B4-BE49-F238E27FC236}">
                      <a16:creationId xmlns:a16="http://schemas.microsoft.com/office/drawing/2014/main" id="{89FE3153-24A9-7FAB-A139-C9B56025D974}"/>
                    </a:ext>
                  </a:extLst>
                </p:cNvPr>
                <p:cNvSpPr/>
                <p:nvPr/>
              </p:nvSpPr>
              <p:spPr>
                <a:xfrm>
                  <a:off x="2440846" y="5678906"/>
                  <a:ext cx="114801" cy="194794"/>
                </a:xfrm>
                <a:prstGeom prst="rect">
                  <a:avLst/>
                </a:prstGeom>
                <a:blipFill>
                  <a:blip r:embed="rId14" cstate="print"/>
                  <a:stretch>
                    <a:fillRect/>
                  </a:stretch>
                </a:blipFill>
              </p:spPr>
              <p:txBody>
                <a:bodyPr wrap="square" lIns="0" tIns="0" rIns="0" bIns="0" rtlCol="0"/>
                <a:lstStyle/>
                <a:p>
                  <a:endParaRPr/>
                </a:p>
              </p:txBody>
            </p:sp>
            <p:sp>
              <p:nvSpPr>
                <p:cNvPr id="41" name="object 26">
                  <a:extLst>
                    <a:ext uri="{FF2B5EF4-FFF2-40B4-BE49-F238E27FC236}">
                      <a16:creationId xmlns:a16="http://schemas.microsoft.com/office/drawing/2014/main" id="{AF12874D-01CE-4E16-0258-47E0B1DCB3D9}"/>
                    </a:ext>
                  </a:extLst>
                </p:cNvPr>
                <p:cNvSpPr/>
                <p:nvPr/>
              </p:nvSpPr>
              <p:spPr>
                <a:xfrm>
                  <a:off x="1274781" y="5678906"/>
                  <a:ext cx="117423" cy="193459"/>
                </a:xfrm>
                <a:prstGeom prst="rect">
                  <a:avLst/>
                </a:prstGeom>
                <a:blipFill>
                  <a:blip r:embed="rId15" cstate="print"/>
                  <a:stretch>
                    <a:fillRect/>
                  </a:stretch>
                </a:blipFill>
              </p:spPr>
              <p:txBody>
                <a:bodyPr wrap="square" lIns="0" tIns="0" rIns="0" bIns="0" rtlCol="0"/>
                <a:lstStyle/>
                <a:p>
                  <a:endParaRPr/>
                </a:p>
              </p:txBody>
            </p:sp>
          </p:grpSp>
        </p:grpSp>
      </p:grpSp>
      <p:pic>
        <p:nvPicPr>
          <p:cNvPr id="10" name="Gráfico 9" descr="Badge con relleno sólido">
            <a:extLst>
              <a:ext uri="{FF2B5EF4-FFF2-40B4-BE49-F238E27FC236}">
                <a16:creationId xmlns:a16="http://schemas.microsoft.com/office/drawing/2014/main" id="{526B8BFA-D226-B522-A489-672FB0261917}"/>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385079" y="2380484"/>
            <a:ext cx="669206" cy="669206"/>
          </a:xfrm>
          <a:prstGeom prst="rect">
            <a:avLst/>
          </a:prstGeom>
        </p:spPr>
      </p:pic>
      <p:pic>
        <p:nvPicPr>
          <p:cNvPr id="12" name="Gráfico 11" descr="Badge 3 con relleno sólido">
            <a:extLst>
              <a:ext uri="{FF2B5EF4-FFF2-40B4-BE49-F238E27FC236}">
                <a16:creationId xmlns:a16="http://schemas.microsoft.com/office/drawing/2014/main" id="{8C195697-90EA-9B9E-1493-8E575E9E97FC}"/>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385079" y="3550817"/>
            <a:ext cx="669206" cy="669206"/>
          </a:xfrm>
          <a:prstGeom prst="rect">
            <a:avLst/>
          </a:prstGeom>
        </p:spPr>
      </p:pic>
      <p:pic>
        <p:nvPicPr>
          <p:cNvPr id="52" name="Gráfico 51" descr="Badge 1 con relleno sólido">
            <a:extLst>
              <a:ext uri="{FF2B5EF4-FFF2-40B4-BE49-F238E27FC236}">
                <a16:creationId xmlns:a16="http://schemas.microsoft.com/office/drawing/2014/main" id="{DC1292B7-24C3-4D92-06C6-1104ABD25BFB}"/>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385079" y="1594024"/>
            <a:ext cx="669206" cy="669206"/>
          </a:xfrm>
          <a:prstGeom prst="rect">
            <a:avLst/>
          </a:prstGeom>
        </p:spPr>
      </p:pic>
      <p:sp>
        <p:nvSpPr>
          <p:cNvPr id="55" name="CuadroTexto 54">
            <a:extLst>
              <a:ext uri="{FF2B5EF4-FFF2-40B4-BE49-F238E27FC236}">
                <a16:creationId xmlns:a16="http://schemas.microsoft.com/office/drawing/2014/main" id="{AFAA1CA3-BD76-6DED-B464-57477A23A4D6}"/>
              </a:ext>
            </a:extLst>
          </p:cNvPr>
          <p:cNvSpPr txBox="1"/>
          <p:nvPr/>
        </p:nvSpPr>
        <p:spPr>
          <a:xfrm>
            <a:off x="3126442" y="2516226"/>
            <a:ext cx="5270322" cy="830997"/>
          </a:xfrm>
          <a:prstGeom prst="rect">
            <a:avLst/>
          </a:prstGeom>
          <a:noFill/>
        </p:spPr>
        <p:txBody>
          <a:bodyPr wrap="square">
            <a:spAutoFit/>
          </a:bodyPr>
          <a:lstStyle/>
          <a:p>
            <a:pPr>
              <a:buClr>
                <a:srgbClr val="0072CE"/>
              </a:buClr>
            </a:pPr>
            <a:r>
              <a:rPr lang="es-CO" sz="1200" dirty="0">
                <a:solidFill>
                  <a:srgbClr val="3C3C3C"/>
                </a:solidFill>
                <a:latin typeface="Open Sans"/>
              </a:rPr>
              <a:t>El perfil edad–La edad pico estimada es:</a:t>
            </a:r>
          </a:p>
          <a:p>
            <a:pPr>
              <a:buClr>
                <a:srgbClr val="0072CE"/>
              </a:buClr>
            </a:pPr>
            <a:endParaRPr lang="es-CO" sz="1200" dirty="0">
              <a:solidFill>
                <a:srgbClr val="3C3C3C"/>
              </a:solidFill>
              <a:latin typeface="Open Sans"/>
            </a:endParaRPr>
          </a:p>
          <a:p>
            <a:pPr marL="228600" indent="-228600">
              <a:buClr>
                <a:srgbClr val="0072CE"/>
              </a:buClr>
              <a:buFont typeface="+mj-lt"/>
              <a:buAutoNum type="alphaLcPeriod"/>
            </a:pPr>
            <a:r>
              <a:rPr lang="es-CO" sz="1200" dirty="0">
                <a:solidFill>
                  <a:srgbClr val="3C3C3C"/>
                </a:solidFill>
                <a:latin typeface="Open Sans"/>
              </a:rPr>
              <a:t>40.6 años (incondicional)</a:t>
            </a:r>
          </a:p>
          <a:p>
            <a:pPr marL="228600" indent="-228600">
              <a:buClr>
                <a:srgbClr val="0072CE"/>
              </a:buClr>
              <a:buFont typeface="+mj-lt"/>
              <a:buAutoNum type="alphaLcPeriod"/>
            </a:pPr>
            <a:r>
              <a:rPr lang="es-CO" sz="1200" dirty="0">
                <a:solidFill>
                  <a:srgbClr val="3C3C3C"/>
                </a:solidFill>
                <a:latin typeface="Open Sans"/>
              </a:rPr>
              <a:t>43.6 años (condicional) es cóncavo y estadísticamente significativo.</a:t>
            </a:r>
          </a:p>
        </p:txBody>
      </p:sp>
      <p:sp>
        <p:nvSpPr>
          <p:cNvPr id="56" name="CuadroTexto 55">
            <a:extLst>
              <a:ext uri="{FF2B5EF4-FFF2-40B4-BE49-F238E27FC236}">
                <a16:creationId xmlns:a16="http://schemas.microsoft.com/office/drawing/2014/main" id="{F37C0FE2-CB4D-424C-793D-B7D345521903}"/>
              </a:ext>
            </a:extLst>
          </p:cNvPr>
          <p:cNvSpPr txBox="1"/>
          <p:nvPr/>
        </p:nvSpPr>
        <p:spPr>
          <a:xfrm>
            <a:off x="3126442" y="3802672"/>
            <a:ext cx="5270322" cy="830997"/>
          </a:xfrm>
          <a:prstGeom prst="rect">
            <a:avLst/>
          </a:prstGeom>
          <a:noFill/>
        </p:spPr>
        <p:txBody>
          <a:bodyPr wrap="square">
            <a:spAutoFit/>
          </a:bodyPr>
          <a:lstStyle/>
          <a:p>
            <a:pPr>
              <a:buClr>
                <a:srgbClr val="0072CE"/>
              </a:buClr>
            </a:pPr>
            <a:r>
              <a:rPr lang="es-CO" sz="1200" dirty="0">
                <a:solidFill>
                  <a:srgbClr val="3C3C3C"/>
                </a:solidFill>
                <a:latin typeface="Open Sans"/>
              </a:rPr>
              <a:t>Al controlar por horas y tipo de empleo:</a:t>
            </a:r>
          </a:p>
          <a:p>
            <a:pPr>
              <a:buClr>
                <a:srgbClr val="0072CE"/>
              </a:buClr>
            </a:pPr>
            <a:endParaRPr lang="es-CO" sz="1200" dirty="0">
              <a:solidFill>
                <a:srgbClr val="3C3C3C"/>
              </a:solidFill>
              <a:latin typeface="Open Sans"/>
            </a:endParaRPr>
          </a:p>
          <a:p>
            <a:pPr marL="228600" indent="-228600">
              <a:buClr>
                <a:srgbClr val="0072CE"/>
              </a:buClr>
              <a:buFont typeface="+mj-lt"/>
              <a:buAutoNum type="alphaLcPeriod"/>
            </a:pPr>
            <a:r>
              <a:rPr lang="es-CO" sz="1200" dirty="0">
                <a:solidFill>
                  <a:srgbClr val="3C3C3C"/>
                </a:solidFill>
                <a:latin typeface="Open Sans"/>
              </a:rPr>
              <a:t>El ajuste mejora sustancialmente (R² ↑)</a:t>
            </a:r>
          </a:p>
          <a:p>
            <a:pPr marL="228600" indent="-228600">
              <a:buClr>
                <a:srgbClr val="0072CE"/>
              </a:buClr>
              <a:buFont typeface="+mj-lt"/>
              <a:buAutoNum type="alphaLcPeriod"/>
            </a:pPr>
            <a:r>
              <a:rPr lang="es-CO" sz="1200" dirty="0">
                <a:solidFill>
                  <a:srgbClr val="3C3C3C"/>
                </a:solidFill>
                <a:latin typeface="Open Sans"/>
              </a:rPr>
              <a:t>El pico se desplaza hacia edades mayores.</a:t>
            </a:r>
          </a:p>
        </p:txBody>
      </p:sp>
      <p:sp>
        <p:nvSpPr>
          <p:cNvPr id="57" name="CuadroTexto 56">
            <a:extLst>
              <a:ext uri="{FF2B5EF4-FFF2-40B4-BE49-F238E27FC236}">
                <a16:creationId xmlns:a16="http://schemas.microsoft.com/office/drawing/2014/main" id="{826F1DED-BB1B-C402-AA39-B10A620EA4C6}"/>
              </a:ext>
            </a:extLst>
          </p:cNvPr>
          <p:cNvSpPr txBox="1"/>
          <p:nvPr/>
        </p:nvSpPr>
        <p:spPr>
          <a:xfrm>
            <a:off x="2819400" y="5490988"/>
            <a:ext cx="7939453" cy="276999"/>
          </a:xfrm>
          <a:prstGeom prst="rect">
            <a:avLst/>
          </a:prstGeom>
          <a:noFill/>
        </p:spPr>
        <p:txBody>
          <a:bodyPr wrap="square">
            <a:spAutoFit/>
          </a:bodyPr>
          <a:lstStyle/>
          <a:p>
            <a:pPr>
              <a:buClr>
                <a:srgbClr val="0072CE"/>
              </a:buClr>
            </a:pPr>
            <a:r>
              <a:rPr lang="es-CO" sz="1200" dirty="0">
                <a:solidFill>
                  <a:srgbClr val="3C3C3C"/>
                </a:solidFill>
                <a:latin typeface="Open Sans"/>
              </a:rPr>
              <a:t>Parte de la caída del ingreso en edades altas se debe a menor oferta laboral y cambios en tipo de empleo.</a:t>
            </a:r>
          </a:p>
        </p:txBody>
      </p:sp>
      <p:pic>
        <p:nvPicPr>
          <p:cNvPr id="63" name="Gráfico 62" descr="Lightbulb and pencil con relleno sólido">
            <a:extLst>
              <a:ext uri="{FF2B5EF4-FFF2-40B4-BE49-F238E27FC236}">
                <a16:creationId xmlns:a16="http://schemas.microsoft.com/office/drawing/2014/main" id="{7604B866-6EFA-E9F2-E08D-690C2385BC5C}"/>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150194" y="5217328"/>
            <a:ext cx="669206" cy="669206"/>
          </a:xfrm>
          <a:prstGeom prst="rect">
            <a:avLst/>
          </a:prstGeom>
        </p:spPr>
      </p:pic>
    </p:spTree>
    <p:extLst>
      <p:ext uri="{BB962C8B-B14F-4D97-AF65-F5344CB8AC3E}">
        <p14:creationId xmlns:p14="http://schemas.microsoft.com/office/powerpoint/2010/main" val="35283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87C56-4675-3805-CD36-7820611AD9FF}"/>
            </a:ext>
          </a:extLst>
        </p:cNvPr>
        <p:cNvGrpSpPr/>
        <p:nvPr/>
      </p:nvGrpSpPr>
      <p:grpSpPr>
        <a:xfrm>
          <a:off x="0" y="0"/>
          <a:ext cx="0" cy="0"/>
          <a:chOff x="0" y="0"/>
          <a:chExt cx="0" cy="0"/>
        </a:xfrm>
      </p:grpSpPr>
      <p:sp>
        <p:nvSpPr>
          <p:cNvPr id="2" name="Título 5">
            <a:extLst>
              <a:ext uri="{FF2B5EF4-FFF2-40B4-BE49-F238E27FC236}">
                <a16:creationId xmlns:a16="http://schemas.microsoft.com/office/drawing/2014/main" id="{ED39568D-3CFD-7B7B-3796-731AB095BC46}"/>
              </a:ext>
            </a:extLst>
          </p:cNvPr>
          <p:cNvSpPr txBox="1">
            <a:spLocks/>
          </p:cNvSpPr>
          <p:nvPr/>
        </p:nvSpPr>
        <p:spPr>
          <a:xfrm>
            <a:off x="2415559" y="761999"/>
            <a:ext cx="9240140" cy="917575"/>
          </a:xfrm>
          <a:prstGeom prst="rect">
            <a:avLst/>
          </a:prstGeom>
        </p:spPr>
        <p:txBody>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s-CO" sz="1800" dirty="0">
                <a:latin typeface="Open Sans Semibold"/>
              </a:rPr>
              <a:t>Datos y muestra</a:t>
            </a:r>
            <a:endParaRPr kumimoji="0" lang="es-CO" sz="1800" b="0" i="0" u="none" strike="noStrike" kern="1200" cap="none" spc="0" normalizeH="0" baseline="0" noProof="0" dirty="0">
              <a:ln>
                <a:noFill/>
              </a:ln>
              <a:solidFill>
                <a:srgbClr val="003057"/>
              </a:solidFill>
              <a:effectLst/>
              <a:uLnTx/>
              <a:uFillTx/>
              <a:latin typeface="Open Sans Semibold"/>
              <a:ea typeface="+mj-ea"/>
              <a:cs typeface="+mj-cs"/>
            </a:endParaRPr>
          </a:p>
        </p:txBody>
      </p:sp>
      <p:sp>
        <p:nvSpPr>
          <p:cNvPr id="3" name="Título 5">
            <a:extLst>
              <a:ext uri="{FF2B5EF4-FFF2-40B4-BE49-F238E27FC236}">
                <a16:creationId xmlns:a16="http://schemas.microsoft.com/office/drawing/2014/main" id="{6D707BA4-388B-7E03-AD7B-ED300C639EB3}"/>
              </a:ext>
            </a:extLst>
          </p:cNvPr>
          <p:cNvSpPr txBox="1">
            <a:spLocks/>
          </p:cNvSpPr>
          <p:nvPr/>
        </p:nvSpPr>
        <p:spPr>
          <a:xfrm>
            <a:off x="2415559" y="762000"/>
            <a:ext cx="9776441" cy="9175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1400" b="0" i="1" u="none" strike="noStrike" kern="1200" cap="none" spc="0" normalizeH="0" baseline="0" noProof="0" dirty="0">
                <a:ln>
                  <a:noFill/>
                </a:ln>
                <a:solidFill>
                  <a:schemeClr val="accent1"/>
                </a:solidFill>
                <a:effectLst/>
                <a:uLnTx/>
                <a:uFillTx/>
                <a:latin typeface="Open Sans Semibold"/>
                <a:ea typeface="+mj-ea"/>
                <a:cs typeface="+mj-cs"/>
              </a:rPr>
              <a:t>Especificaciones econométricas</a:t>
            </a:r>
          </a:p>
        </p:txBody>
      </p:sp>
      <p:sp>
        <p:nvSpPr>
          <p:cNvPr id="9" name="Marcador de texto 1">
            <a:extLst>
              <a:ext uri="{FF2B5EF4-FFF2-40B4-BE49-F238E27FC236}">
                <a16:creationId xmlns:a16="http://schemas.microsoft.com/office/drawing/2014/main" id="{AA56DF59-457B-564B-6462-6A27637D404D}"/>
              </a:ext>
            </a:extLst>
          </p:cNvPr>
          <p:cNvSpPr txBox="1">
            <a:spLocks/>
          </p:cNvSpPr>
          <p:nvPr/>
        </p:nvSpPr>
        <p:spPr>
          <a:xfrm>
            <a:off x="969673" y="4790750"/>
            <a:ext cx="4708646" cy="376886"/>
          </a:xfrm>
          <a:prstGeom prst="rect">
            <a:avLst/>
          </a:prstGeom>
        </p:spPr>
        <p:txBody>
          <a:bodyPr vert="horz" lIns="91440" tIns="45720" rIns="91440" bIns="45720" rtlCol="0" anchor="ctr">
            <a:normAutofit/>
          </a:bodyPr>
          <a:lstStyle>
            <a:lvl1pPr marL="0" indent="0" algn="l" defTabSz="914400" rtl="0" eaLnBrk="1" latinLnBrk="0" hangingPunct="1">
              <a:lnSpc>
                <a:spcPct val="90000"/>
              </a:lnSpc>
              <a:spcBef>
                <a:spcPts val="1000"/>
              </a:spcBef>
              <a:buClr>
                <a:srgbClr val="00A3E0"/>
              </a:buClr>
              <a:buFont typeface="Open Sans" panose="020B0606030504020204" pitchFamily="34" charset="0"/>
              <a:buNone/>
              <a:defRPr sz="1600" b="1" kern="1200">
                <a:solidFill>
                  <a:srgbClr val="0070C0"/>
                </a:solidFill>
                <a:latin typeface="+mj-lt"/>
                <a:ea typeface="+mn-ea"/>
                <a:cs typeface="+mn-cs"/>
              </a:defRPr>
            </a:lvl1pPr>
            <a:lvl2pPr marL="457200" indent="0" algn="l" defTabSz="914400" rtl="0" eaLnBrk="1" latinLnBrk="0" hangingPunct="1">
              <a:lnSpc>
                <a:spcPct val="90000"/>
              </a:lnSpc>
              <a:spcBef>
                <a:spcPts val="500"/>
              </a:spcBef>
              <a:buClr>
                <a:srgbClr val="00A3E0"/>
              </a:buClr>
              <a:buFont typeface="Open Sans" panose="020B0606030504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rgbClr val="00A3E0"/>
              </a:buClr>
              <a:buFont typeface="Open Sans" panose="020B0606030504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defRPr/>
            </a:pPr>
            <a:r>
              <a:rPr lang="es-CO" sz="1400" dirty="0">
                <a:latin typeface="Open Sans Semibold"/>
              </a:rPr>
              <a:t>Importante: </a:t>
            </a:r>
          </a:p>
        </p:txBody>
      </p:sp>
      <p:sp>
        <p:nvSpPr>
          <p:cNvPr id="17" name="CuadroTexto 16">
            <a:extLst>
              <a:ext uri="{FF2B5EF4-FFF2-40B4-BE49-F238E27FC236}">
                <a16:creationId xmlns:a16="http://schemas.microsoft.com/office/drawing/2014/main" id="{AC2390F6-921D-824D-03B3-1CC4CDB39096}"/>
              </a:ext>
            </a:extLst>
          </p:cNvPr>
          <p:cNvSpPr txBox="1"/>
          <p:nvPr/>
        </p:nvSpPr>
        <p:spPr>
          <a:xfrm>
            <a:off x="2387849" y="1579080"/>
            <a:ext cx="4147343" cy="646331"/>
          </a:xfrm>
          <a:prstGeom prst="rect">
            <a:avLst/>
          </a:prstGeom>
          <a:noFill/>
        </p:spPr>
        <p:txBody>
          <a:bodyPr wrap="square">
            <a:spAutoFit/>
          </a:bodyPr>
          <a:lstStyle/>
          <a:p>
            <a:pPr marL="171450" indent="-171450">
              <a:buClr>
                <a:srgbClr val="0072CE"/>
              </a:buClr>
              <a:buFont typeface="Arial" panose="020B0604020202020204" pitchFamily="34" charset="0"/>
              <a:buChar char="•"/>
            </a:pPr>
            <a:r>
              <a:rPr lang="es-CO" sz="1200" b="1" dirty="0">
                <a:solidFill>
                  <a:srgbClr val="3C3C3C"/>
                </a:solidFill>
                <a:latin typeface="Open Sans"/>
              </a:rPr>
              <a:t>Filtros de Selección:</a:t>
            </a:r>
            <a:r>
              <a:rPr lang="es-CO" sz="1200" dirty="0">
                <a:solidFill>
                  <a:srgbClr val="3C3C3C"/>
                </a:solidFill>
                <a:latin typeface="Open Sans"/>
              </a:rPr>
              <a:t> Individuos de 18+ años, ocupados y con ingresos positivos</a:t>
            </a:r>
            <a:endParaRPr lang="es-CO" sz="1200" b="1" dirty="0">
              <a:solidFill>
                <a:srgbClr val="3C3C3C"/>
              </a:solidFill>
              <a:latin typeface="Open Sans"/>
            </a:endParaRPr>
          </a:p>
          <a:p>
            <a:pPr marL="171450" indent="-171450">
              <a:buClr>
                <a:srgbClr val="0072CE"/>
              </a:buClr>
              <a:buFont typeface="Arial" panose="020B0604020202020204" pitchFamily="34" charset="0"/>
              <a:buChar char="•"/>
            </a:pPr>
            <a:r>
              <a:rPr lang="es-CO" sz="1200" b="1" dirty="0">
                <a:solidFill>
                  <a:srgbClr val="3C3C3C"/>
                </a:solidFill>
                <a:latin typeface="Open Sans"/>
              </a:rPr>
              <a:t>Tamaño muestral</a:t>
            </a:r>
            <a:r>
              <a:rPr lang="es-CO" sz="1200" dirty="0">
                <a:solidFill>
                  <a:srgbClr val="3C3C3C"/>
                </a:solidFill>
                <a:latin typeface="Open Sans"/>
              </a:rPr>
              <a:t>: N ≈ 14,764</a:t>
            </a:r>
          </a:p>
        </p:txBody>
      </p:sp>
      <p:grpSp>
        <p:nvGrpSpPr>
          <p:cNvPr id="18" name="Grupo 17">
            <a:extLst>
              <a:ext uri="{FF2B5EF4-FFF2-40B4-BE49-F238E27FC236}">
                <a16:creationId xmlns:a16="http://schemas.microsoft.com/office/drawing/2014/main" id="{F9F7CB14-F6B5-62F2-82A7-F3B79B83CA40}"/>
              </a:ext>
            </a:extLst>
          </p:cNvPr>
          <p:cNvGrpSpPr/>
          <p:nvPr/>
        </p:nvGrpSpPr>
        <p:grpSpPr>
          <a:xfrm>
            <a:off x="609600" y="6019983"/>
            <a:ext cx="8458200" cy="767532"/>
            <a:chOff x="609600" y="6019983"/>
            <a:chExt cx="8458200" cy="767532"/>
          </a:xfrm>
        </p:grpSpPr>
        <p:sp>
          <p:nvSpPr>
            <p:cNvPr id="19" name="Rectángulo 18">
              <a:extLst>
                <a:ext uri="{FF2B5EF4-FFF2-40B4-BE49-F238E27FC236}">
                  <a16:creationId xmlns:a16="http://schemas.microsoft.com/office/drawing/2014/main" id="{B4B98594-A61D-CD9A-C39D-C543B5E3788B}"/>
                </a:ext>
              </a:extLst>
            </p:cNvPr>
            <p:cNvSpPr/>
            <p:nvPr/>
          </p:nvSpPr>
          <p:spPr>
            <a:xfrm>
              <a:off x="6858000" y="6096000"/>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rupo 19">
              <a:extLst>
                <a:ext uri="{FF2B5EF4-FFF2-40B4-BE49-F238E27FC236}">
                  <a16:creationId xmlns:a16="http://schemas.microsoft.com/office/drawing/2014/main" id="{55556272-E7B4-64AF-9862-3A0190612512}"/>
                </a:ext>
              </a:extLst>
            </p:cNvPr>
            <p:cNvGrpSpPr/>
            <p:nvPr/>
          </p:nvGrpSpPr>
          <p:grpSpPr>
            <a:xfrm>
              <a:off x="609600" y="6019983"/>
              <a:ext cx="5334000" cy="691515"/>
              <a:chOff x="609600" y="6019983"/>
              <a:chExt cx="5334000" cy="691515"/>
            </a:xfrm>
          </p:grpSpPr>
          <p:sp>
            <p:nvSpPr>
              <p:cNvPr id="22" name="Rectángulo 21">
                <a:extLst>
                  <a:ext uri="{FF2B5EF4-FFF2-40B4-BE49-F238E27FC236}">
                    <a16:creationId xmlns:a16="http://schemas.microsoft.com/office/drawing/2014/main" id="{274DC0F2-07B2-6A52-739A-E93F5B9CFC91}"/>
                  </a:ext>
                </a:extLst>
              </p:cNvPr>
              <p:cNvSpPr/>
              <p:nvPr/>
            </p:nvSpPr>
            <p:spPr>
              <a:xfrm>
                <a:off x="609600" y="6019983"/>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B571C225-E39A-46E8-B244-B048C16E8FCC}"/>
                  </a:ext>
                </a:extLst>
              </p:cNvPr>
              <p:cNvSpPr txBox="1"/>
              <p:nvPr/>
            </p:nvSpPr>
            <p:spPr>
              <a:xfrm>
                <a:off x="609600" y="6226043"/>
                <a:ext cx="5334000" cy="276999"/>
              </a:xfrm>
              <a:prstGeom prst="rect">
                <a:avLst/>
              </a:prstGeom>
              <a:noFill/>
            </p:spPr>
            <p:txBody>
              <a:bodyPr wrap="square" rtlCol="0">
                <a:spAutoFit/>
              </a:bodyPr>
              <a:lstStyle/>
              <a:p>
                <a:r>
                  <a:rPr lang="es-CO" sz="1200" i="1" dirty="0">
                    <a:solidFill>
                      <a:schemeClr val="tx2"/>
                    </a:solidFill>
                    <a:latin typeface="Aptos Narrow" panose="020B0004020202020204" pitchFamily="34" charset="0"/>
                  </a:rPr>
                  <a:t>MECA 4107 – </a:t>
                </a:r>
                <a:r>
                  <a:rPr lang="es-CO" sz="1200" i="1" dirty="0" err="1">
                    <a:solidFill>
                      <a:schemeClr val="tx2"/>
                    </a:solidFill>
                    <a:latin typeface="Aptos Narrow" panose="020B0004020202020204" pitchFamily="34" charset="0"/>
                  </a:rPr>
                  <a:t>Problem</a:t>
                </a:r>
                <a:r>
                  <a:rPr lang="es-CO" sz="1200" i="1" dirty="0">
                    <a:solidFill>
                      <a:schemeClr val="tx2"/>
                    </a:solidFill>
                    <a:latin typeface="Aptos Narrow" panose="020B0004020202020204" pitchFamily="34" charset="0"/>
                  </a:rPr>
                  <a:t> Set 1: </a:t>
                </a:r>
                <a:r>
                  <a:rPr lang="es-CO" sz="1200" i="1" dirty="0" err="1">
                    <a:solidFill>
                      <a:schemeClr val="tx2"/>
                    </a:solidFill>
                    <a:latin typeface="Aptos Narrow" panose="020B0004020202020204" pitchFamily="34" charset="0"/>
                  </a:rPr>
                  <a:t>Predicting</a:t>
                </a:r>
                <a:r>
                  <a:rPr lang="es-CO" sz="1200" i="1" dirty="0">
                    <a:solidFill>
                      <a:schemeClr val="tx2"/>
                    </a:solidFill>
                    <a:latin typeface="Aptos Narrow" panose="020B0004020202020204" pitchFamily="34" charset="0"/>
                  </a:rPr>
                  <a:t> </a:t>
                </a:r>
                <a:r>
                  <a:rPr lang="es-CO" sz="1200" i="1" dirty="0" err="1">
                    <a:solidFill>
                      <a:schemeClr val="tx2"/>
                    </a:solidFill>
                    <a:latin typeface="Aptos Narrow" panose="020B0004020202020204" pitchFamily="34" charset="0"/>
                  </a:rPr>
                  <a:t>Income</a:t>
                </a:r>
                <a:endParaRPr lang="es-CO" sz="1050" i="1" dirty="0">
                  <a:solidFill>
                    <a:schemeClr val="tx2"/>
                  </a:solidFill>
                  <a:latin typeface="Aptos Narrow" panose="020B0004020202020204" pitchFamily="34" charset="0"/>
                </a:endParaRPr>
              </a:p>
            </p:txBody>
          </p:sp>
        </p:grpSp>
        <p:sp>
          <p:nvSpPr>
            <p:cNvPr id="21" name="Triángulo 20">
              <a:extLst>
                <a:ext uri="{FF2B5EF4-FFF2-40B4-BE49-F238E27FC236}">
                  <a16:creationId xmlns:a16="http://schemas.microsoft.com/office/drawing/2014/main" id="{67CB2C5E-8312-A42B-75C5-339D66FD7A2A}"/>
                </a:ext>
              </a:extLst>
            </p:cNvPr>
            <p:cNvSpPr/>
            <p:nvPr/>
          </p:nvSpPr>
          <p:spPr>
            <a:xfrm rot="5400000">
              <a:off x="8518791" y="6142961"/>
              <a:ext cx="488417" cy="483199"/>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4" name="Grupo 23">
            <a:extLst>
              <a:ext uri="{FF2B5EF4-FFF2-40B4-BE49-F238E27FC236}">
                <a16:creationId xmlns:a16="http://schemas.microsoft.com/office/drawing/2014/main" id="{818E454D-2DD7-EFE8-30EF-80E6E424B941}"/>
              </a:ext>
            </a:extLst>
          </p:cNvPr>
          <p:cNvGrpSpPr/>
          <p:nvPr/>
        </p:nvGrpSpPr>
        <p:grpSpPr>
          <a:xfrm>
            <a:off x="9818298" y="273960"/>
            <a:ext cx="2373702" cy="691515"/>
            <a:chOff x="338281" y="6096000"/>
            <a:chExt cx="2373702" cy="691515"/>
          </a:xfrm>
        </p:grpSpPr>
        <p:sp>
          <p:nvSpPr>
            <p:cNvPr id="25" name="Rectángulo 24">
              <a:extLst>
                <a:ext uri="{FF2B5EF4-FFF2-40B4-BE49-F238E27FC236}">
                  <a16:creationId xmlns:a16="http://schemas.microsoft.com/office/drawing/2014/main" id="{5724E220-3500-BDDA-191F-6216A958EAB1}"/>
                </a:ext>
              </a:extLst>
            </p:cNvPr>
            <p:cNvSpPr/>
            <p:nvPr/>
          </p:nvSpPr>
          <p:spPr>
            <a:xfrm>
              <a:off x="338281" y="6096000"/>
              <a:ext cx="2373702"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6" name="Grupo 25">
              <a:extLst>
                <a:ext uri="{FF2B5EF4-FFF2-40B4-BE49-F238E27FC236}">
                  <a16:creationId xmlns:a16="http://schemas.microsoft.com/office/drawing/2014/main" id="{2451F980-85FA-CA64-70EC-7C1E7E1CD22B}"/>
                </a:ext>
              </a:extLst>
            </p:cNvPr>
            <p:cNvGrpSpPr/>
            <p:nvPr/>
          </p:nvGrpSpPr>
          <p:grpSpPr>
            <a:xfrm>
              <a:off x="685800" y="6096000"/>
              <a:ext cx="1447800" cy="495372"/>
              <a:chOff x="582416" y="5645548"/>
              <a:chExt cx="2329523" cy="691515"/>
            </a:xfrm>
          </p:grpSpPr>
          <p:sp>
            <p:nvSpPr>
              <p:cNvPr id="27" name="object 2">
                <a:extLst>
                  <a:ext uri="{FF2B5EF4-FFF2-40B4-BE49-F238E27FC236}">
                    <a16:creationId xmlns:a16="http://schemas.microsoft.com/office/drawing/2014/main" id="{4870D0EC-BFB8-8878-8AD3-947183235837}"/>
                  </a:ext>
                </a:extLst>
              </p:cNvPr>
              <p:cNvSpPr/>
              <p:nvPr/>
            </p:nvSpPr>
            <p:spPr>
              <a:xfrm>
                <a:off x="582416" y="5645548"/>
                <a:ext cx="589915" cy="691515"/>
              </a:xfrm>
              <a:custGeom>
                <a:avLst/>
                <a:gdLst/>
                <a:ahLst/>
                <a:cxnLst/>
                <a:rect l="l" t="t" r="r" b="b"/>
                <a:pathLst>
                  <a:path w="589915" h="691514">
                    <a:moveTo>
                      <a:pt x="311958" y="97402"/>
                    </a:moveTo>
                    <a:lnTo>
                      <a:pt x="286126" y="97402"/>
                    </a:lnTo>
                    <a:lnTo>
                      <a:pt x="287264" y="104907"/>
                    </a:lnTo>
                    <a:lnTo>
                      <a:pt x="290172" y="124419"/>
                    </a:lnTo>
                    <a:lnTo>
                      <a:pt x="294174" y="152016"/>
                    </a:lnTo>
                    <a:lnTo>
                      <a:pt x="298270" y="181453"/>
                    </a:lnTo>
                    <a:lnTo>
                      <a:pt x="302721" y="200882"/>
                    </a:lnTo>
                    <a:lnTo>
                      <a:pt x="312125" y="239243"/>
                    </a:lnTo>
                    <a:lnTo>
                      <a:pt x="320584" y="296325"/>
                    </a:lnTo>
                    <a:lnTo>
                      <a:pt x="327583" y="362622"/>
                    </a:lnTo>
                    <a:lnTo>
                      <a:pt x="331926" y="440339"/>
                    </a:lnTo>
                    <a:lnTo>
                      <a:pt x="337659" y="553000"/>
                    </a:lnTo>
                    <a:lnTo>
                      <a:pt x="330998" y="595071"/>
                    </a:lnTo>
                    <a:lnTo>
                      <a:pt x="308224" y="625761"/>
                    </a:lnTo>
                    <a:lnTo>
                      <a:pt x="301539" y="633722"/>
                    </a:lnTo>
                    <a:lnTo>
                      <a:pt x="298270" y="648438"/>
                    </a:lnTo>
                    <a:lnTo>
                      <a:pt x="297656" y="661866"/>
                    </a:lnTo>
                    <a:lnTo>
                      <a:pt x="297595" y="673796"/>
                    </a:lnTo>
                    <a:lnTo>
                      <a:pt x="298650" y="681469"/>
                    </a:lnTo>
                    <a:lnTo>
                      <a:pt x="300971" y="691142"/>
                    </a:lnTo>
                    <a:lnTo>
                      <a:pt x="322460" y="690557"/>
                    </a:lnTo>
                    <a:lnTo>
                      <a:pt x="367010" y="684945"/>
                    </a:lnTo>
                    <a:lnTo>
                      <a:pt x="345996" y="683276"/>
                    </a:lnTo>
                    <a:lnTo>
                      <a:pt x="330662" y="664450"/>
                    </a:lnTo>
                    <a:lnTo>
                      <a:pt x="326610" y="656450"/>
                    </a:lnTo>
                    <a:lnTo>
                      <a:pt x="329311" y="656450"/>
                    </a:lnTo>
                    <a:lnTo>
                      <a:pt x="329311" y="643109"/>
                    </a:lnTo>
                    <a:lnTo>
                      <a:pt x="346960" y="604642"/>
                    </a:lnTo>
                    <a:lnTo>
                      <a:pt x="365755" y="584393"/>
                    </a:lnTo>
                    <a:lnTo>
                      <a:pt x="365755" y="579064"/>
                    </a:lnTo>
                    <a:lnTo>
                      <a:pt x="368456" y="568382"/>
                    </a:lnTo>
                    <a:lnTo>
                      <a:pt x="373472" y="527690"/>
                    </a:lnTo>
                    <a:lnTo>
                      <a:pt x="376212" y="475991"/>
                    </a:lnTo>
                    <a:lnTo>
                      <a:pt x="376422" y="425791"/>
                    </a:lnTo>
                    <a:lnTo>
                      <a:pt x="373847" y="389599"/>
                    </a:lnTo>
                    <a:lnTo>
                      <a:pt x="371211" y="374189"/>
                    </a:lnTo>
                    <a:lnTo>
                      <a:pt x="365920" y="344397"/>
                    </a:lnTo>
                    <a:lnTo>
                      <a:pt x="358857" y="303848"/>
                    </a:lnTo>
                    <a:lnTo>
                      <a:pt x="350910" y="256168"/>
                    </a:lnTo>
                    <a:lnTo>
                      <a:pt x="342956" y="212974"/>
                    </a:lnTo>
                    <a:lnTo>
                      <a:pt x="334782" y="181453"/>
                    </a:lnTo>
                    <a:lnTo>
                      <a:pt x="326043" y="151100"/>
                    </a:lnTo>
                    <a:lnTo>
                      <a:pt x="315816" y="109408"/>
                    </a:lnTo>
                    <a:lnTo>
                      <a:pt x="311958" y="97402"/>
                    </a:lnTo>
                    <a:close/>
                  </a:path>
                  <a:path w="589915" h="691514">
                    <a:moveTo>
                      <a:pt x="367433" y="684891"/>
                    </a:moveTo>
                    <a:lnTo>
                      <a:pt x="367010" y="684945"/>
                    </a:lnTo>
                    <a:lnTo>
                      <a:pt x="367274" y="684966"/>
                    </a:lnTo>
                    <a:lnTo>
                      <a:pt x="367433" y="684891"/>
                    </a:lnTo>
                    <a:close/>
                  </a:path>
                  <a:path w="589915" h="691514">
                    <a:moveTo>
                      <a:pt x="558230" y="26681"/>
                    </a:moveTo>
                    <a:lnTo>
                      <a:pt x="294218" y="26681"/>
                    </a:lnTo>
                    <a:lnTo>
                      <a:pt x="355567" y="27369"/>
                    </a:lnTo>
                    <a:lnTo>
                      <a:pt x="400339" y="32185"/>
                    </a:lnTo>
                    <a:lnTo>
                      <a:pt x="450425" y="45256"/>
                    </a:lnTo>
                    <a:lnTo>
                      <a:pt x="527715" y="70709"/>
                    </a:lnTo>
                    <a:lnTo>
                      <a:pt x="527669" y="553000"/>
                    </a:lnTo>
                    <a:lnTo>
                      <a:pt x="527061" y="579143"/>
                    </a:lnTo>
                    <a:lnTo>
                      <a:pt x="522484" y="595736"/>
                    </a:lnTo>
                    <a:lnTo>
                      <a:pt x="510061" y="607327"/>
                    </a:lnTo>
                    <a:lnTo>
                      <a:pt x="485869" y="620421"/>
                    </a:lnTo>
                    <a:lnTo>
                      <a:pt x="409049" y="665390"/>
                    </a:lnTo>
                    <a:lnTo>
                      <a:pt x="367433" y="684891"/>
                    </a:lnTo>
                    <a:lnTo>
                      <a:pt x="378743" y="683466"/>
                    </a:lnTo>
                    <a:lnTo>
                      <a:pt x="457548" y="661866"/>
                    </a:lnTo>
                    <a:lnTo>
                      <a:pt x="546601" y="617751"/>
                    </a:lnTo>
                    <a:lnTo>
                      <a:pt x="583618" y="580044"/>
                    </a:lnTo>
                    <a:lnTo>
                      <a:pt x="589797" y="551047"/>
                    </a:lnTo>
                    <a:lnTo>
                      <a:pt x="589797" y="32022"/>
                    </a:lnTo>
                    <a:lnTo>
                      <a:pt x="560485" y="27018"/>
                    </a:lnTo>
                    <a:lnTo>
                      <a:pt x="558230" y="26681"/>
                    </a:lnTo>
                    <a:close/>
                  </a:path>
                  <a:path w="589915" h="691514">
                    <a:moveTo>
                      <a:pt x="292867" y="0"/>
                    </a:moveTo>
                    <a:lnTo>
                      <a:pt x="228905" y="2372"/>
                    </a:lnTo>
                    <a:lnTo>
                      <a:pt x="162655" y="8302"/>
                    </a:lnTo>
                    <a:lnTo>
                      <a:pt x="100378" y="16011"/>
                    </a:lnTo>
                    <a:lnTo>
                      <a:pt x="48336" y="23720"/>
                    </a:lnTo>
                    <a:lnTo>
                      <a:pt x="0" y="32022"/>
                    </a:lnTo>
                    <a:lnTo>
                      <a:pt x="61" y="548376"/>
                    </a:lnTo>
                    <a:lnTo>
                      <a:pt x="1771" y="585444"/>
                    </a:lnTo>
                    <a:lnTo>
                      <a:pt x="14171" y="609085"/>
                    </a:lnTo>
                    <a:lnTo>
                      <a:pt x="47829" y="627721"/>
                    </a:lnTo>
                    <a:lnTo>
                      <a:pt x="113372" y="651109"/>
                    </a:lnTo>
                    <a:lnTo>
                      <a:pt x="87770" y="631303"/>
                    </a:lnTo>
                    <a:lnTo>
                      <a:pt x="73555" y="603744"/>
                    </a:lnTo>
                    <a:lnTo>
                      <a:pt x="67439" y="574184"/>
                    </a:lnTo>
                    <a:lnTo>
                      <a:pt x="66132" y="548376"/>
                    </a:lnTo>
                    <a:lnTo>
                      <a:pt x="66132" y="70709"/>
                    </a:lnTo>
                    <a:lnTo>
                      <a:pt x="87537" y="63830"/>
                    </a:lnTo>
                    <a:lnTo>
                      <a:pt x="142219" y="48695"/>
                    </a:lnTo>
                    <a:lnTo>
                      <a:pt x="215879" y="33561"/>
                    </a:lnTo>
                    <a:lnTo>
                      <a:pt x="294218" y="26681"/>
                    </a:lnTo>
                    <a:lnTo>
                      <a:pt x="558230" y="26681"/>
                    </a:lnTo>
                    <a:lnTo>
                      <a:pt x="486886" y="16011"/>
                    </a:lnTo>
                    <a:lnTo>
                      <a:pt x="390510" y="5003"/>
                    </a:lnTo>
                    <a:lnTo>
                      <a:pt x="292867" y="0"/>
                    </a:lnTo>
                    <a:close/>
                  </a:path>
                  <a:path w="589915" h="691514">
                    <a:moveTo>
                      <a:pt x="284775" y="46698"/>
                    </a:moveTo>
                    <a:lnTo>
                      <a:pt x="261826" y="98726"/>
                    </a:lnTo>
                    <a:lnTo>
                      <a:pt x="251961" y="152016"/>
                    </a:lnTo>
                    <a:lnTo>
                      <a:pt x="246898" y="196759"/>
                    </a:lnTo>
                    <a:lnTo>
                      <a:pt x="242830" y="248167"/>
                    </a:lnTo>
                    <a:lnTo>
                      <a:pt x="241590" y="272180"/>
                    </a:lnTo>
                    <a:lnTo>
                      <a:pt x="236862" y="348067"/>
                    </a:lnTo>
                    <a:lnTo>
                      <a:pt x="228084" y="487002"/>
                    </a:lnTo>
                    <a:lnTo>
                      <a:pt x="228147" y="489107"/>
                    </a:lnTo>
                    <a:lnTo>
                      <a:pt x="228590" y="492838"/>
                    </a:lnTo>
                    <a:lnTo>
                      <a:pt x="229793" y="494315"/>
                    </a:lnTo>
                    <a:lnTo>
                      <a:pt x="232135" y="489661"/>
                    </a:lnTo>
                    <a:lnTo>
                      <a:pt x="236333" y="462103"/>
                    </a:lnTo>
                    <a:lnTo>
                      <a:pt x="243441" y="405274"/>
                    </a:lnTo>
                    <a:lnTo>
                      <a:pt x="251309" y="339936"/>
                    </a:lnTo>
                    <a:lnTo>
                      <a:pt x="257786" y="286856"/>
                    </a:lnTo>
                    <a:lnTo>
                      <a:pt x="259826" y="267637"/>
                    </a:lnTo>
                    <a:lnTo>
                      <a:pt x="262054" y="247705"/>
                    </a:lnTo>
                    <a:lnTo>
                      <a:pt x="264422" y="228695"/>
                    </a:lnTo>
                    <a:lnTo>
                      <a:pt x="267229" y="209470"/>
                    </a:lnTo>
                    <a:lnTo>
                      <a:pt x="272270" y="171698"/>
                    </a:lnTo>
                    <a:lnTo>
                      <a:pt x="277184" y="138428"/>
                    </a:lnTo>
                    <a:lnTo>
                      <a:pt x="281844" y="112661"/>
                    </a:lnTo>
                    <a:lnTo>
                      <a:pt x="286126" y="97402"/>
                    </a:lnTo>
                    <a:lnTo>
                      <a:pt x="311958" y="97402"/>
                    </a:lnTo>
                    <a:lnTo>
                      <a:pt x="308687" y="87227"/>
                    </a:lnTo>
                    <a:lnTo>
                      <a:pt x="299283" y="67046"/>
                    </a:lnTo>
                    <a:lnTo>
                      <a:pt x="290385" y="52369"/>
                    </a:lnTo>
                    <a:lnTo>
                      <a:pt x="284775" y="46698"/>
                    </a:lnTo>
                    <a:close/>
                  </a:path>
                </a:pathLst>
              </a:custGeom>
              <a:solidFill>
                <a:srgbClr val="000000"/>
              </a:solidFill>
            </p:spPr>
            <p:txBody>
              <a:bodyPr wrap="square" lIns="0" tIns="0" rIns="0" bIns="0" rtlCol="0"/>
              <a:lstStyle/>
              <a:p>
                <a:endParaRPr/>
              </a:p>
            </p:txBody>
          </p:sp>
          <p:grpSp>
            <p:nvGrpSpPr>
              <p:cNvPr id="28" name="object 3">
                <a:extLst>
                  <a:ext uri="{FF2B5EF4-FFF2-40B4-BE49-F238E27FC236}">
                    <a16:creationId xmlns:a16="http://schemas.microsoft.com/office/drawing/2014/main" id="{3A6EF8D3-4B00-3055-DBDD-34FB7AC3B849}"/>
                  </a:ext>
                </a:extLst>
              </p:cNvPr>
              <p:cNvGrpSpPr/>
              <p:nvPr/>
            </p:nvGrpSpPr>
            <p:grpSpPr>
              <a:xfrm>
                <a:off x="2654129" y="5677571"/>
                <a:ext cx="257810" cy="194945"/>
                <a:chOff x="2654129" y="5677571"/>
                <a:chExt cx="257810" cy="194945"/>
              </a:xfrm>
            </p:grpSpPr>
            <p:sp>
              <p:nvSpPr>
                <p:cNvPr id="50" name="object 4">
                  <a:extLst>
                    <a:ext uri="{FF2B5EF4-FFF2-40B4-BE49-F238E27FC236}">
                      <a16:creationId xmlns:a16="http://schemas.microsoft.com/office/drawing/2014/main" id="{EF02605A-3E0E-B938-B188-5E629F092080}"/>
                    </a:ext>
                  </a:extLst>
                </p:cNvPr>
                <p:cNvSpPr/>
                <p:nvPr/>
              </p:nvSpPr>
              <p:spPr>
                <a:xfrm>
                  <a:off x="2654129" y="5677571"/>
                  <a:ext cx="114688" cy="194794"/>
                </a:xfrm>
                <a:prstGeom prst="rect">
                  <a:avLst/>
                </a:prstGeom>
                <a:blipFill>
                  <a:blip r:embed="rId2" cstate="print"/>
                  <a:stretch>
                    <a:fillRect/>
                  </a:stretch>
                </a:blipFill>
              </p:spPr>
              <p:txBody>
                <a:bodyPr wrap="square" lIns="0" tIns="0" rIns="0" bIns="0" rtlCol="0"/>
                <a:lstStyle/>
                <a:p>
                  <a:endParaRPr/>
                </a:p>
              </p:txBody>
            </p:sp>
            <p:sp>
              <p:nvSpPr>
                <p:cNvPr id="51" name="object 5">
                  <a:extLst>
                    <a:ext uri="{FF2B5EF4-FFF2-40B4-BE49-F238E27FC236}">
                      <a16:creationId xmlns:a16="http://schemas.microsoft.com/office/drawing/2014/main" id="{37B03066-B368-CF7E-8DAC-143DD75008A7}"/>
                    </a:ext>
                  </a:extLst>
                </p:cNvPr>
                <p:cNvSpPr/>
                <p:nvPr/>
              </p:nvSpPr>
              <p:spPr>
                <a:xfrm>
                  <a:off x="2797180" y="5729599"/>
                  <a:ext cx="114688" cy="142766"/>
                </a:xfrm>
                <a:prstGeom prst="rect">
                  <a:avLst/>
                </a:prstGeom>
                <a:blipFill>
                  <a:blip r:embed="rId3" cstate="print"/>
                  <a:stretch>
                    <a:fillRect/>
                  </a:stretch>
                </a:blipFill>
              </p:spPr>
              <p:txBody>
                <a:bodyPr wrap="square" lIns="0" tIns="0" rIns="0" bIns="0" rtlCol="0"/>
                <a:lstStyle/>
                <a:p>
                  <a:endParaRPr/>
                </a:p>
              </p:txBody>
            </p:sp>
          </p:grpSp>
          <p:grpSp>
            <p:nvGrpSpPr>
              <p:cNvPr id="29" name="object 6">
                <a:extLst>
                  <a:ext uri="{FF2B5EF4-FFF2-40B4-BE49-F238E27FC236}">
                    <a16:creationId xmlns:a16="http://schemas.microsoft.com/office/drawing/2014/main" id="{8055B6F1-655A-1B48-23CB-F770BD9C302D}"/>
                  </a:ext>
                </a:extLst>
              </p:cNvPr>
              <p:cNvGrpSpPr/>
              <p:nvPr/>
            </p:nvGrpSpPr>
            <p:grpSpPr>
              <a:xfrm>
                <a:off x="1276131" y="5935075"/>
                <a:ext cx="447040" cy="307340"/>
                <a:chOff x="1276131" y="5935075"/>
                <a:chExt cx="447040" cy="307340"/>
              </a:xfrm>
            </p:grpSpPr>
            <p:sp>
              <p:nvSpPr>
                <p:cNvPr id="47" name="object 7">
                  <a:extLst>
                    <a:ext uri="{FF2B5EF4-FFF2-40B4-BE49-F238E27FC236}">
                      <a16:creationId xmlns:a16="http://schemas.microsoft.com/office/drawing/2014/main" id="{1E6B2C1D-AF80-6114-649B-3F265887CB36}"/>
                    </a:ext>
                  </a:extLst>
                </p:cNvPr>
                <p:cNvSpPr/>
                <p:nvPr/>
              </p:nvSpPr>
              <p:spPr>
                <a:xfrm>
                  <a:off x="1276131" y="5935075"/>
                  <a:ext cx="50165" cy="302895"/>
                </a:xfrm>
                <a:custGeom>
                  <a:avLst/>
                  <a:gdLst/>
                  <a:ahLst/>
                  <a:cxnLst/>
                  <a:rect l="l" t="t" r="r" b="b"/>
                  <a:pathLst>
                    <a:path w="50165" h="302895">
                      <a:moveTo>
                        <a:pt x="49938" y="0"/>
                      </a:moveTo>
                      <a:lnTo>
                        <a:pt x="0" y="0"/>
                      </a:lnTo>
                      <a:lnTo>
                        <a:pt x="0" y="302878"/>
                      </a:lnTo>
                      <a:lnTo>
                        <a:pt x="49938" y="302878"/>
                      </a:lnTo>
                      <a:lnTo>
                        <a:pt x="49938" y="0"/>
                      </a:lnTo>
                      <a:close/>
                    </a:path>
                  </a:pathLst>
                </a:custGeom>
                <a:solidFill>
                  <a:srgbClr val="000000"/>
                </a:solidFill>
              </p:spPr>
              <p:txBody>
                <a:bodyPr wrap="square" lIns="0" tIns="0" rIns="0" bIns="0" rtlCol="0"/>
                <a:lstStyle/>
                <a:p>
                  <a:endParaRPr/>
                </a:p>
              </p:txBody>
            </p:sp>
            <p:sp>
              <p:nvSpPr>
                <p:cNvPr id="48" name="object 8">
                  <a:extLst>
                    <a:ext uri="{FF2B5EF4-FFF2-40B4-BE49-F238E27FC236}">
                      <a16:creationId xmlns:a16="http://schemas.microsoft.com/office/drawing/2014/main" id="{96984A10-8DA8-9D07-AEC7-A753C7168465}"/>
                    </a:ext>
                  </a:extLst>
                </p:cNvPr>
                <p:cNvSpPr/>
                <p:nvPr/>
              </p:nvSpPr>
              <p:spPr>
                <a:xfrm>
                  <a:off x="1369255" y="6017801"/>
                  <a:ext cx="183558" cy="224157"/>
                </a:xfrm>
                <a:prstGeom prst="rect">
                  <a:avLst/>
                </a:prstGeom>
                <a:blipFill>
                  <a:blip r:embed="rId4" cstate="print"/>
                  <a:stretch>
                    <a:fillRect/>
                  </a:stretch>
                </a:blipFill>
              </p:spPr>
              <p:txBody>
                <a:bodyPr wrap="square" lIns="0" tIns="0" rIns="0" bIns="0" rtlCol="0"/>
                <a:lstStyle/>
                <a:p>
                  <a:endParaRPr/>
                </a:p>
              </p:txBody>
            </p:sp>
            <p:sp>
              <p:nvSpPr>
                <p:cNvPr id="49" name="object 9">
                  <a:extLst>
                    <a:ext uri="{FF2B5EF4-FFF2-40B4-BE49-F238E27FC236}">
                      <a16:creationId xmlns:a16="http://schemas.microsoft.com/office/drawing/2014/main" id="{9B71D043-B96B-B224-9BB6-CA4B054E9532}"/>
                    </a:ext>
                  </a:extLst>
                </p:cNvPr>
                <p:cNvSpPr/>
                <p:nvPr/>
              </p:nvSpPr>
              <p:spPr>
                <a:xfrm>
                  <a:off x="1583855" y="6020117"/>
                  <a:ext cx="139033" cy="220840"/>
                </a:xfrm>
                <a:prstGeom prst="rect">
                  <a:avLst/>
                </a:prstGeom>
                <a:blipFill>
                  <a:blip r:embed="rId5" cstate="print"/>
                  <a:stretch>
                    <a:fillRect/>
                  </a:stretch>
                </a:blipFill>
              </p:spPr>
              <p:txBody>
                <a:bodyPr wrap="square" lIns="0" tIns="0" rIns="0" bIns="0" rtlCol="0"/>
                <a:lstStyle/>
                <a:p>
                  <a:endParaRPr/>
                </a:p>
              </p:txBody>
            </p:sp>
          </p:grpSp>
          <p:grpSp>
            <p:nvGrpSpPr>
              <p:cNvPr id="30" name="object 10">
                <a:extLst>
                  <a:ext uri="{FF2B5EF4-FFF2-40B4-BE49-F238E27FC236}">
                    <a16:creationId xmlns:a16="http://schemas.microsoft.com/office/drawing/2014/main" id="{E14E8B04-C393-6567-E69C-86F7F31F05BA}"/>
                  </a:ext>
                </a:extLst>
              </p:cNvPr>
              <p:cNvGrpSpPr/>
              <p:nvPr/>
            </p:nvGrpSpPr>
            <p:grpSpPr>
              <a:xfrm>
                <a:off x="1834876" y="5937745"/>
                <a:ext cx="456565" cy="300355"/>
                <a:chOff x="1834876" y="5937745"/>
                <a:chExt cx="456565" cy="300355"/>
              </a:xfrm>
            </p:grpSpPr>
            <p:sp>
              <p:nvSpPr>
                <p:cNvPr id="45" name="object 11">
                  <a:extLst>
                    <a:ext uri="{FF2B5EF4-FFF2-40B4-BE49-F238E27FC236}">
                      <a16:creationId xmlns:a16="http://schemas.microsoft.com/office/drawing/2014/main" id="{8B79C24A-9853-51E0-CFB9-82A1BF6257D4}"/>
                    </a:ext>
                  </a:extLst>
                </p:cNvPr>
                <p:cNvSpPr/>
                <p:nvPr/>
              </p:nvSpPr>
              <p:spPr>
                <a:xfrm>
                  <a:off x="1834876" y="5937745"/>
                  <a:ext cx="252729" cy="300355"/>
                </a:xfrm>
                <a:custGeom>
                  <a:avLst/>
                  <a:gdLst/>
                  <a:ahLst/>
                  <a:cxnLst/>
                  <a:rect l="l" t="t" r="r" b="b"/>
                  <a:pathLst>
                    <a:path w="252730" h="300354">
                      <a:moveTo>
                        <a:pt x="152505" y="0"/>
                      </a:moveTo>
                      <a:lnTo>
                        <a:pt x="99832" y="0"/>
                      </a:lnTo>
                      <a:lnTo>
                        <a:pt x="0" y="300208"/>
                      </a:lnTo>
                      <a:lnTo>
                        <a:pt x="49972" y="300208"/>
                      </a:lnTo>
                      <a:lnTo>
                        <a:pt x="74283" y="222822"/>
                      </a:lnTo>
                      <a:lnTo>
                        <a:pt x="226603" y="222822"/>
                      </a:lnTo>
                      <a:lnTo>
                        <a:pt x="215954" y="190799"/>
                      </a:lnTo>
                      <a:lnTo>
                        <a:pt x="82386" y="190799"/>
                      </a:lnTo>
                      <a:lnTo>
                        <a:pt x="116039" y="85397"/>
                      </a:lnTo>
                      <a:lnTo>
                        <a:pt x="118824" y="74137"/>
                      </a:lnTo>
                      <a:lnTo>
                        <a:pt x="121104" y="64378"/>
                      </a:lnTo>
                      <a:lnTo>
                        <a:pt x="122876" y="56121"/>
                      </a:lnTo>
                      <a:lnTo>
                        <a:pt x="124142" y="49368"/>
                      </a:lnTo>
                      <a:lnTo>
                        <a:pt x="168922" y="49368"/>
                      </a:lnTo>
                      <a:lnTo>
                        <a:pt x="152505" y="0"/>
                      </a:lnTo>
                      <a:close/>
                    </a:path>
                    <a:path w="252730" h="300354">
                      <a:moveTo>
                        <a:pt x="226603" y="222822"/>
                      </a:moveTo>
                      <a:lnTo>
                        <a:pt x="171413" y="222822"/>
                      </a:lnTo>
                      <a:lnTo>
                        <a:pt x="194374" y="300208"/>
                      </a:lnTo>
                      <a:lnTo>
                        <a:pt x="252337" y="300208"/>
                      </a:lnTo>
                      <a:lnTo>
                        <a:pt x="226603" y="222822"/>
                      </a:lnTo>
                      <a:close/>
                    </a:path>
                    <a:path w="252730" h="300354">
                      <a:moveTo>
                        <a:pt x="168922" y="49368"/>
                      </a:moveTo>
                      <a:lnTo>
                        <a:pt x="125493" y="49368"/>
                      </a:lnTo>
                      <a:lnTo>
                        <a:pt x="126759" y="56872"/>
                      </a:lnTo>
                      <a:lnTo>
                        <a:pt x="128532" y="65380"/>
                      </a:lnTo>
                      <a:lnTo>
                        <a:pt x="130811" y="74888"/>
                      </a:lnTo>
                      <a:lnTo>
                        <a:pt x="133597" y="85397"/>
                      </a:lnTo>
                      <a:lnTo>
                        <a:pt x="164660" y="190799"/>
                      </a:lnTo>
                      <a:lnTo>
                        <a:pt x="215954" y="190799"/>
                      </a:lnTo>
                      <a:lnTo>
                        <a:pt x="168922" y="49368"/>
                      </a:lnTo>
                      <a:close/>
                    </a:path>
                  </a:pathLst>
                </a:custGeom>
                <a:solidFill>
                  <a:srgbClr val="000000"/>
                </a:solidFill>
              </p:spPr>
              <p:txBody>
                <a:bodyPr wrap="square" lIns="0" tIns="0" rIns="0" bIns="0" rtlCol="0"/>
                <a:lstStyle/>
                <a:p>
                  <a:endParaRPr/>
                </a:p>
              </p:txBody>
            </p:sp>
            <p:sp>
              <p:nvSpPr>
                <p:cNvPr id="46" name="object 12">
                  <a:extLst>
                    <a:ext uri="{FF2B5EF4-FFF2-40B4-BE49-F238E27FC236}">
                      <a16:creationId xmlns:a16="http://schemas.microsoft.com/office/drawing/2014/main" id="{7A092036-F361-990D-F531-4D243FA3D3A5}"/>
                    </a:ext>
                  </a:extLst>
                </p:cNvPr>
                <p:cNvSpPr/>
                <p:nvPr/>
              </p:nvSpPr>
              <p:spPr>
                <a:xfrm>
                  <a:off x="2119628" y="6017801"/>
                  <a:ext cx="171414" cy="220151"/>
                </a:xfrm>
                <a:prstGeom prst="rect">
                  <a:avLst/>
                </a:prstGeom>
                <a:blipFill>
                  <a:blip r:embed="rId6" cstate="print"/>
                  <a:stretch>
                    <a:fillRect/>
                  </a:stretch>
                </a:blipFill>
              </p:spPr>
              <p:txBody>
                <a:bodyPr wrap="square" lIns="0" tIns="0" rIns="0" bIns="0" rtlCol="0"/>
                <a:lstStyle/>
                <a:p>
                  <a:endParaRPr/>
                </a:p>
              </p:txBody>
            </p:sp>
          </p:grpSp>
          <p:grpSp>
            <p:nvGrpSpPr>
              <p:cNvPr id="31" name="object 13">
                <a:extLst>
                  <a:ext uri="{FF2B5EF4-FFF2-40B4-BE49-F238E27FC236}">
                    <a16:creationId xmlns:a16="http://schemas.microsoft.com/office/drawing/2014/main" id="{A3E6DFB8-A1A9-75AE-309D-514347AD7FC1}"/>
                  </a:ext>
                </a:extLst>
              </p:cNvPr>
              <p:cNvGrpSpPr/>
              <p:nvPr/>
            </p:nvGrpSpPr>
            <p:grpSpPr>
              <a:xfrm>
                <a:off x="2335612" y="5937745"/>
                <a:ext cx="574040" cy="306070"/>
                <a:chOff x="2335612" y="5937745"/>
                <a:chExt cx="574040" cy="306070"/>
              </a:xfrm>
            </p:grpSpPr>
            <p:sp>
              <p:nvSpPr>
                <p:cNvPr id="42" name="object 14">
                  <a:extLst>
                    <a:ext uri="{FF2B5EF4-FFF2-40B4-BE49-F238E27FC236}">
                      <a16:creationId xmlns:a16="http://schemas.microsoft.com/office/drawing/2014/main" id="{2E316813-13CA-7760-49E4-114AC65F2639}"/>
                    </a:ext>
                  </a:extLst>
                </p:cNvPr>
                <p:cNvSpPr/>
                <p:nvPr/>
              </p:nvSpPr>
              <p:spPr>
                <a:xfrm>
                  <a:off x="2335612" y="5937745"/>
                  <a:ext cx="179705" cy="306070"/>
                </a:xfrm>
                <a:custGeom>
                  <a:avLst/>
                  <a:gdLst/>
                  <a:ahLst/>
                  <a:cxnLst/>
                  <a:rect l="l" t="t" r="r" b="b"/>
                  <a:pathLst>
                    <a:path w="179705" h="306070">
                      <a:moveTo>
                        <a:pt x="95780" y="84061"/>
                      </a:moveTo>
                      <a:lnTo>
                        <a:pt x="57344" y="91231"/>
                      </a:lnTo>
                      <a:lnTo>
                        <a:pt x="15384" y="129905"/>
                      </a:lnTo>
                      <a:lnTo>
                        <a:pt x="1751" y="171393"/>
                      </a:lnTo>
                      <a:lnTo>
                        <a:pt x="0" y="196140"/>
                      </a:lnTo>
                      <a:lnTo>
                        <a:pt x="1751" y="220090"/>
                      </a:lnTo>
                      <a:lnTo>
                        <a:pt x="15384" y="260491"/>
                      </a:lnTo>
                      <a:lnTo>
                        <a:pt x="42230" y="289218"/>
                      </a:lnTo>
                      <a:lnTo>
                        <a:pt x="79717" y="303775"/>
                      </a:lnTo>
                      <a:lnTo>
                        <a:pt x="102533" y="305548"/>
                      </a:lnTo>
                      <a:lnTo>
                        <a:pt x="125577" y="304547"/>
                      </a:lnTo>
                      <a:lnTo>
                        <a:pt x="146090" y="301544"/>
                      </a:lnTo>
                      <a:lnTo>
                        <a:pt x="164070" y="296541"/>
                      </a:lnTo>
                      <a:lnTo>
                        <a:pt x="179517" y="289537"/>
                      </a:lnTo>
                      <a:lnTo>
                        <a:pt x="178167" y="289537"/>
                      </a:lnTo>
                      <a:lnTo>
                        <a:pt x="178167" y="274861"/>
                      </a:lnTo>
                      <a:lnTo>
                        <a:pt x="103883" y="274861"/>
                      </a:lnTo>
                      <a:lnTo>
                        <a:pt x="63253" y="254177"/>
                      </a:lnTo>
                      <a:lnTo>
                        <a:pt x="49972" y="193470"/>
                      </a:lnTo>
                      <a:lnTo>
                        <a:pt x="53711" y="157463"/>
                      </a:lnTo>
                      <a:lnTo>
                        <a:pt x="64772" y="131590"/>
                      </a:lnTo>
                      <a:lnTo>
                        <a:pt x="82924" y="115976"/>
                      </a:lnTo>
                      <a:lnTo>
                        <a:pt x="107935" y="110743"/>
                      </a:lnTo>
                      <a:lnTo>
                        <a:pt x="178167" y="110743"/>
                      </a:lnTo>
                      <a:lnTo>
                        <a:pt x="178167" y="88056"/>
                      </a:lnTo>
                      <a:lnTo>
                        <a:pt x="128194" y="88056"/>
                      </a:lnTo>
                      <a:lnTo>
                        <a:pt x="121420" y="86310"/>
                      </a:lnTo>
                      <a:lnTo>
                        <a:pt x="113506" y="85061"/>
                      </a:lnTo>
                      <a:lnTo>
                        <a:pt x="104833" y="84312"/>
                      </a:lnTo>
                      <a:lnTo>
                        <a:pt x="95780" y="84061"/>
                      </a:lnTo>
                      <a:close/>
                    </a:path>
                    <a:path w="179705" h="306070">
                      <a:moveTo>
                        <a:pt x="178167" y="110743"/>
                      </a:moveTo>
                      <a:lnTo>
                        <a:pt x="116039" y="110743"/>
                      </a:lnTo>
                      <a:lnTo>
                        <a:pt x="129545" y="113413"/>
                      </a:lnTo>
                      <a:lnTo>
                        <a:pt x="129545" y="268185"/>
                      </a:lnTo>
                      <a:lnTo>
                        <a:pt x="124965" y="270730"/>
                      </a:lnTo>
                      <a:lnTo>
                        <a:pt x="119246" y="272525"/>
                      </a:lnTo>
                      <a:lnTo>
                        <a:pt x="112261" y="273818"/>
                      </a:lnTo>
                      <a:lnTo>
                        <a:pt x="103883" y="274861"/>
                      </a:lnTo>
                      <a:lnTo>
                        <a:pt x="178167" y="274861"/>
                      </a:lnTo>
                      <a:lnTo>
                        <a:pt x="178167" y="110743"/>
                      </a:lnTo>
                      <a:close/>
                    </a:path>
                    <a:path w="179705" h="306070">
                      <a:moveTo>
                        <a:pt x="178166" y="0"/>
                      </a:moveTo>
                      <a:lnTo>
                        <a:pt x="128194" y="0"/>
                      </a:lnTo>
                      <a:lnTo>
                        <a:pt x="128194" y="88056"/>
                      </a:lnTo>
                      <a:lnTo>
                        <a:pt x="178167" y="88056"/>
                      </a:lnTo>
                      <a:lnTo>
                        <a:pt x="178166" y="0"/>
                      </a:lnTo>
                      <a:close/>
                    </a:path>
                  </a:pathLst>
                </a:custGeom>
                <a:solidFill>
                  <a:srgbClr val="000000"/>
                </a:solidFill>
              </p:spPr>
              <p:txBody>
                <a:bodyPr wrap="square" lIns="0" tIns="0" rIns="0" bIns="0" rtlCol="0"/>
                <a:lstStyle/>
                <a:p>
                  <a:endParaRPr/>
                </a:p>
              </p:txBody>
            </p:sp>
            <p:sp>
              <p:nvSpPr>
                <p:cNvPr id="43" name="object 15">
                  <a:extLst>
                    <a:ext uri="{FF2B5EF4-FFF2-40B4-BE49-F238E27FC236}">
                      <a16:creationId xmlns:a16="http://schemas.microsoft.com/office/drawing/2014/main" id="{B0BD8276-4B91-E0FE-B37F-41DD74132465}"/>
                    </a:ext>
                  </a:extLst>
                </p:cNvPr>
                <p:cNvSpPr/>
                <p:nvPr/>
              </p:nvSpPr>
              <p:spPr>
                <a:xfrm>
                  <a:off x="2558326" y="6015131"/>
                  <a:ext cx="180778" cy="225492"/>
                </a:xfrm>
                <a:prstGeom prst="rect">
                  <a:avLst/>
                </a:prstGeom>
                <a:blipFill>
                  <a:blip r:embed="rId7" cstate="print"/>
                  <a:stretch>
                    <a:fillRect/>
                  </a:stretch>
                </a:blipFill>
              </p:spPr>
              <p:txBody>
                <a:bodyPr wrap="square" lIns="0" tIns="0" rIns="0" bIns="0" rtlCol="0"/>
                <a:lstStyle/>
                <a:p>
                  <a:endParaRPr/>
                </a:p>
              </p:txBody>
            </p:sp>
            <p:sp>
              <p:nvSpPr>
                <p:cNvPr id="44" name="object 16">
                  <a:extLst>
                    <a:ext uri="{FF2B5EF4-FFF2-40B4-BE49-F238E27FC236}">
                      <a16:creationId xmlns:a16="http://schemas.microsoft.com/office/drawing/2014/main" id="{574D7D35-968A-DE50-111B-2A9FAE73A143}"/>
                    </a:ext>
                  </a:extLst>
                </p:cNvPr>
                <p:cNvSpPr/>
                <p:nvPr/>
              </p:nvSpPr>
              <p:spPr>
                <a:xfrm>
                  <a:off x="2770168" y="6020117"/>
                  <a:ext cx="138999" cy="220840"/>
                </a:xfrm>
                <a:prstGeom prst="rect">
                  <a:avLst/>
                </a:prstGeom>
                <a:blipFill>
                  <a:blip r:embed="rId8" cstate="print"/>
                  <a:stretch>
                    <a:fillRect/>
                  </a:stretch>
                </a:blipFill>
              </p:spPr>
              <p:txBody>
                <a:bodyPr wrap="square" lIns="0" tIns="0" rIns="0" bIns="0" rtlCol="0"/>
                <a:lstStyle/>
                <a:p>
                  <a:endParaRPr/>
                </a:p>
              </p:txBody>
            </p:sp>
          </p:grpSp>
          <p:grpSp>
            <p:nvGrpSpPr>
              <p:cNvPr id="32" name="object 17">
                <a:extLst>
                  <a:ext uri="{FF2B5EF4-FFF2-40B4-BE49-F238E27FC236}">
                    <a16:creationId xmlns:a16="http://schemas.microsoft.com/office/drawing/2014/main" id="{0D85C58B-017E-9D96-E785-738B83A32F02}"/>
                  </a:ext>
                </a:extLst>
              </p:cNvPr>
              <p:cNvGrpSpPr/>
              <p:nvPr/>
            </p:nvGrpSpPr>
            <p:grpSpPr>
              <a:xfrm>
                <a:off x="1274781" y="5678906"/>
                <a:ext cx="1281430" cy="194945"/>
                <a:chOff x="1274781" y="5678906"/>
                <a:chExt cx="1281430" cy="194945"/>
              </a:xfrm>
            </p:grpSpPr>
            <p:sp>
              <p:nvSpPr>
                <p:cNvPr id="33" name="object 18">
                  <a:extLst>
                    <a:ext uri="{FF2B5EF4-FFF2-40B4-BE49-F238E27FC236}">
                      <a16:creationId xmlns:a16="http://schemas.microsoft.com/office/drawing/2014/main" id="{273CC5C8-C1BD-915D-B9CE-A493D7B33773}"/>
                    </a:ext>
                  </a:extLst>
                </p:cNvPr>
                <p:cNvSpPr/>
                <p:nvPr/>
              </p:nvSpPr>
              <p:spPr>
                <a:xfrm>
                  <a:off x="1427286" y="5729599"/>
                  <a:ext cx="109331" cy="141430"/>
                </a:xfrm>
                <a:prstGeom prst="rect">
                  <a:avLst/>
                </a:prstGeom>
                <a:blipFill>
                  <a:blip r:embed="rId9" cstate="print"/>
                  <a:stretch>
                    <a:fillRect/>
                  </a:stretch>
                </a:blipFill>
              </p:spPr>
              <p:txBody>
                <a:bodyPr wrap="square" lIns="0" tIns="0" rIns="0" bIns="0" rtlCol="0"/>
                <a:lstStyle/>
                <a:p>
                  <a:endParaRPr/>
                </a:p>
              </p:txBody>
            </p:sp>
            <p:sp>
              <p:nvSpPr>
                <p:cNvPr id="34" name="object 19">
                  <a:extLst>
                    <a:ext uri="{FF2B5EF4-FFF2-40B4-BE49-F238E27FC236}">
                      <a16:creationId xmlns:a16="http://schemas.microsoft.com/office/drawing/2014/main" id="{49F76CF4-4791-CB81-F035-3E063B0B47F1}"/>
                    </a:ext>
                  </a:extLst>
                </p:cNvPr>
                <p:cNvSpPr/>
                <p:nvPr/>
              </p:nvSpPr>
              <p:spPr>
                <a:xfrm>
                  <a:off x="1569010" y="5678906"/>
                  <a:ext cx="35560" cy="192405"/>
                </a:xfrm>
                <a:custGeom>
                  <a:avLst/>
                  <a:gdLst/>
                  <a:ahLst/>
                  <a:cxnLst/>
                  <a:rect l="l" t="t" r="r" b="b"/>
                  <a:pathLst>
                    <a:path w="35559" h="192404">
                      <a:moveTo>
                        <a:pt x="33731" y="53363"/>
                      </a:moveTo>
                      <a:lnTo>
                        <a:pt x="2689" y="53363"/>
                      </a:lnTo>
                      <a:lnTo>
                        <a:pt x="2689" y="192123"/>
                      </a:lnTo>
                      <a:lnTo>
                        <a:pt x="33731" y="192123"/>
                      </a:lnTo>
                      <a:lnTo>
                        <a:pt x="33731" y="53363"/>
                      </a:lnTo>
                      <a:close/>
                    </a:path>
                    <a:path w="35559" h="192404">
                      <a:moveTo>
                        <a:pt x="22937" y="0"/>
                      </a:moveTo>
                      <a:lnTo>
                        <a:pt x="13494" y="0"/>
                      </a:lnTo>
                      <a:lnTo>
                        <a:pt x="9442" y="1335"/>
                      </a:lnTo>
                      <a:lnTo>
                        <a:pt x="1339" y="6664"/>
                      </a:lnTo>
                      <a:lnTo>
                        <a:pt x="0" y="10670"/>
                      </a:lnTo>
                      <a:lnTo>
                        <a:pt x="0" y="18670"/>
                      </a:lnTo>
                      <a:lnTo>
                        <a:pt x="2689" y="22676"/>
                      </a:lnTo>
                      <a:lnTo>
                        <a:pt x="8092" y="28016"/>
                      </a:lnTo>
                      <a:lnTo>
                        <a:pt x="12144" y="29352"/>
                      </a:lnTo>
                      <a:lnTo>
                        <a:pt x="21587" y="29352"/>
                      </a:lnTo>
                      <a:lnTo>
                        <a:pt x="26989" y="28016"/>
                      </a:lnTo>
                      <a:lnTo>
                        <a:pt x="29690" y="25346"/>
                      </a:lnTo>
                      <a:lnTo>
                        <a:pt x="33731" y="22676"/>
                      </a:lnTo>
                      <a:lnTo>
                        <a:pt x="35081" y="18670"/>
                      </a:lnTo>
                      <a:lnTo>
                        <a:pt x="35081" y="10670"/>
                      </a:lnTo>
                      <a:lnTo>
                        <a:pt x="33731" y="6664"/>
                      </a:lnTo>
                      <a:lnTo>
                        <a:pt x="29690" y="3994"/>
                      </a:lnTo>
                      <a:lnTo>
                        <a:pt x="26989" y="1335"/>
                      </a:lnTo>
                      <a:lnTo>
                        <a:pt x="22937" y="0"/>
                      </a:lnTo>
                      <a:close/>
                    </a:path>
                  </a:pathLst>
                </a:custGeom>
                <a:solidFill>
                  <a:srgbClr val="000000"/>
                </a:solidFill>
              </p:spPr>
              <p:txBody>
                <a:bodyPr wrap="square" lIns="0" tIns="0" rIns="0" bIns="0" rtlCol="0"/>
                <a:lstStyle/>
                <a:p>
                  <a:endParaRPr/>
                </a:p>
              </p:txBody>
            </p:sp>
            <p:sp>
              <p:nvSpPr>
                <p:cNvPr id="35" name="object 20">
                  <a:extLst>
                    <a:ext uri="{FF2B5EF4-FFF2-40B4-BE49-F238E27FC236}">
                      <a16:creationId xmlns:a16="http://schemas.microsoft.com/office/drawing/2014/main" id="{625F8427-4010-9AB3-3F95-67929D1B66EC}"/>
                    </a:ext>
                  </a:extLst>
                </p:cNvPr>
                <p:cNvSpPr/>
                <p:nvPr/>
              </p:nvSpPr>
              <p:spPr>
                <a:xfrm>
                  <a:off x="1625690" y="5729599"/>
                  <a:ext cx="252405" cy="142766"/>
                </a:xfrm>
                <a:prstGeom prst="rect">
                  <a:avLst/>
                </a:prstGeom>
                <a:blipFill>
                  <a:blip r:embed="rId10" cstate="print"/>
                  <a:stretch>
                    <a:fillRect/>
                  </a:stretch>
                </a:blipFill>
              </p:spPr>
              <p:txBody>
                <a:bodyPr wrap="square" lIns="0" tIns="0" rIns="0" bIns="0" rtlCol="0"/>
                <a:lstStyle/>
                <a:p>
                  <a:endParaRPr/>
                </a:p>
              </p:txBody>
            </p:sp>
            <p:sp>
              <p:nvSpPr>
                <p:cNvPr id="36" name="object 21">
                  <a:extLst>
                    <a:ext uri="{FF2B5EF4-FFF2-40B4-BE49-F238E27FC236}">
                      <a16:creationId xmlns:a16="http://schemas.microsoft.com/office/drawing/2014/main" id="{EB422C09-DCAB-F1AC-4923-632A6A80A4C3}"/>
                    </a:ext>
                  </a:extLst>
                </p:cNvPr>
                <p:cNvSpPr/>
                <p:nvPr/>
              </p:nvSpPr>
              <p:spPr>
                <a:xfrm>
                  <a:off x="1907808" y="5729599"/>
                  <a:ext cx="167362" cy="142766"/>
                </a:xfrm>
                <a:prstGeom prst="rect">
                  <a:avLst/>
                </a:prstGeom>
                <a:blipFill>
                  <a:blip r:embed="rId11" cstate="print"/>
                  <a:stretch>
                    <a:fillRect/>
                  </a:stretch>
                </a:blipFill>
              </p:spPr>
              <p:txBody>
                <a:bodyPr wrap="square" lIns="0" tIns="0" rIns="0" bIns="0" rtlCol="0"/>
                <a:lstStyle/>
                <a:p>
                  <a:endParaRPr/>
                </a:p>
              </p:txBody>
            </p:sp>
            <p:sp>
              <p:nvSpPr>
                <p:cNvPr id="37" name="object 22">
                  <a:extLst>
                    <a:ext uri="{FF2B5EF4-FFF2-40B4-BE49-F238E27FC236}">
                      <a16:creationId xmlns:a16="http://schemas.microsoft.com/office/drawing/2014/main" id="{F4479D9D-6A0D-5737-3437-F86833B3D387}"/>
                    </a:ext>
                  </a:extLst>
                </p:cNvPr>
                <p:cNvSpPr/>
                <p:nvPr/>
              </p:nvSpPr>
              <p:spPr>
                <a:xfrm>
                  <a:off x="2102070" y="5678906"/>
                  <a:ext cx="35560" cy="192405"/>
                </a:xfrm>
                <a:custGeom>
                  <a:avLst/>
                  <a:gdLst/>
                  <a:ahLst/>
                  <a:cxnLst/>
                  <a:rect l="l" t="t" r="r" b="b"/>
                  <a:pathLst>
                    <a:path w="35560" h="192404">
                      <a:moveTo>
                        <a:pt x="32414" y="53363"/>
                      </a:moveTo>
                      <a:lnTo>
                        <a:pt x="1350" y="53363"/>
                      </a:lnTo>
                      <a:lnTo>
                        <a:pt x="1350" y="192123"/>
                      </a:lnTo>
                      <a:lnTo>
                        <a:pt x="32414" y="192123"/>
                      </a:lnTo>
                      <a:lnTo>
                        <a:pt x="32414" y="53363"/>
                      </a:lnTo>
                      <a:close/>
                    </a:path>
                    <a:path w="35560" h="192404">
                      <a:moveTo>
                        <a:pt x="22960" y="0"/>
                      </a:moveTo>
                      <a:lnTo>
                        <a:pt x="13506" y="0"/>
                      </a:lnTo>
                      <a:lnTo>
                        <a:pt x="8103" y="1335"/>
                      </a:lnTo>
                      <a:lnTo>
                        <a:pt x="5402" y="3994"/>
                      </a:lnTo>
                      <a:lnTo>
                        <a:pt x="1350" y="6664"/>
                      </a:lnTo>
                      <a:lnTo>
                        <a:pt x="0" y="10670"/>
                      </a:lnTo>
                      <a:lnTo>
                        <a:pt x="0" y="18670"/>
                      </a:lnTo>
                      <a:lnTo>
                        <a:pt x="2701" y="22676"/>
                      </a:lnTo>
                      <a:lnTo>
                        <a:pt x="8103" y="28016"/>
                      </a:lnTo>
                      <a:lnTo>
                        <a:pt x="12155" y="29352"/>
                      </a:lnTo>
                      <a:lnTo>
                        <a:pt x="21609" y="29352"/>
                      </a:lnTo>
                      <a:lnTo>
                        <a:pt x="27012" y="28016"/>
                      </a:lnTo>
                      <a:lnTo>
                        <a:pt x="29713" y="25346"/>
                      </a:lnTo>
                      <a:lnTo>
                        <a:pt x="33765" y="22676"/>
                      </a:lnTo>
                      <a:lnTo>
                        <a:pt x="35115" y="18670"/>
                      </a:lnTo>
                      <a:lnTo>
                        <a:pt x="35115" y="10670"/>
                      </a:lnTo>
                      <a:lnTo>
                        <a:pt x="32414" y="6664"/>
                      </a:lnTo>
                      <a:lnTo>
                        <a:pt x="27012" y="1335"/>
                      </a:lnTo>
                      <a:lnTo>
                        <a:pt x="22960" y="0"/>
                      </a:lnTo>
                      <a:close/>
                    </a:path>
                  </a:pathLst>
                </a:custGeom>
                <a:solidFill>
                  <a:srgbClr val="000000"/>
                </a:solidFill>
              </p:spPr>
              <p:txBody>
                <a:bodyPr wrap="square" lIns="0" tIns="0" rIns="0" bIns="0" rtlCol="0"/>
                <a:lstStyle/>
                <a:p>
                  <a:endParaRPr/>
                </a:p>
              </p:txBody>
            </p:sp>
            <p:sp>
              <p:nvSpPr>
                <p:cNvPr id="38" name="object 23">
                  <a:extLst>
                    <a:ext uri="{FF2B5EF4-FFF2-40B4-BE49-F238E27FC236}">
                      <a16:creationId xmlns:a16="http://schemas.microsoft.com/office/drawing/2014/main" id="{EA164A16-5D45-239D-F516-6D4C8523F292}"/>
                    </a:ext>
                  </a:extLst>
                </p:cNvPr>
                <p:cNvSpPr/>
                <p:nvPr/>
              </p:nvSpPr>
              <p:spPr>
                <a:xfrm>
                  <a:off x="2165548" y="5678906"/>
                  <a:ext cx="114688" cy="194794"/>
                </a:xfrm>
                <a:prstGeom prst="rect">
                  <a:avLst/>
                </a:prstGeom>
                <a:blipFill>
                  <a:blip r:embed="rId12" cstate="print"/>
                  <a:stretch>
                    <a:fillRect/>
                  </a:stretch>
                </a:blipFill>
              </p:spPr>
              <p:txBody>
                <a:bodyPr wrap="square" lIns="0" tIns="0" rIns="0" bIns="0" rtlCol="0"/>
                <a:lstStyle/>
                <a:p>
                  <a:endParaRPr/>
                </a:p>
              </p:txBody>
            </p:sp>
            <p:sp>
              <p:nvSpPr>
                <p:cNvPr id="39" name="object 24">
                  <a:extLst>
                    <a:ext uri="{FF2B5EF4-FFF2-40B4-BE49-F238E27FC236}">
                      <a16:creationId xmlns:a16="http://schemas.microsoft.com/office/drawing/2014/main" id="{4F347CDC-6A9D-854C-6743-91880408E2FC}"/>
                    </a:ext>
                  </a:extLst>
                </p:cNvPr>
                <p:cNvSpPr/>
                <p:nvPr/>
              </p:nvSpPr>
              <p:spPr>
                <a:xfrm>
                  <a:off x="2305898" y="5729599"/>
                  <a:ext cx="106585" cy="142766"/>
                </a:xfrm>
                <a:prstGeom prst="rect">
                  <a:avLst/>
                </a:prstGeom>
                <a:blipFill>
                  <a:blip r:embed="rId13" cstate="print"/>
                  <a:stretch>
                    <a:fillRect/>
                  </a:stretch>
                </a:blipFill>
              </p:spPr>
              <p:txBody>
                <a:bodyPr wrap="square" lIns="0" tIns="0" rIns="0" bIns="0" rtlCol="0"/>
                <a:lstStyle/>
                <a:p>
                  <a:endParaRPr/>
                </a:p>
              </p:txBody>
            </p:sp>
            <p:sp>
              <p:nvSpPr>
                <p:cNvPr id="40" name="object 25">
                  <a:extLst>
                    <a:ext uri="{FF2B5EF4-FFF2-40B4-BE49-F238E27FC236}">
                      <a16:creationId xmlns:a16="http://schemas.microsoft.com/office/drawing/2014/main" id="{D06F5BE7-B0AA-1D12-7D8B-48D7B313026F}"/>
                    </a:ext>
                  </a:extLst>
                </p:cNvPr>
                <p:cNvSpPr/>
                <p:nvPr/>
              </p:nvSpPr>
              <p:spPr>
                <a:xfrm>
                  <a:off x="2440846" y="5678906"/>
                  <a:ext cx="114801" cy="194794"/>
                </a:xfrm>
                <a:prstGeom prst="rect">
                  <a:avLst/>
                </a:prstGeom>
                <a:blipFill>
                  <a:blip r:embed="rId14" cstate="print"/>
                  <a:stretch>
                    <a:fillRect/>
                  </a:stretch>
                </a:blipFill>
              </p:spPr>
              <p:txBody>
                <a:bodyPr wrap="square" lIns="0" tIns="0" rIns="0" bIns="0" rtlCol="0"/>
                <a:lstStyle/>
                <a:p>
                  <a:endParaRPr/>
                </a:p>
              </p:txBody>
            </p:sp>
            <p:sp>
              <p:nvSpPr>
                <p:cNvPr id="41" name="object 26">
                  <a:extLst>
                    <a:ext uri="{FF2B5EF4-FFF2-40B4-BE49-F238E27FC236}">
                      <a16:creationId xmlns:a16="http://schemas.microsoft.com/office/drawing/2014/main" id="{CD1A724F-D4A1-3130-4288-A87DE18CF5DC}"/>
                    </a:ext>
                  </a:extLst>
                </p:cNvPr>
                <p:cNvSpPr/>
                <p:nvPr/>
              </p:nvSpPr>
              <p:spPr>
                <a:xfrm>
                  <a:off x="1274781" y="5678906"/>
                  <a:ext cx="117423" cy="193459"/>
                </a:xfrm>
                <a:prstGeom prst="rect">
                  <a:avLst/>
                </a:prstGeom>
                <a:blipFill>
                  <a:blip r:embed="rId15" cstate="print"/>
                  <a:stretch>
                    <a:fillRect/>
                  </a:stretch>
                </a:blipFill>
              </p:spPr>
              <p:txBody>
                <a:bodyPr wrap="square" lIns="0" tIns="0" rIns="0" bIns="0" rtlCol="0"/>
                <a:lstStyle/>
                <a:p>
                  <a:endParaRPr/>
                </a:p>
              </p:txBody>
            </p:sp>
          </p:grpSp>
        </p:grpSp>
      </p:grpSp>
      <p:sp>
        <p:nvSpPr>
          <p:cNvPr id="5" name="Rectángulo redondeado 4">
            <a:extLst>
              <a:ext uri="{FF2B5EF4-FFF2-40B4-BE49-F238E27FC236}">
                <a16:creationId xmlns:a16="http://schemas.microsoft.com/office/drawing/2014/main" id="{C56AB353-5062-4745-1E60-B062949E1337}"/>
              </a:ext>
            </a:extLst>
          </p:cNvPr>
          <p:cNvSpPr/>
          <p:nvPr/>
        </p:nvSpPr>
        <p:spPr>
          <a:xfrm>
            <a:off x="2286000" y="1533318"/>
            <a:ext cx="8528212" cy="745722"/>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10496EDD-4615-D3DD-F86B-280D6AF7A96C}"/>
                  </a:ext>
                </a:extLst>
              </p:cNvPr>
              <p:cNvSpPr txBox="1"/>
              <p:nvPr/>
            </p:nvSpPr>
            <p:spPr>
              <a:xfrm>
                <a:off x="3470919" y="2782208"/>
                <a:ext cx="5250161"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s-CO" i="1">
                          <a:latin typeface="Cambria Math" panose="02040503050406030204" pitchFamily="18" charset="0"/>
                        </a:rPr>
                        <m:t>𝑙𝑜𝑔</m:t>
                      </m:r>
                      <m:r>
                        <a:rPr lang="es-CO" i="1">
                          <a:latin typeface="Cambria Math" panose="02040503050406030204" pitchFamily="18" charset="0"/>
                        </a:rPr>
                        <m:t>(</m:t>
                      </m:r>
                      <m:r>
                        <a:rPr lang="es-CO" i="1">
                          <a:latin typeface="Cambria Math" panose="02040503050406030204" pitchFamily="18" charset="0"/>
                        </a:rPr>
                        <m:t>𝑤</m:t>
                      </m:r>
                      <m:r>
                        <a:rPr lang="es-CO" i="1">
                          <a:latin typeface="Cambria Math" panose="02040503050406030204" pitchFamily="18" charset="0"/>
                        </a:rPr>
                        <m:t>)=</m:t>
                      </m:r>
                      <m:r>
                        <a:rPr lang="el-GR" i="1">
                          <a:latin typeface="Cambria Math" panose="02040503050406030204" pitchFamily="18" charset="0"/>
                        </a:rPr>
                        <m:t>𝛽</m:t>
                      </m:r>
                      <m:r>
                        <a:rPr lang="el-GR" i="1">
                          <a:latin typeface="Cambria Math" panose="02040503050406030204" pitchFamily="18" charset="0"/>
                        </a:rPr>
                        <m:t>0​+</m:t>
                      </m:r>
                      <m:r>
                        <a:rPr lang="el-GR" i="1">
                          <a:latin typeface="Cambria Math" panose="02040503050406030204" pitchFamily="18" charset="0"/>
                        </a:rPr>
                        <m:t>𝛽</m:t>
                      </m:r>
                      <m:r>
                        <a:rPr lang="el-GR" i="1">
                          <a:latin typeface="Cambria Math" panose="02040503050406030204" pitchFamily="18" charset="0"/>
                        </a:rPr>
                        <m:t>1​</m:t>
                      </m:r>
                      <m:r>
                        <a:rPr lang="es-CO" i="1">
                          <a:latin typeface="Cambria Math" panose="02040503050406030204" pitchFamily="18" charset="0"/>
                        </a:rPr>
                        <m:t>𝐴𝑔𝑒</m:t>
                      </m:r>
                      <m:r>
                        <a:rPr lang="es-CO" i="1">
                          <a:latin typeface="Cambria Math" panose="02040503050406030204" pitchFamily="18" charset="0"/>
                        </a:rPr>
                        <m:t>+</m:t>
                      </m:r>
                      <m:r>
                        <a:rPr lang="es-CO" i="1">
                          <a:latin typeface="Cambria Math" panose="02040503050406030204" pitchFamily="18" charset="0"/>
                        </a:rPr>
                        <m:t>𝑢</m:t>
                      </m:r>
                    </m:oMath>
                  </m:oMathPara>
                </a14:m>
                <a:endParaRPr lang="es-CO" dirty="0"/>
              </a:p>
            </p:txBody>
          </p:sp>
        </mc:Choice>
        <mc:Fallback>
          <p:sp>
            <p:nvSpPr>
              <p:cNvPr id="13" name="CuadroTexto 12">
                <a:extLst>
                  <a:ext uri="{FF2B5EF4-FFF2-40B4-BE49-F238E27FC236}">
                    <a16:creationId xmlns:a16="http://schemas.microsoft.com/office/drawing/2014/main" id="{10496EDD-4615-D3DD-F86B-280D6AF7A96C}"/>
                  </a:ext>
                </a:extLst>
              </p:cNvPr>
              <p:cNvSpPr txBox="1">
                <a:spLocks noRot="1" noChangeAspect="1" noMove="1" noResize="1" noEditPoints="1" noAdjustHandles="1" noChangeArrowheads="1" noChangeShapeType="1" noTextEdit="1"/>
              </p:cNvSpPr>
              <p:nvPr/>
            </p:nvSpPr>
            <p:spPr>
              <a:xfrm>
                <a:off x="3470919" y="2782208"/>
                <a:ext cx="5250161" cy="276999"/>
              </a:xfrm>
              <a:prstGeom prst="rect">
                <a:avLst/>
              </a:prstGeom>
              <a:blipFill>
                <a:blip r:embed="rId16"/>
                <a:stretch>
                  <a:fillRect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F393D60C-5548-08C1-6C11-87C5E07A4906}"/>
                  </a:ext>
                </a:extLst>
              </p:cNvPr>
              <p:cNvSpPr txBox="1"/>
              <p:nvPr/>
            </p:nvSpPr>
            <p:spPr>
              <a:xfrm>
                <a:off x="4216348" y="3478089"/>
                <a:ext cx="3759299"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CO" i="1" smtClean="0">
                          <a:latin typeface="Cambria Math" panose="02040503050406030204" pitchFamily="18" charset="0"/>
                        </a:rPr>
                        <m:t>𝑙𝑜𝑔</m:t>
                      </m:r>
                      <m:r>
                        <a:rPr lang="es-CO" i="1" smtClean="0">
                          <a:latin typeface="Cambria Math" panose="02040503050406030204" pitchFamily="18" charset="0"/>
                        </a:rPr>
                        <m:t>(</m:t>
                      </m:r>
                      <m:r>
                        <a:rPr lang="es-CO" i="1" smtClean="0">
                          <a:latin typeface="Cambria Math" panose="02040503050406030204" pitchFamily="18" charset="0"/>
                        </a:rPr>
                        <m:t>𝑤</m:t>
                      </m:r>
                      <m:r>
                        <a:rPr lang="es-CO" i="1" smtClean="0">
                          <a:latin typeface="Cambria Math" panose="02040503050406030204" pitchFamily="18" charset="0"/>
                        </a:rPr>
                        <m:t>)=</m:t>
                      </m:r>
                      <m:r>
                        <a:rPr lang="el-GR" i="1">
                          <a:latin typeface="Cambria Math" panose="02040503050406030204" pitchFamily="18" charset="0"/>
                        </a:rPr>
                        <m:t>𝛽</m:t>
                      </m:r>
                      <m:r>
                        <a:rPr lang="el-GR" i="1">
                          <a:latin typeface="Cambria Math" panose="02040503050406030204" pitchFamily="18" charset="0"/>
                        </a:rPr>
                        <m:t>0​+</m:t>
                      </m:r>
                      <m:r>
                        <a:rPr lang="el-GR" i="1">
                          <a:latin typeface="Cambria Math" panose="02040503050406030204" pitchFamily="18" charset="0"/>
                        </a:rPr>
                        <m:t>𝛽</m:t>
                      </m:r>
                      <m:r>
                        <a:rPr lang="el-GR" i="1">
                          <a:latin typeface="Cambria Math" panose="02040503050406030204" pitchFamily="18" charset="0"/>
                        </a:rPr>
                        <m:t>1​</m:t>
                      </m:r>
                      <m:r>
                        <a:rPr lang="es-CO" i="1">
                          <a:latin typeface="Cambria Math" panose="02040503050406030204" pitchFamily="18" charset="0"/>
                        </a:rPr>
                        <m:t>𝐴𝑔𝑒</m:t>
                      </m:r>
                      <m:r>
                        <a:rPr lang="es-CO" i="1">
                          <a:latin typeface="Cambria Math" panose="02040503050406030204" pitchFamily="18" charset="0"/>
                        </a:rPr>
                        <m:t>+</m:t>
                      </m:r>
                      <m:r>
                        <a:rPr lang="el-GR" i="1">
                          <a:latin typeface="Cambria Math" panose="02040503050406030204" pitchFamily="18" charset="0"/>
                        </a:rPr>
                        <m:t>𝛽</m:t>
                      </m:r>
                      <m:r>
                        <a:rPr lang="el-GR" i="1">
                          <a:latin typeface="Cambria Math" panose="02040503050406030204" pitchFamily="18" charset="0"/>
                        </a:rPr>
                        <m:t>2​</m:t>
                      </m:r>
                      <m:sSup>
                        <m:sSupPr>
                          <m:ctrlPr>
                            <a:rPr lang="el-GR" i="1" smtClean="0">
                              <a:latin typeface="Cambria Math" panose="02040503050406030204" pitchFamily="18" charset="0"/>
                            </a:rPr>
                          </m:ctrlPr>
                        </m:sSupPr>
                        <m:e>
                          <m:r>
                            <a:rPr lang="es-419" b="0" i="1" smtClean="0">
                              <a:latin typeface="Cambria Math" panose="02040503050406030204" pitchFamily="18" charset="0"/>
                            </a:rPr>
                            <m:t>𝐴𝑔𝑒</m:t>
                          </m:r>
                        </m:e>
                        <m:sup>
                          <m:r>
                            <a:rPr lang="es-419" b="0" i="1" smtClean="0">
                              <a:latin typeface="Cambria Math" panose="02040503050406030204" pitchFamily="18" charset="0"/>
                            </a:rPr>
                            <m:t>2</m:t>
                          </m:r>
                        </m:sup>
                      </m:sSup>
                      <m:r>
                        <a:rPr lang="es-CO" i="1">
                          <a:latin typeface="Cambria Math" panose="02040503050406030204" pitchFamily="18" charset="0"/>
                        </a:rPr>
                        <m:t>+</m:t>
                      </m:r>
                      <m:r>
                        <a:rPr lang="es-CO" i="1">
                          <a:latin typeface="Cambria Math" panose="02040503050406030204" pitchFamily="18" charset="0"/>
                        </a:rPr>
                        <m:t>𝑢</m:t>
                      </m:r>
                    </m:oMath>
                  </m:oMathPara>
                </a14:m>
                <a:endParaRPr lang="es-CO" dirty="0"/>
              </a:p>
            </p:txBody>
          </p:sp>
        </mc:Choice>
        <mc:Fallback>
          <p:sp>
            <p:nvSpPr>
              <p:cNvPr id="14" name="CuadroTexto 13">
                <a:extLst>
                  <a:ext uri="{FF2B5EF4-FFF2-40B4-BE49-F238E27FC236}">
                    <a16:creationId xmlns:a16="http://schemas.microsoft.com/office/drawing/2014/main" id="{F393D60C-5548-08C1-6C11-87C5E07A4906}"/>
                  </a:ext>
                </a:extLst>
              </p:cNvPr>
              <p:cNvSpPr txBox="1">
                <a:spLocks noRot="1" noChangeAspect="1" noMove="1" noResize="1" noEditPoints="1" noAdjustHandles="1" noChangeArrowheads="1" noChangeShapeType="1" noTextEdit="1"/>
              </p:cNvSpPr>
              <p:nvPr/>
            </p:nvSpPr>
            <p:spPr>
              <a:xfrm>
                <a:off x="4216348" y="3478089"/>
                <a:ext cx="3759299" cy="276999"/>
              </a:xfrm>
              <a:prstGeom prst="rect">
                <a:avLst/>
              </a:prstGeom>
              <a:blipFill>
                <a:blip r:embed="rId17"/>
                <a:stretch>
                  <a:fillRect l="-2027" t="-9091" r="-338" b="-3636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679CE03D-6C29-9C10-4119-7AC9EC9DA5F4}"/>
                  </a:ext>
                </a:extLst>
              </p:cNvPr>
              <p:cNvSpPr txBox="1"/>
              <p:nvPr/>
            </p:nvSpPr>
            <p:spPr>
              <a:xfrm>
                <a:off x="2901085" y="4252022"/>
                <a:ext cx="6389826"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CO" i="1" smtClean="0">
                          <a:latin typeface="Cambria Math" panose="02040503050406030204" pitchFamily="18" charset="0"/>
                        </a:rPr>
                        <m:t>𝑙𝑜𝑔</m:t>
                      </m:r>
                      <m:r>
                        <a:rPr lang="es-CO" i="1" smtClean="0">
                          <a:latin typeface="Cambria Math" panose="02040503050406030204" pitchFamily="18" charset="0"/>
                        </a:rPr>
                        <m:t>(</m:t>
                      </m:r>
                      <m:r>
                        <a:rPr lang="es-CO" i="1" smtClean="0">
                          <a:latin typeface="Cambria Math" panose="02040503050406030204" pitchFamily="18" charset="0"/>
                        </a:rPr>
                        <m:t>𝑤𝑖</m:t>
                      </m:r>
                      <m:r>
                        <a:rPr lang="es-CO" i="1" smtClean="0">
                          <a:latin typeface="Cambria Math" panose="02040503050406030204" pitchFamily="18" charset="0"/>
                        </a:rPr>
                        <m:t>​)=</m:t>
                      </m:r>
                      <m:r>
                        <a:rPr lang="el-GR" i="1">
                          <a:latin typeface="Cambria Math" panose="02040503050406030204" pitchFamily="18" charset="0"/>
                        </a:rPr>
                        <m:t>𝛽</m:t>
                      </m:r>
                      <m:r>
                        <a:rPr lang="el-GR" i="1">
                          <a:latin typeface="Cambria Math" panose="02040503050406030204" pitchFamily="18" charset="0"/>
                        </a:rPr>
                        <m:t>1​+</m:t>
                      </m:r>
                      <m:r>
                        <a:rPr lang="el-GR" i="1">
                          <a:latin typeface="Cambria Math" panose="02040503050406030204" pitchFamily="18" charset="0"/>
                        </a:rPr>
                        <m:t>𝛽</m:t>
                      </m:r>
                      <m:r>
                        <a:rPr lang="el-GR" i="1">
                          <a:latin typeface="Cambria Math" panose="02040503050406030204" pitchFamily="18" charset="0"/>
                        </a:rPr>
                        <m:t>2​</m:t>
                      </m:r>
                      <m:r>
                        <a:rPr lang="es-CO" i="1">
                          <a:latin typeface="Cambria Math" panose="02040503050406030204" pitchFamily="18" charset="0"/>
                        </a:rPr>
                        <m:t>𝐴𝑔𝑒𝑖</m:t>
                      </m:r>
                      <m:r>
                        <a:rPr lang="es-CO" i="1">
                          <a:latin typeface="Cambria Math" panose="02040503050406030204" pitchFamily="18" charset="0"/>
                        </a:rPr>
                        <m:t>​+</m:t>
                      </m:r>
                      <m:r>
                        <a:rPr lang="el-GR" i="1">
                          <a:latin typeface="Cambria Math" panose="02040503050406030204" pitchFamily="18" charset="0"/>
                        </a:rPr>
                        <m:t>𝛽</m:t>
                      </m:r>
                      <m:r>
                        <a:rPr lang="el-GR" i="1">
                          <a:latin typeface="Cambria Math" panose="02040503050406030204" pitchFamily="18" charset="0"/>
                        </a:rPr>
                        <m:t>3​</m:t>
                      </m:r>
                      <m:sSup>
                        <m:sSupPr>
                          <m:ctrlPr>
                            <a:rPr lang="el-GR" i="1" smtClean="0">
                              <a:latin typeface="Cambria Math" panose="02040503050406030204" pitchFamily="18" charset="0"/>
                            </a:rPr>
                          </m:ctrlPr>
                        </m:sSupPr>
                        <m:e>
                          <m:r>
                            <a:rPr lang="es-419" b="0" i="1" smtClean="0">
                              <a:latin typeface="Cambria Math" panose="02040503050406030204" pitchFamily="18" charset="0"/>
                            </a:rPr>
                            <m:t>𝐴𝑔𝑒</m:t>
                          </m:r>
                        </m:e>
                        <m:sup>
                          <m:r>
                            <a:rPr lang="es-419" b="0" i="1" smtClean="0">
                              <a:latin typeface="Cambria Math" panose="02040503050406030204" pitchFamily="18" charset="0"/>
                            </a:rPr>
                            <m:t>2</m:t>
                          </m:r>
                        </m:sup>
                      </m:sSup>
                      <m:r>
                        <a:rPr lang="es-CO" i="1">
                          <a:latin typeface="Cambria Math" panose="02040503050406030204" pitchFamily="18" charset="0"/>
                        </a:rPr>
                        <m:t>+</m:t>
                      </m:r>
                      <m:r>
                        <a:rPr lang="el-GR" i="1">
                          <a:latin typeface="Cambria Math" panose="02040503050406030204" pitchFamily="18" charset="0"/>
                        </a:rPr>
                        <m:t>𝛾</m:t>
                      </m:r>
                      <m:r>
                        <a:rPr lang="el-GR" i="1">
                          <a:latin typeface="Cambria Math" panose="02040503050406030204" pitchFamily="18" charset="0"/>
                        </a:rPr>
                        <m:t>1​</m:t>
                      </m:r>
                      <m:r>
                        <a:rPr lang="es-CO" i="1">
                          <a:latin typeface="Cambria Math" panose="02040503050406030204" pitchFamily="18" charset="0"/>
                        </a:rPr>
                        <m:t>𝐻𝑜𝑢𝑟𝑠𝑖</m:t>
                      </m:r>
                      <m:r>
                        <a:rPr lang="es-CO" i="1">
                          <a:latin typeface="Cambria Math" panose="02040503050406030204" pitchFamily="18" charset="0"/>
                        </a:rPr>
                        <m:t>​+</m:t>
                      </m:r>
                      <m:r>
                        <a:rPr lang="el-GR" i="1">
                          <a:latin typeface="Cambria Math" panose="02040503050406030204" pitchFamily="18" charset="0"/>
                        </a:rPr>
                        <m:t>𝛾</m:t>
                      </m:r>
                      <m:r>
                        <a:rPr lang="el-GR" i="1">
                          <a:latin typeface="Cambria Math" panose="02040503050406030204" pitchFamily="18" charset="0"/>
                        </a:rPr>
                        <m:t>2​</m:t>
                      </m:r>
                      <m:r>
                        <a:rPr lang="es-CO" i="1">
                          <a:latin typeface="Cambria Math" panose="02040503050406030204" pitchFamily="18" charset="0"/>
                        </a:rPr>
                        <m:t>𝑅𝑒𝑙𝑎𝑏𝑖</m:t>
                      </m:r>
                      <m:r>
                        <a:rPr lang="es-CO" i="1">
                          <a:latin typeface="Cambria Math" panose="02040503050406030204" pitchFamily="18" charset="0"/>
                        </a:rPr>
                        <m:t>​+</m:t>
                      </m:r>
                      <m:r>
                        <a:rPr lang="es-CO" i="1">
                          <a:latin typeface="Cambria Math" panose="02040503050406030204" pitchFamily="18" charset="0"/>
                        </a:rPr>
                        <m:t>𝑢𝑖</m:t>
                      </m:r>
                      <m:r>
                        <a:rPr lang="es-CO" i="1">
                          <a:latin typeface="Cambria Math" panose="02040503050406030204" pitchFamily="18" charset="0"/>
                        </a:rPr>
                        <m:t>​</m:t>
                      </m:r>
                    </m:oMath>
                  </m:oMathPara>
                </a14:m>
                <a:endParaRPr lang="es-CO" dirty="0"/>
              </a:p>
            </p:txBody>
          </p:sp>
        </mc:Choice>
        <mc:Fallback>
          <p:sp>
            <p:nvSpPr>
              <p:cNvPr id="15" name="CuadroTexto 14">
                <a:extLst>
                  <a:ext uri="{FF2B5EF4-FFF2-40B4-BE49-F238E27FC236}">
                    <a16:creationId xmlns:a16="http://schemas.microsoft.com/office/drawing/2014/main" id="{679CE03D-6C29-9C10-4119-7AC9EC9DA5F4}"/>
                  </a:ext>
                </a:extLst>
              </p:cNvPr>
              <p:cNvSpPr txBox="1">
                <a:spLocks noRot="1" noChangeAspect="1" noMove="1" noResize="1" noEditPoints="1" noAdjustHandles="1" noChangeArrowheads="1" noChangeShapeType="1" noTextEdit="1"/>
              </p:cNvSpPr>
              <p:nvPr/>
            </p:nvSpPr>
            <p:spPr>
              <a:xfrm>
                <a:off x="2901085" y="4252022"/>
                <a:ext cx="6389826" cy="276999"/>
              </a:xfrm>
              <a:prstGeom prst="rect">
                <a:avLst/>
              </a:prstGeom>
              <a:blipFill>
                <a:blip r:embed="rId18"/>
                <a:stretch>
                  <a:fillRect l="-794" t="-9091" r="-397" b="-36364"/>
                </a:stretch>
              </a:blipFill>
            </p:spPr>
            <p:txBody>
              <a:bodyPr/>
              <a:lstStyle/>
              <a:p>
                <a:r>
                  <a:rPr lang="es-CO">
                    <a:noFill/>
                  </a:rPr>
                  <a:t> </a:t>
                </a:r>
              </a:p>
            </p:txBody>
          </p:sp>
        </mc:Fallback>
      </mc:AlternateContent>
      <p:sp>
        <p:nvSpPr>
          <p:cNvPr id="58" name="CuadroTexto 57">
            <a:extLst>
              <a:ext uri="{FF2B5EF4-FFF2-40B4-BE49-F238E27FC236}">
                <a16:creationId xmlns:a16="http://schemas.microsoft.com/office/drawing/2014/main" id="{DF3BA3C1-0BED-6D23-32B7-6B1FD103D693}"/>
              </a:ext>
            </a:extLst>
          </p:cNvPr>
          <p:cNvSpPr txBox="1"/>
          <p:nvPr/>
        </p:nvSpPr>
        <p:spPr>
          <a:xfrm>
            <a:off x="942319" y="5240921"/>
            <a:ext cx="9448692" cy="461665"/>
          </a:xfrm>
          <a:prstGeom prst="rect">
            <a:avLst/>
          </a:prstGeom>
          <a:noFill/>
        </p:spPr>
        <p:txBody>
          <a:bodyPr wrap="square">
            <a:spAutoFit/>
          </a:bodyPr>
          <a:lstStyle/>
          <a:p>
            <a:pPr>
              <a:buClr>
                <a:srgbClr val="0072CE"/>
              </a:buClr>
            </a:pPr>
            <a:r>
              <a:rPr lang="es-CO" sz="1200" b="1" i="1" dirty="0">
                <a:solidFill>
                  <a:srgbClr val="3C3C3C"/>
                </a:solidFill>
                <a:latin typeface="Open Sans"/>
              </a:rPr>
              <a:t>Nota Metodológica: </a:t>
            </a:r>
            <a:r>
              <a:rPr lang="es-CO" sz="1200" i="1" dirty="0">
                <a:solidFill>
                  <a:srgbClr val="3C3C3C"/>
                </a:solidFill>
                <a:latin typeface="Open Sans"/>
              </a:rPr>
              <a:t>Inferencia basada en Bootstrap (R=1000). Los intervalos de confianza al 95% confirman que el desplazamiento del pico de ingresos es estadísticamente significativo.</a:t>
            </a:r>
          </a:p>
        </p:txBody>
      </p:sp>
      <p:sp>
        <p:nvSpPr>
          <p:cNvPr id="59" name="Marcador de texto 1">
            <a:extLst>
              <a:ext uri="{FF2B5EF4-FFF2-40B4-BE49-F238E27FC236}">
                <a16:creationId xmlns:a16="http://schemas.microsoft.com/office/drawing/2014/main" id="{14615543-B8F4-4E28-8509-9115469FD5C9}"/>
              </a:ext>
            </a:extLst>
          </p:cNvPr>
          <p:cNvSpPr txBox="1">
            <a:spLocks/>
          </p:cNvSpPr>
          <p:nvPr/>
        </p:nvSpPr>
        <p:spPr>
          <a:xfrm>
            <a:off x="8687234" y="2582512"/>
            <a:ext cx="4708646" cy="376886"/>
          </a:xfrm>
          <a:prstGeom prst="rect">
            <a:avLst/>
          </a:prstGeom>
        </p:spPr>
        <p:txBody>
          <a:bodyPr vert="horz" lIns="91440" tIns="45720" rIns="91440" bIns="45720" rtlCol="0" anchor="ctr">
            <a:normAutofit/>
          </a:bodyPr>
          <a:lstStyle>
            <a:lvl1pPr marL="0" indent="0" algn="l" defTabSz="914400" rtl="0" eaLnBrk="1" latinLnBrk="0" hangingPunct="1">
              <a:lnSpc>
                <a:spcPct val="90000"/>
              </a:lnSpc>
              <a:spcBef>
                <a:spcPts val="1000"/>
              </a:spcBef>
              <a:buClr>
                <a:srgbClr val="00A3E0"/>
              </a:buClr>
              <a:buFont typeface="Open Sans" panose="020B0606030504020204" pitchFamily="34" charset="0"/>
              <a:buNone/>
              <a:defRPr sz="1600" b="1" kern="1200">
                <a:solidFill>
                  <a:srgbClr val="0070C0"/>
                </a:solidFill>
                <a:latin typeface="+mj-lt"/>
                <a:ea typeface="+mn-ea"/>
                <a:cs typeface="+mn-cs"/>
              </a:defRPr>
            </a:lvl1pPr>
            <a:lvl2pPr marL="457200" indent="0" algn="l" defTabSz="914400" rtl="0" eaLnBrk="1" latinLnBrk="0" hangingPunct="1">
              <a:lnSpc>
                <a:spcPct val="90000"/>
              </a:lnSpc>
              <a:spcBef>
                <a:spcPts val="500"/>
              </a:spcBef>
              <a:buClr>
                <a:srgbClr val="00A3E0"/>
              </a:buClr>
              <a:buFont typeface="Open Sans" panose="020B0606030504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rgbClr val="00A3E0"/>
              </a:buClr>
              <a:buFont typeface="Open Sans" panose="020B0606030504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defRPr/>
            </a:pPr>
            <a:r>
              <a:rPr lang="es-CO" sz="1100" i="1" dirty="0">
                <a:latin typeface="Open Sans Semibold"/>
              </a:rPr>
              <a:t>El término cuadrático </a:t>
            </a:r>
          </a:p>
        </p:txBody>
      </p:sp>
      <p:sp>
        <p:nvSpPr>
          <p:cNvPr id="60" name="CuadroTexto 59">
            <a:extLst>
              <a:ext uri="{FF2B5EF4-FFF2-40B4-BE49-F238E27FC236}">
                <a16:creationId xmlns:a16="http://schemas.microsoft.com/office/drawing/2014/main" id="{453D1AA8-86ED-CEBC-7715-CCF782375E10}"/>
              </a:ext>
            </a:extLst>
          </p:cNvPr>
          <p:cNvSpPr txBox="1"/>
          <p:nvPr/>
        </p:nvSpPr>
        <p:spPr>
          <a:xfrm>
            <a:off x="8721080" y="2945183"/>
            <a:ext cx="3175446" cy="577081"/>
          </a:xfrm>
          <a:prstGeom prst="rect">
            <a:avLst/>
          </a:prstGeom>
          <a:noFill/>
        </p:spPr>
        <p:txBody>
          <a:bodyPr wrap="square">
            <a:spAutoFit/>
          </a:bodyPr>
          <a:lstStyle/>
          <a:p>
            <a:pPr>
              <a:buClr>
                <a:srgbClr val="0072CE"/>
              </a:buClr>
            </a:pPr>
            <a:r>
              <a:rPr lang="es-CO" sz="1050" i="1" dirty="0">
                <a:solidFill>
                  <a:srgbClr val="3C3C3C"/>
                </a:solidFill>
                <a:latin typeface="Open Sans"/>
              </a:rPr>
              <a:t>Permite identificar el punto de máximo. Dado que es una función no lineal de los coeficientes, construimos intervalos usando </a:t>
            </a:r>
            <a:r>
              <a:rPr lang="es-CO" sz="1050" i="1" dirty="0" err="1">
                <a:solidFill>
                  <a:srgbClr val="3C3C3C"/>
                </a:solidFill>
                <a:latin typeface="Open Sans"/>
              </a:rPr>
              <a:t>bootstrap</a:t>
            </a:r>
            <a:r>
              <a:rPr lang="es-CO" sz="1050" i="1" dirty="0">
                <a:solidFill>
                  <a:srgbClr val="3C3C3C"/>
                </a:solidFill>
                <a:latin typeface="Open Sans"/>
              </a:rPr>
              <a:t>.</a:t>
            </a:r>
          </a:p>
        </p:txBody>
      </p:sp>
      <p:pic>
        <p:nvPicPr>
          <p:cNvPr id="64" name="Gráfico 63" descr="Anger Symbol con relleno sólido">
            <a:extLst>
              <a:ext uri="{FF2B5EF4-FFF2-40B4-BE49-F238E27FC236}">
                <a16:creationId xmlns:a16="http://schemas.microsoft.com/office/drawing/2014/main" id="{EA6BA98B-75B0-C8D3-7EC3-79625D998D9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29753" y="2945183"/>
            <a:ext cx="524764" cy="524764"/>
          </a:xfrm>
          <a:prstGeom prst="rect">
            <a:avLst/>
          </a:prstGeom>
        </p:spPr>
      </p:pic>
      <p:sp>
        <p:nvSpPr>
          <p:cNvPr id="65" name="CuadroTexto 64">
            <a:extLst>
              <a:ext uri="{FF2B5EF4-FFF2-40B4-BE49-F238E27FC236}">
                <a16:creationId xmlns:a16="http://schemas.microsoft.com/office/drawing/2014/main" id="{B0059A86-E8D3-4C46-C56D-0F548E19E858}"/>
              </a:ext>
            </a:extLst>
          </p:cNvPr>
          <p:cNvSpPr txBox="1"/>
          <p:nvPr/>
        </p:nvSpPr>
        <p:spPr>
          <a:xfrm>
            <a:off x="2286000" y="2573752"/>
            <a:ext cx="7939453" cy="276999"/>
          </a:xfrm>
          <a:prstGeom prst="rect">
            <a:avLst/>
          </a:prstGeom>
          <a:noFill/>
        </p:spPr>
        <p:txBody>
          <a:bodyPr wrap="square">
            <a:spAutoFit/>
          </a:bodyPr>
          <a:lstStyle/>
          <a:p>
            <a:pPr>
              <a:buClr>
                <a:srgbClr val="0072CE"/>
              </a:buClr>
            </a:pPr>
            <a:r>
              <a:rPr lang="es-CO" sz="1200" dirty="0">
                <a:solidFill>
                  <a:srgbClr val="3C3C3C"/>
                </a:solidFill>
                <a:latin typeface="Open Sans"/>
              </a:rPr>
              <a:t>Modelo lineal:</a:t>
            </a:r>
          </a:p>
        </p:txBody>
      </p:sp>
      <p:sp>
        <p:nvSpPr>
          <p:cNvPr id="66" name="CuadroTexto 65">
            <a:extLst>
              <a:ext uri="{FF2B5EF4-FFF2-40B4-BE49-F238E27FC236}">
                <a16:creationId xmlns:a16="http://schemas.microsoft.com/office/drawing/2014/main" id="{ADBF029C-56F0-D30C-5B68-CA138228CDC0}"/>
              </a:ext>
            </a:extLst>
          </p:cNvPr>
          <p:cNvSpPr txBox="1"/>
          <p:nvPr/>
        </p:nvSpPr>
        <p:spPr>
          <a:xfrm>
            <a:off x="2275112" y="3259731"/>
            <a:ext cx="7939453" cy="276999"/>
          </a:xfrm>
          <a:prstGeom prst="rect">
            <a:avLst/>
          </a:prstGeom>
          <a:noFill/>
        </p:spPr>
        <p:txBody>
          <a:bodyPr wrap="square">
            <a:spAutoFit/>
          </a:bodyPr>
          <a:lstStyle/>
          <a:p>
            <a:pPr>
              <a:buClr>
                <a:srgbClr val="0072CE"/>
              </a:buClr>
            </a:pPr>
            <a:r>
              <a:rPr lang="es-CO" sz="1200" dirty="0">
                <a:solidFill>
                  <a:srgbClr val="3C3C3C"/>
                </a:solidFill>
                <a:latin typeface="Open Sans"/>
              </a:rPr>
              <a:t>Modelo cuadrático:</a:t>
            </a:r>
          </a:p>
        </p:txBody>
      </p:sp>
      <p:sp>
        <p:nvSpPr>
          <p:cNvPr id="67" name="CuadroTexto 66">
            <a:extLst>
              <a:ext uri="{FF2B5EF4-FFF2-40B4-BE49-F238E27FC236}">
                <a16:creationId xmlns:a16="http://schemas.microsoft.com/office/drawing/2014/main" id="{B0F5DA71-DA91-64DB-6C6B-76590D6C411C}"/>
              </a:ext>
            </a:extLst>
          </p:cNvPr>
          <p:cNvSpPr txBox="1"/>
          <p:nvPr/>
        </p:nvSpPr>
        <p:spPr>
          <a:xfrm>
            <a:off x="2275113" y="3926071"/>
            <a:ext cx="7939453" cy="276999"/>
          </a:xfrm>
          <a:prstGeom prst="rect">
            <a:avLst/>
          </a:prstGeom>
          <a:noFill/>
        </p:spPr>
        <p:txBody>
          <a:bodyPr wrap="square">
            <a:spAutoFit/>
          </a:bodyPr>
          <a:lstStyle/>
          <a:p>
            <a:pPr>
              <a:buClr>
                <a:srgbClr val="0072CE"/>
              </a:buClr>
            </a:pPr>
            <a:r>
              <a:rPr lang="es-CO" sz="1200" dirty="0">
                <a:solidFill>
                  <a:srgbClr val="3C3C3C"/>
                </a:solidFill>
                <a:latin typeface="Open Sans"/>
              </a:rPr>
              <a:t>Modelo condicional:</a:t>
            </a:r>
          </a:p>
        </p:txBody>
      </p:sp>
      <p:sp>
        <p:nvSpPr>
          <p:cNvPr id="68" name="CuadroTexto 67">
            <a:extLst>
              <a:ext uri="{FF2B5EF4-FFF2-40B4-BE49-F238E27FC236}">
                <a16:creationId xmlns:a16="http://schemas.microsoft.com/office/drawing/2014/main" id="{BF7EB447-E0FE-41C8-FADD-B8C5EB5F5117}"/>
              </a:ext>
            </a:extLst>
          </p:cNvPr>
          <p:cNvSpPr txBox="1"/>
          <p:nvPr/>
        </p:nvSpPr>
        <p:spPr>
          <a:xfrm>
            <a:off x="6535193" y="1583013"/>
            <a:ext cx="4100724" cy="646331"/>
          </a:xfrm>
          <a:prstGeom prst="rect">
            <a:avLst/>
          </a:prstGeom>
          <a:noFill/>
        </p:spPr>
        <p:txBody>
          <a:bodyPr wrap="square">
            <a:spAutoFit/>
          </a:bodyPr>
          <a:lstStyle/>
          <a:p>
            <a:pPr marL="171450" indent="-171450">
              <a:buClr>
                <a:srgbClr val="0072CE"/>
              </a:buClr>
              <a:buFont typeface="Arial" panose="020B0604020202020204" pitchFamily="34" charset="0"/>
              <a:buChar char="•"/>
            </a:pPr>
            <a:r>
              <a:rPr lang="es-CO" sz="1200" b="1" dirty="0">
                <a:solidFill>
                  <a:srgbClr val="3C3C3C"/>
                </a:solidFill>
                <a:latin typeface="Open Sans"/>
              </a:rPr>
              <a:t>Variable dependiente: </a:t>
            </a:r>
            <a:r>
              <a:rPr lang="es-CO" sz="1200" dirty="0">
                <a:solidFill>
                  <a:srgbClr val="3C3C3C"/>
                </a:solidFill>
                <a:latin typeface="Open Sans"/>
              </a:rPr>
              <a:t>log(ingreso laboral mensual)</a:t>
            </a:r>
          </a:p>
          <a:p>
            <a:pPr marL="171450" indent="-171450">
              <a:buClr>
                <a:srgbClr val="0072CE"/>
              </a:buClr>
              <a:buFont typeface="Arial" panose="020B0604020202020204" pitchFamily="34" charset="0"/>
              <a:buChar char="•"/>
            </a:pPr>
            <a:r>
              <a:rPr lang="es-CO" sz="1200" b="1" dirty="0">
                <a:solidFill>
                  <a:srgbClr val="3C3C3C"/>
                </a:solidFill>
                <a:latin typeface="Open Sans"/>
              </a:rPr>
              <a:t>Controles en modelo condicional: </a:t>
            </a:r>
            <a:r>
              <a:rPr lang="es-CO" sz="1200" dirty="0">
                <a:solidFill>
                  <a:srgbClr val="3C3C3C"/>
                </a:solidFill>
                <a:latin typeface="Open Sans"/>
              </a:rPr>
              <a:t>Horas trabajadas &amp; Tipo de empleo (</a:t>
            </a:r>
            <a:r>
              <a:rPr lang="es-CO" sz="1200" dirty="0" err="1">
                <a:solidFill>
                  <a:srgbClr val="3C3C3C"/>
                </a:solidFill>
                <a:latin typeface="Open Sans"/>
              </a:rPr>
              <a:t>relab</a:t>
            </a:r>
            <a:r>
              <a:rPr lang="es-CO" sz="1200" dirty="0">
                <a:solidFill>
                  <a:srgbClr val="3C3C3C"/>
                </a:solidFill>
                <a:latin typeface="Open Sans"/>
              </a:rPr>
              <a:t>)</a:t>
            </a:r>
          </a:p>
        </p:txBody>
      </p:sp>
    </p:spTree>
    <p:extLst>
      <p:ext uri="{BB962C8B-B14F-4D97-AF65-F5344CB8AC3E}">
        <p14:creationId xmlns:p14="http://schemas.microsoft.com/office/powerpoint/2010/main" val="28227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D7077-8F31-E903-6299-EF9F75A41C1D}"/>
            </a:ext>
          </a:extLst>
        </p:cNvPr>
        <p:cNvGrpSpPr/>
        <p:nvPr/>
      </p:nvGrpSpPr>
      <p:grpSpPr>
        <a:xfrm>
          <a:off x="0" y="0"/>
          <a:ext cx="0" cy="0"/>
          <a:chOff x="0" y="0"/>
          <a:chExt cx="0" cy="0"/>
        </a:xfrm>
      </p:grpSpPr>
      <p:sp>
        <p:nvSpPr>
          <p:cNvPr id="2" name="Título 5">
            <a:extLst>
              <a:ext uri="{FF2B5EF4-FFF2-40B4-BE49-F238E27FC236}">
                <a16:creationId xmlns:a16="http://schemas.microsoft.com/office/drawing/2014/main" id="{2A53D13B-6CBA-8136-A5B4-3B61BD790621}"/>
              </a:ext>
            </a:extLst>
          </p:cNvPr>
          <p:cNvSpPr txBox="1">
            <a:spLocks/>
          </p:cNvSpPr>
          <p:nvPr/>
        </p:nvSpPr>
        <p:spPr>
          <a:xfrm>
            <a:off x="2415559" y="761999"/>
            <a:ext cx="9240140" cy="917575"/>
          </a:xfrm>
          <a:prstGeom prst="rect">
            <a:avLst/>
          </a:prstGeom>
        </p:spPr>
        <p:txBody>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s-CO" sz="1800" dirty="0">
                <a:latin typeface="Open Sans Semibold"/>
              </a:rPr>
              <a:t>Resultados principales</a:t>
            </a:r>
            <a:endParaRPr kumimoji="0" lang="es-CO" sz="1800" b="0" i="0" u="none" strike="noStrike" kern="1200" cap="none" spc="0" normalizeH="0" baseline="0" noProof="0" dirty="0">
              <a:ln>
                <a:noFill/>
              </a:ln>
              <a:solidFill>
                <a:srgbClr val="003057"/>
              </a:solidFill>
              <a:effectLst/>
              <a:uLnTx/>
              <a:uFillTx/>
              <a:latin typeface="Open Sans Semibold"/>
              <a:ea typeface="+mj-ea"/>
              <a:cs typeface="+mj-cs"/>
            </a:endParaRPr>
          </a:p>
        </p:txBody>
      </p:sp>
      <p:sp>
        <p:nvSpPr>
          <p:cNvPr id="3" name="Título 5">
            <a:extLst>
              <a:ext uri="{FF2B5EF4-FFF2-40B4-BE49-F238E27FC236}">
                <a16:creationId xmlns:a16="http://schemas.microsoft.com/office/drawing/2014/main" id="{DC78C514-AAFF-C708-7977-E819FE654CCC}"/>
              </a:ext>
            </a:extLst>
          </p:cNvPr>
          <p:cNvSpPr txBox="1">
            <a:spLocks/>
          </p:cNvSpPr>
          <p:nvPr/>
        </p:nvSpPr>
        <p:spPr>
          <a:xfrm>
            <a:off x="2415559" y="762000"/>
            <a:ext cx="9776441" cy="9175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1400" b="0" i="1" u="none" strike="noStrike" kern="1200" cap="none" spc="0" normalizeH="0" baseline="0" noProof="0" dirty="0">
                <a:ln>
                  <a:noFill/>
                </a:ln>
                <a:solidFill>
                  <a:schemeClr val="accent1"/>
                </a:solidFill>
                <a:effectLst/>
                <a:uLnTx/>
                <a:uFillTx/>
                <a:latin typeface="Open Sans Semibold"/>
                <a:ea typeface="+mj-ea"/>
                <a:cs typeface="+mj-cs"/>
              </a:rPr>
              <a:t>Especificaciones econométricas</a:t>
            </a:r>
          </a:p>
        </p:txBody>
      </p:sp>
      <p:grpSp>
        <p:nvGrpSpPr>
          <p:cNvPr id="18" name="Grupo 17">
            <a:extLst>
              <a:ext uri="{FF2B5EF4-FFF2-40B4-BE49-F238E27FC236}">
                <a16:creationId xmlns:a16="http://schemas.microsoft.com/office/drawing/2014/main" id="{B7639CA0-8F17-6154-D9BD-A04D5F3A8EDC}"/>
              </a:ext>
            </a:extLst>
          </p:cNvPr>
          <p:cNvGrpSpPr/>
          <p:nvPr/>
        </p:nvGrpSpPr>
        <p:grpSpPr>
          <a:xfrm>
            <a:off x="609600" y="6019983"/>
            <a:ext cx="8458200" cy="767532"/>
            <a:chOff x="609600" y="6019983"/>
            <a:chExt cx="8458200" cy="767532"/>
          </a:xfrm>
        </p:grpSpPr>
        <p:sp>
          <p:nvSpPr>
            <p:cNvPr id="19" name="Rectángulo 18">
              <a:extLst>
                <a:ext uri="{FF2B5EF4-FFF2-40B4-BE49-F238E27FC236}">
                  <a16:creationId xmlns:a16="http://schemas.microsoft.com/office/drawing/2014/main" id="{EBEEBD6C-FFF2-0274-8449-A55E8CAD19A8}"/>
                </a:ext>
              </a:extLst>
            </p:cNvPr>
            <p:cNvSpPr/>
            <p:nvPr/>
          </p:nvSpPr>
          <p:spPr>
            <a:xfrm>
              <a:off x="6858000" y="6096000"/>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rupo 19">
              <a:extLst>
                <a:ext uri="{FF2B5EF4-FFF2-40B4-BE49-F238E27FC236}">
                  <a16:creationId xmlns:a16="http://schemas.microsoft.com/office/drawing/2014/main" id="{2FDEE140-B245-2F84-967D-AC88BD7C92C5}"/>
                </a:ext>
              </a:extLst>
            </p:cNvPr>
            <p:cNvGrpSpPr/>
            <p:nvPr/>
          </p:nvGrpSpPr>
          <p:grpSpPr>
            <a:xfrm>
              <a:off x="609600" y="6019983"/>
              <a:ext cx="5334000" cy="691515"/>
              <a:chOff x="609600" y="6019983"/>
              <a:chExt cx="5334000" cy="691515"/>
            </a:xfrm>
          </p:grpSpPr>
          <p:sp>
            <p:nvSpPr>
              <p:cNvPr id="22" name="Rectángulo 21">
                <a:extLst>
                  <a:ext uri="{FF2B5EF4-FFF2-40B4-BE49-F238E27FC236}">
                    <a16:creationId xmlns:a16="http://schemas.microsoft.com/office/drawing/2014/main" id="{B7400F76-15DD-BC85-6677-8495A3E2C200}"/>
                  </a:ext>
                </a:extLst>
              </p:cNvPr>
              <p:cNvSpPr/>
              <p:nvPr/>
            </p:nvSpPr>
            <p:spPr>
              <a:xfrm>
                <a:off x="609600" y="6019983"/>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FE732AF3-ECF5-EE8A-6E5E-61D80050271E}"/>
                  </a:ext>
                </a:extLst>
              </p:cNvPr>
              <p:cNvSpPr txBox="1"/>
              <p:nvPr/>
            </p:nvSpPr>
            <p:spPr>
              <a:xfrm>
                <a:off x="609600" y="6226043"/>
                <a:ext cx="5334000" cy="276999"/>
              </a:xfrm>
              <a:prstGeom prst="rect">
                <a:avLst/>
              </a:prstGeom>
              <a:noFill/>
            </p:spPr>
            <p:txBody>
              <a:bodyPr wrap="square" rtlCol="0">
                <a:spAutoFit/>
              </a:bodyPr>
              <a:lstStyle/>
              <a:p>
                <a:r>
                  <a:rPr lang="es-CO" sz="1200" i="1" dirty="0">
                    <a:solidFill>
                      <a:schemeClr val="tx2"/>
                    </a:solidFill>
                    <a:latin typeface="Aptos Narrow" panose="020B0004020202020204" pitchFamily="34" charset="0"/>
                  </a:rPr>
                  <a:t>MECA 4107 – </a:t>
                </a:r>
                <a:r>
                  <a:rPr lang="es-CO" sz="1200" i="1" dirty="0" err="1">
                    <a:solidFill>
                      <a:schemeClr val="tx2"/>
                    </a:solidFill>
                    <a:latin typeface="Aptos Narrow" panose="020B0004020202020204" pitchFamily="34" charset="0"/>
                  </a:rPr>
                  <a:t>Problem</a:t>
                </a:r>
                <a:r>
                  <a:rPr lang="es-CO" sz="1200" i="1" dirty="0">
                    <a:solidFill>
                      <a:schemeClr val="tx2"/>
                    </a:solidFill>
                    <a:latin typeface="Aptos Narrow" panose="020B0004020202020204" pitchFamily="34" charset="0"/>
                  </a:rPr>
                  <a:t> Set 1: </a:t>
                </a:r>
                <a:r>
                  <a:rPr lang="es-CO" sz="1200" i="1" dirty="0" err="1">
                    <a:solidFill>
                      <a:schemeClr val="tx2"/>
                    </a:solidFill>
                    <a:latin typeface="Aptos Narrow" panose="020B0004020202020204" pitchFamily="34" charset="0"/>
                  </a:rPr>
                  <a:t>Predicting</a:t>
                </a:r>
                <a:r>
                  <a:rPr lang="es-CO" sz="1200" i="1" dirty="0">
                    <a:solidFill>
                      <a:schemeClr val="tx2"/>
                    </a:solidFill>
                    <a:latin typeface="Aptos Narrow" panose="020B0004020202020204" pitchFamily="34" charset="0"/>
                  </a:rPr>
                  <a:t> </a:t>
                </a:r>
                <a:r>
                  <a:rPr lang="es-CO" sz="1200" i="1" dirty="0" err="1">
                    <a:solidFill>
                      <a:schemeClr val="tx2"/>
                    </a:solidFill>
                    <a:latin typeface="Aptos Narrow" panose="020B0004020202020204" pitchFamily="34" charset="0"/>
                  </a:rPr>
                  <a:t>Income</a:t>
                </a:r>
                <a:endParaRPr lang="es-CO" sz="1050" i="1" dirty="0">
                  <a:solidFill>
                    <a:schemeClr val="tx2"/>
                  </a:solidFill>
                  <a:latin typeface="Aptos Narrow" panose="020B0004020202020204" pitchFamily="34" charset="0"/>
                </a:endParaRPr>
              </a:p>
            </p:txBody>
          </p:sp>
        </p:grpSp>
        <p:sp>
          <p:nvSpPr>
            <p:cNvPr id="21" name="Triángulo 20">
              <a:extLst>
                <a:ext uri="{FF2B5EF4-FFF2-40B4-BE49-F238E27FC236}">
                  <a16:creationId xmlns:a16="http://schemas.microsoft.com/office/drawing/2014/main" id="{9F072F82-93C9-9B50-D7A6-4085782C096E}"/>
                </a:ext>
              </a:extLst>
            </p:cNvPr>
            <p:cNvSpPr/>
            <p:nvPr/>
          </p:nvSpPr>
          <p:spPr>
            <a:xfrm rot="5400000">
              <a:off x="8518791" y="6142961"/>
              <a:ext cx="488417" cy="483199"/>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4" name="Grupo 23">
            <a:extLst>
              <a:ext uri="{FF2B5EF4-FFF2-40B4-BE49-F238E27FC236}">
                <a16:creationId xmlns:a16="http://schemas.microsoft.com/office/drawing/2014/main" id="{762DE560-618D-A3AE-3CF9-BE3A2EC123E3}"/>
              </a:ext>
            </a:extLst>
          </p:cNvPr>
          <p:cNvGrpSpPr/>
          <p:nvPr/>
        </p:nvGrpSpPr>
        <p:grpSpPr>
          <a:xfrm>
            <a:off x="9818298" y="273960"/>
            <a:ext cx="2373702" cy="691515"/>
            <a:chOff x="338281" y="6096000"/>
            <a:chExt cx="2373702" cy="691515"/>
          </a:xfrm>
        </p:grpSpPr>
        <p:sp>
          <p:nvSpPr>
            <p:cNvPr id="25" name="Rectángulo 24">
              <a:extLst>
                <a:ext uri="{FF2B5EF4-FFF2-40B4-BE49-F238E27FC236}">
                  <a16:creationId xmlns:a16="http://schemas.microsoft.com/office/drawing/2014/main" id="{F97D97D0-32ED-F39C-7F3B-3A25B8615CE7}"/>
                </a:ext>
              </a:extLst>
            </p:cNvPr>
            <p:cNvSpPr/>
            <p:nvPr/>
          </p:nvSpPr>
          <p:spPr>
            <a:xfrm>
              <a:off x="338281" y="6096000"/>
              <a:ext cx="2373702"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6" name="Grupo 25">
              <a:extLst>
                <a:ext uri="{FF2B5EF4-FFF2-40B4-BE49-F238E27FC236}">
                  <a16:creationId xmlns:a16="http://schemas.microsoft.com/office/drawing/2014/main" id="{EE709B9D-1E6E-6D4F-1C23-E5BAB6FD0614}"/>
                </a:ext>
              </a:extLst>
            </p:cNvPr>
            <p:cNvGrpSpPr/>
            <p:nvPr/>
          </p:nvGrpSpPr>
          <p:grpSpPr>
            <a:xfrm>
              <a:off x="685800" y="6096000"/>
              <a:ext cx="1447800" cy="495372"/>
              <a:chOff x="582416" y="5645548"/>
              <a:chExt cx="2329523" cy="691515"/>
            </a:xfrm>
          </p:grpSpPr>
          <p:sp>
            <p:nvSpPr>
              <p:cNvPr id="27" name="object 2">
                <a:extLst>
                  <a:ext uri="{FF2B5EF4-FFF2-40B4-BE49-F238E27FC236}">
                    <a16:creationId xmlns:a16="http://schemas.microsoft.com/office/drawing/2014/main" id="{6F6F958A-26EB-682A-02B5-94B7AB3D19A2}"/>
                  </a:ext>
                </a:extLst>
              </p:cNvPr>
              <p:cNvSpPr/>
              <p:nvPr/>
            </p:nvSpPr>
            <p:spPr>
              <a:xfrm>
                <a:off x="582416" y="5645548"/>
                <a:ext cx="589915" cy="691515"/>
              </a:xfrm>
              <a:custGeom>
                <a:avLst/>
                <a:gdLst/>
                <a:ahLst/>
                <a:cxnLst/>
                <a:rect l="l" t="t" r="r" b="b"/>
                <a:pathLst>
                  <a:path w="589915" h="691514">
                    <a:moveTo>
                      <a:pt x="311958" y="97402"/>
                    </a:moveTo>
                    <a:lnTo>
                      <a:pt x="286126" y="97402"/>
                    </a:lnTo>
                    <a:lnTo>
                      <a:pt x="287264" y="104907"/>
                    </a:lnTo>
                    <a:lnTo>
                      <a:pt x="290172" y="124419"/>
                    </a:lnTo>
                    <a:lnTo>
                      <a:pt x="294174" y="152016"/>
                    </a:lnTo>
                    <a:lnTo>
                      <a:pt x="298270" y="181453"/>
                    </a:lnTo>
                    <a:lnTo>
                      <a:pt x="302721" y="200882"/>
                    </a:lnTo>
                    <a:lnTo>
                      <a:pt x="312125" y="239243"/>
                    </a:lnTo>
                    <a:lnTo>
                      <a:pt x="320584" y="296325"/>
                    </a:lnTo>
                    <a:lnTo>
                      <a:pt x="327583" y="362622"/>
                    </a:lnTo>
                    <a:lnTo>
                      <a:pt x="331926" y="440339"/>
                    </a:lnTo>
                    <a:lnTo>
                      <a:pt x="337659" y="553000"/>
                    </a:lnTo>
                    <a:lnTo>
                      <a:pt x="330998" y="595071"/>
                    </a:lnTo>
                    <a:lnTo>
                      <a:pt x="308224" y="625761"/>
                    </a:lnTo>
                    <a:lnTo>
                      <a:pt x="301539" y="633722"/>
                    </a:lnTo>
                    <a:lnTo>
                      <a:pt x="298270" y="648438"/>
                    </a:lnTo>
                    <a:lnTo>
                      <a:pt x="297656" y="661866"/>
                    </a:lnTo>
                    <a:lnTo>
                      <a:pt x="297595" y="673796"/>
                    </a:lnTo>
                    <a:lnTo>
                      <a:pt x="298650" y="681469"/>
                    </a:lnTo>
                    <a:lnTo>
                      <a:pt x="300971" y="691142"/>
                    </a:lnTo>
                    <a:lnTo>
                      <a:pt x="322460" y="690557"/>
                    </a:lnTo>
                    <a:lnTo>
                      <a:pt x="367010" y="684945"/>
                    </a:lnTo>
                    <a:lnTo>
                      <a:pt x="345996" y="683276"/>
                    </a:lnTo>
                    <a:lnTo>
                      <a:pt x="330662" y="664450"/>
                    </a:lnTo>
                    <a:lnTo>
                      <a:pt x="326610" y="656450"/>
                    </a:lnTo>
                    <a:lnTo>
                      <a:pt x="329311" y="656450"/>
                    </a:lnTo>
                    <a:lnTo>
                      <a:pt x="329311" y="643109"/>
                    </a:lnTo>
                    <a:lnTo>
                      <a:pt x="346960" y="604642"/>
                    </a:lnTo>
                    <a:lnTo>
                      <a:pt x="365755" y="584393"/>
                    </a:lnTo>
                    <a:lnTo>
                      <a:pt x="365755" y="579064"/>
                    </a:lnTo>
                    <a:lnTo>
                      <a:pt x="368456" y="568382"/>
                    </a:lnTo>
                    <a:lnTo>
                      <a:pt x="373472" y="527690"/>
                    </a:lnTo>
                    <a:lnTo>
                      <a:pt x="376212" y="475991"/>
                    </a:lnTo>
                    <a:lnTo>
                      <a:pt x="376422" y="425791"/>
                    </a:lnTo>
                    <a:lnTo>
                      <a:pt x="373847" y="389599"/>
                    </a:lnTo>
                    <a:lnTo>
                      <a:pt x="371211" y="374189"/>
                    </a:lnTo>
                    <a:lnTo>
                      <a:pt x="365920" y="344397"/>
                    </a:lnTo>
                    <a:lnTo>
                      <a:pt x="358857" y="303848"/>
                    </a:lnTo>
                    <a:lnTo>
                      <a:pt x="350910" y="256168"/>
                    </a:lnTo>
                    <a:lnTo>
                      <a:pt x="342956" y="212974"/>
                    </a:lnTo>
                    <a:lnTo>
                      <a:pt x="334782" y="181453"/>
                    </a:lnTo>
                    <a:lnTo>
                      <a:pt x="326043" y="151100"/>
                    </a:lnTo>
                    <a:lnTo>
                      <a:pt x="315816" y="109408"/>
                    </a:lnTo>
                    <a:lnTo>
                      <a:pt x="311958" y="97402"/>
                    </a:lnTo>
                    <a:close/>
                  </a:path>
                  <a:path w="589915" h="691514">
                    <a:moveTo>
                      <a:pt x="367433" y="684891"/>
                    </a:moveTo>
                    <a:lnTo>
                      <a:pt x="367010" y="684945"/>
                    </a:lnTo>
                    <a:lnTo>
                      <a:pt x="367274" y="684966"/>
                    </a:lnTo>
                    <a:lnTo>
                      <a:pt x="367433" y="684891"/>
                    </a:lnTo>
                    <a:close/>
                  </a:path>
                  <a:path w="589915" h="691514">
                    <a:moveTo>
                      <a:pt x="558230" y="26681"/>
                    </a:moveTo>
                    <a:lnTo>
                      <a:pt x="294218" y="26681"/>
                    </a:lnTo>
                    <a:lnTo>
                      <a:pt x="355567" y="27369"/>
                    </a:lnTo>
                    <a:lnTo>
                      <a:pt x="400339" y="32185"/>
                    </a:lnTo>
                    <a:lnTo>
                      <a:pt x="450425" y="45256"/>
                    </a:lnTo>
                    <a:lnTo>
                      <a:pt x="527715" y="70709"/>
                    </a:lnTo>
                    <a:lnTo>
                      <a:pt x="527669" y="553000"/>
                    </a:lnTo>
                    <a:lnTo>
                      <a:pt x="527061" y="579143"/>
                    </a:lnTo>
                    <a:lnTo>
                      <a:pt x="522484" y="595736"/>
                    </a:lnTo>
                    <a:lnTo>
                      <a:pt x="510061" y="607327"/>
                    </a:lnTo>
                    <a:lnTo>
                      <a:pt x="485869" y="620421"/>
                    </a:lnTo>
                    <a:lnTo>
                      <a:pt x="409049" y="665390"/>
                    </a:lnTo>
                    <a:lnTo>
                      <a:pt x="367433" y="684891"/>
                    </a:lnTo>
                    <a:lnTo>
                      <a:pt x="378743" y="683466"/>
                    </a:lnTo>
                    <a:lnTo>
                      <a:pt x="457548" y="661866"/>
                    </a:lnTo>
                    <a:lnTo>
                      <a:pt x="546601" y="617751"/>
                    </a:lnTo>
                    <a:lnTo>
                      <a:pt x="583618" y="580044"/>
                    </a:lnTo>
                    <a:lnTo>
                      <a:pt x="589797" y="551047"/>
                    </a:lnTo>
                    <a:lnTo>
                      <a:pt x="589797" y="32022"/>
                    </a:lnTo>
                    <a:lnTo>
                      <a:pt x="560485" y="27018"/>
                    </a:lnTo>
                    <a:lnTo>
                      <a:pt x="558230" y="26681"/>
                    </a:lnTo>
                    <a:close/>
                  </a:path>
                  <a:path w="589915" h="691514">
                    <a:moveTo>
                      <a:pt x="292867" y="0"/>
                    </a:moveTo>
                    <a:lnTo>
                      <a:pt x="228905" y="2372"/>
                    </a:lnTo>
                    <a:lnTo>
                      <a:pt x="162655" y="8302"/>
                    </a:lnTo>
                    <a:lnTo>
                      <a:pt x="100378" y="16011"/>
                    </a:lnTo>
                    <a:lnTo>
                      <a:pt x="48336" y="23720"/>
                    </a:lnTo>
                    <a:lnTo>
                      <a:pt x="0" y="32022"/>
                    </a:lnTo>
                    <a:lnTo>
                      <a:pt x="61" y="548376"/>
                    </a:lnTo>
                    <a:lnTo>
                      <a:pt x="1771" y="585444"/>
                    </a:lnTo>
                    <a:lnTo>
                      <a:pt x="14171" y="609085"/>
                    </a:lnTo>
                    <a:lnTo>
                      <a:pt x="47829" y="627721"/>
                    </a:lnTo>
                    <a:lnTo>
                      <a:pt x="113372" y="651109"/>
                    </a:lnTo>
                    <a:lnTo>
                      <a:pt x="87770" y="631303"/>
                    </a:lnTo>
                    <a:lnTo>
                      <a:pt x="73555" y="603744"/>
                    </a:lnTo>
                    <a:lnTo>
                      <a:pt x="67439" y="574184"/>
                    </a:lnTo>
                    <a:lnTo>
                      <a:pt x="66132" y="548376"/>
                    </a:lnTo>
                    <a:lnTo>
                      <a:pt x="66132" y="70709"/>
                    </a:lnTo>
                    <a:lnTo>
                      <a:pt x="87537" y="63830"/>
                    </a:lnTo>
                    <a:lnTo>
                      <a:pt x="142219" y="48695"/>
                    </a:lnTo>
                    <a:lnTo>
                      <a:pt x="215879" y="33561"/>
                    </a:lnTo>
                    <a:lnTo>
                      <a:pt x="294218" y="26681"/>
                    </a:lnTo>
                    <a:lnTo>
                      <a:pt x="558230" y="26681"/>
                    </a:lnTo>
                    <a:lnTo>
                      <a:pt x="486886" y="16011"/>
                    </a:lnTo>
                    <a:lnTo>
                      <a:pt x="390510" y="5003"/>
                    </a:lnTo>
                    <a:lnTo>
                      <a:pt x="292867" y="0"/>
                    </a:lnTo>
                    <a:close/>
                  </a:path>
                  <a:path w="589915" h="691514">
                    <a:moveTo>
                      <a:pt x="284775" y="46698"/>
                    </a:moveTo>
                    <a:lnTo>
                      <a:pt x="261826" y="98726"/>
                    </a:lnTo>
                    <a:lnTo>
                      <a:pt x="251961" y="152016"/>
                    </a:lnTo>
                    <a:lnTo>
                      <a:pt x="246898" y="196759"/>
                    </a:lnTo>
                    <a:lnTo>
                      <a:pt x="242830" y="248167"/>
                    </a:lnTo>
                    <a:lnTo>
                      <a:pt x="241590" y="272180"/>
                    </a:lnTo>
                    <a:lnTo>
                      <a:pt x="236862" y="348067"/>
                    </a:lnTo>
                    <a:lnTo>
                      <a:pt x="228084" y="487002"/>
                    </a:lnTo>
                    <a:lnTo>
                      <a:pt x="228147" y="489107"/>
                    </a:lnTo>
                    <a:lnTo>
                      <a:pt x="228590" y="492838"/>
                    </a:lnTo>
                    <a:lnTo>
                      <a:pt x="229793" y="494315"/>
                    </a:lnTo>
                    <a:lnTo>
                      <a:pt x="232135" y="489661"/>
                    </a:lnTo>
                    <a:lnTo>
                      <a:pt x="236333" y="462103"/>
                    </a:lnTo>
                    <a:lnTo>
                      <a:pt x="243441" y="405274"/>
                    </a:lnTo>
                    <a:lnTo>
                      <a:pt x="251309" y="339936"/>
                    </a:lnTo>
                    <a:lnTo>
                      <a:pt x="257786" y="286856"/>
                    </a:lnTo>
                    <a:lnTo>
                      <a:pt x="259826" y="267637"/>
                    </a:lnTo>
                    <a:lnTo>
                      <a:pt x="262054" y="247705"/>
                    </a:lnTo>
                    <a:lnTo>
                      <a:pt x="264422" y="228695"/>
                    </a:lnTo>
                    <a:lnTo>
                      <a:pt x="267229" y="209470"/>
                    </a:lnTo>
                    <a:lnTo>
                      <a:pt x="272270" y="171698"/>
                    </a:lnTo>
                    <a:lnTo>
                      <a:pt x="277184" y="138428"/>
                    </a:lnTo>
                    <a:lnTo>
                      <a:pt x="281844" y="112661"/>
                    </a:lnTo>
                    <a:lnTo>
                      <a:pt x="286126" y="97402"/>
                    </a:lnTo>
                    <a:lnTo>
                      <a:pt x="311958" y="97402"/>
                    </a:lnTo>
                    <a:lnTo>
                      <a:pt x="308687" y="87227"/>
                    </a:lnTo>
                    <a:lnTo>
                      <a:pt x="299283" y="67046"/>
                    </a:lnTo>
                    <a:lnTo>
                      <a:pt x="290385" y="52369"/>
                    </a:lnTo>
                    <a:lnTo>
                      <a:pt x="284775" y="46698"/>
                    </a:lnTo>
                    <a:close/>
                  </a:path>
                </a:pathLst>
              </a:custGeom>
              <a:solidFill>
                <a:srgbClr val="000000"/>
              </a:solidFill>
            </p:spPr>
            <p:txBody>
              <a:bodyPr wrap="square" lIns="0" tIns="0" rIns="0" bIns="0" rtlCol="0"/>
              <a:lstStyle/>
              <a:p>
                <a:endParaRPr/>
              </a:p>
            </p:txBody>
          </p:sp>
          <p:grpSp>
            <p:nvGrpSpPr>
              <p:cNvPr id="28" name="object 3">
                <a:extLst>
                  <a:ext uri="{FF2B5EF4-FFF2-40B4-BE49-F238E27FC236}">
                    <a16:creationId xmlns:a16="http://schemas.microsoft.com/office/drawing/2014/main" id="{AD2FD9AE-074F-CB0D-19E7-4250FD29249B}"/>
                  </a:ext>
                </a:extLst>
              </p:cNvPr>
              <p:cNvGrpSpPr/>
              <p:nvPr/>
            </p:nvGrpSpPr>
            <p:grpSpPr>
              <a:xfrm>
                <a:off x="2654129" y="5677571"/>
                <a:ext cx="257810" cy="194945"/>
                <a:chOff x="2654129" y="5677571"/>
                <a:chExt cx="257810" cy="194945"/>
              </a:xfrm>
            </p:grpSpPr>
            <p:sp>
              <p:nvSpPr>
                <p:cNvPr id="50" name="object 4">
                  <a:extLst>
                    <a:ext uri="{FF2B5EF4-FFF2-40B4-BE49-F238E27FC236}">
                      <a16:creationId xmlns:a16="http://schemas.microsoft.com/office/drawing/2014/main" id="{67ECAD8D-9855-CA34-0D67-34B26A19BAC7}"/>
                    </a:ext>
                  </a:extLst>
                </p:cNvPr>
                <p:cNvSpPr/>
                <p:nvPr/>
              </p:nvSpPr>
              <p:spPr>
                <a:xfrm>
                  <a:off x="2654129" y="5677571"/>
                  <a:ext cx="114688" cy="194794"/>
                </a:xfrm>
                <a:prstGeom prst="rect">
                  <a:avLst/>
                </a:prstGeom>
                <a:blipFill>
                  <a:blip r:embed="rId2" cstate="print"/>
                  <a:stretch>
                    <a:fillRect/>
                  </a:stretch>
                </a:blipFill>
              </p:spPr>
              <p:txBody>
                <a:bodyPr wrap="square" lIns="0" tIns="0" rIns="0" bIns="0" rtlCol="0"/>
                <a:lstStyle/>
                <a:p>
                  <a:endParaRPr/>
                </a:p>
              </p:txBody>
            </p:sp>
            <p:sp>
              <p:nvSpPr>
                <p:cNvPr id="51" name="object 5">
                  <a:extLst>
                    <a:ext uri="{FF2B5EF4-FFF2-40B4-BE49-F238E27FC236}">
                      <a16:creationId xmlns:a16="http://schemas.microsoft.com/office/drawing/2014/main" id="{19869DDA-B161-F71C-98E0-13D594E92477}"/>
                    </a:ext>
                  </a:extLst>
                </p:cNvPr>
                <p:cNvSpPr/>
                <p:nvPr/>
              </p:nvSpPr>
              <p:spPr>
                <a:xfrm>
                  <a:off x="2797180" y="5729599"/>
                  <a:ext cx="114688" cy="142766"/>
                </a:xfrm>
                <a:prstGeom prst="rect">
                  <a:avLst/>
                </a:prstGeom>
                <a:blipFill>
                  <a:blip r:embed="rId3" cstate="print"/>
                  <a:stretch>
                    <a:fillRect/>
                  </a:stretch>
                </a:blipFill>
              </p:spPr>
              <p:txBody>
                <a:bodyPr wrap="square" lIns="0" tIns="0" rIns="0" bIns="0" rtlCol="0"/>
                <a:lstStyle/>
                <a:p>
                  <a:endParaRPr/>
                </a:p>
              </p:txBody>
            </p:sp>
          </p:grpSp>
          <p:grpSp>
            <p:nvGrpSpPr>
              <p:cNvPr id="29" name="object 6">
                <a:extLst>
                  <a:ext uri="{FF2B5EF4-FFF2-40B4-BE49-F238E27FC236}">
                    <a16:creationId xmlns:a16="http://schemas.microsoft.com/office/drawing/2014/main" id="{29804E48-6D5C-417F-B42E-C0209C37575E}"/>
                  </a:ext>
                </a:extLst>
              </p:cNvPr>
              <p:cNvGrpSpPr/>
              <p:nvPr/>
            </p:nvGrpSpPr>
            <p:grpSpPr>
              <a:xfrm>
                <a:off x="1276131" y="5935075"/>
                <a:ext cx="447040" cy="307340"/>
                <a:chOff x="1276131" y="5935075"/>
                <a:chExt cx="447040" cy="307340"/>
              </a:xfrm>
            </p:grpSpPr>
            <p:sp>
              <p:nvSpPr>
                <p:cNvPr id="47" name="object 7">
                  <a:extLst>
                    <a:ext uri="{FF2B5EF4-FFF2-40B4-BE49-F238E27FC236}">
                      <a16:creationId xmlns:a16="http://schemas.microsoft.com/office/drawing/2014/main" id="{894B2BD6-64B0-05F8-AFA9-C33BF2F38C7A}"/>
                    </a:ext>
                  </a:extLst>
                </p:cNvPr>
                <p:cNvSpPr/>
                <p:nvPr/>
              </p:nvSpPr>
              <p:spPr>
                <a:xfrm>
                  <a:off x="1276131" y="5935075"/>
                  <a:ext cx="50165" cy="302895"/>
                </a:xfrm>
                <a:custGeom>
                  <a:avLst/>
                  <a:gdLst/>
                  <a:ahLst/>
                  <a:cxnLst/>
                  <a:rect l="l" t="t" r="r" b="b"/>
                  <a:pathLst>
                    <a:path w="50165" h="302895">
                      <a:moveTo>
                        <a:pt x="49938" y="0"/>
                      </a:moveTo>
                      <a:lnTo>
                        <a:pt x="0" y="0"/>
                      </a:lnTo>
                      <a:lnTo>
                        <a:pt x="0" y="302878"/>
                      </a:lnTo>
                      <a:lnTo>
                        <a:pt x="49938" y="302878"/>
                      </a:lnTo>
                      <a:lnTo>
                        <a:pt x="49938" y="0"/>
                      </a:lnTo>
                      <a:close/>
                    </a:path>
                  </a:pathLst>
                </a:custGeom>
                <a:solidFill>
                  <a:srgbClr val="000000"/>
                </a:solidFill>
              </p:spPr>
              <p:txBody>
                <a:bodyPr wrap="square" lIns="0" tIns="0" rIns="0" bIns="0" rtlCol="0"/>
                <a:lstStyle/>
                <a:p>
                  <a:endParaRPr/>
                </a:p>
              </p:txBody>
            </p:sp>
            <p:sp>
              <p:nvSpPr>
                <p:cNvPr id="48" name="object 8">
                  <a:extLst>
                    <a:ext uri="{FF2B5EF4-FFF2-40B4-BE49-F238E27FC236}">
                      <a16:creationId xmlns:a16="http://schemas.microsoft.com/office/drawing/2014/main" id="{4D419106-2566-2F9A-0F65-537297143EA1}"/>
                    </a:ext>
                  </a:extLst>
                </p:cNvPr>
                <p:cNvSpPr/>
                <p:nvPr/>
              </p:nvSpPr>
              <p:spPr>
                <a:xfrm>
                  <a:off x="1369255" y="6017801"/>
                  <a:ext cx="183558" cy="224157"/>
                </a:xfrm>
                <a:prstGeom prst="rect">
                  <a:avLst/>
                </a:prstGeom>
                <a:blipFill>
                  <a:blip r:embed="rId4" cstate="print"/>
                  <a:stretch>
                    <a:fillRect/>
                  </a:stretch>
                </a:blipFill>
              </p:spPr>
              <p:txBody>
                <a:bodyPr wrap="square" lIns="0" tIns="0" rIns="0" bIns="0" rtlCol="0"/>
                <a:lstStyle/>
                <a:p>
                  <a:endParaRPr/>
                </a:p>
              </p:txBody>
            </p:sp>
            <p:sp>
              <p:nvSpPr>
                <p:cNvPr id="49" name="object 9">
                  <a:extLst>
                    <a:ext uri="{FF2B5EF4-FFF2-40B4-BE49-F238E27FC236}">
                      <a16:creationId xmlns:a16="http://schemas.microsoft.com/office/drawing/2014/main" id="{34D8ED28-EC1D-2F1F-5B52-2CE677616ECC}"/>
                    </a:ext>
                  </a:extLst>
                </p:cNvPr>
                <p:cNvSpPr/>
                <p:nvPr/>
              </p:nvSpPr>
              <p:spPr>
                <a:xfrm>
                  <a:off x="1583855" y="6020117"/>
                  <a:ext cx="139033" cy="220840"/>
                </a:xfrm>
                <a:prstGeom prst="rect">
                  <a:avLst/>
                </a:prstGeom>
                <a:blipFill>
                  <a:blip r:embed="rId5" cstate="print"/>
                  <a:stretch>
                    <a:fillRect/>
                  </a:stretch>
                </a:blipFill>
              </p:spPr>
              <p:txBody>
                <a:bodyPr wrap="square" lIns="0" tIns="0" rIns="0" bIns="0" rtlCol="0"/>
                <a:lstStyle/>
                <a:p>
                  <a:endParaRPr/>
                </a:p>
              </p:txBody>
            </p:sp>
          </p:grpSp>
          <p:grpSp>
            <p:nvGrpSpPr>
              <p:cNvPr id="30" name="object 10">
                <a:extLst>
                  <a:ext uri="{FF2B5EF4-FFF2-40B4-BE49-F238E27FC236}">
                    <a16:creationId xmlns:a16="http://schemas.microsoft.com/office/drawing/2014/main" id="{DF027B6B-0127-3106-CB4D-71927488DADE}"/>
                  </a:ext>
                </a:extLst>
              </p:cNvPr>
              <p:cNvGrpSpPr/>
              <p:nvPr/>
            </p:nvGrpSpPr>
            <p:grpSpPr>
              <a:xfrm>
                <a:off x="1834876" y="5937745"/>
                <a:ext cx="456565" cy="300355"/>
                <a:chOff x="1834876" y="5937745"/>
                <a:chExt cx="456565" cy="300355"/>
              </a:xfrm>
            </p:grpSpPr>
            <p:sp>
              <p:nvSpPr>
                <p:cNvPr id="45" name="object 11">
                  <a:extLst>
                    <a:ext uri="{FF2B5EF4-FFF2-40B4-BE49-F238E27FC236}">
                      <a16:creationId xmlns:a16="http://schemas.microsoft.com/office/drawing/2014/main" id="{005A70D5-4B84-0DA1-80A9-7A36218B3D6F}"/>
                    </a:ext>
                  </a:extLst>
                </p:cNvPr>
                <p:cNvSpPr/>
                <p:nvPr/>
              </p:nvSpPr>
              <p:spPr>
                <a:xfrm>
                  <a:off x="1834876" y="5937745"/>
                  <a:ext cx="252729" cy="300355"/>
                </a:xfrm>
                <a:custGeom>
                  <a:avLst/>
                  <a:gdLst/>
                  <a:ahLst/>
                  <a:cxnLst/>
                  <a:rect l="l" t="t" r="r" b="b"/>
                  <a:pathLst>
                    <a:path w="252730" h="300354">
                      <a:moveTo>
                        <a:pt x="152505" y="0"/>
                      </a:moveTo>
                      <a:lnTo>
                        <a:pt x="99832" y="0"/>
                      </a:lnTo>
                      <a:lnTo>
                        <a:pt x="0" y="300208"/>
                      </a:lnTo>
                      <a:lnTo>
                        <a:pt x="49972" y="300208"/>
                      </a:lnTo>
                      <a:lnTo>
                        <a:pt x="74283" y="222822"/>
                      </a:lnTo>
                      <a:lnTo>
                        <a:pt x="226603" y="222822"/>
                      </a:lnTo>
                      <a:lnTo>
                        <a:pt x="215954" y="190799"/>
                      </a:lnTo>
                      <a:lnTo>
                        <a:pt x="82386" y="190799"/>
                      </a:lnTo>
                      <a:lnTo>
                        <a:pt x="116039" y="85397"/>
                      </a:lnTo>
                      <a:lnTo>
                        <a:pt x="118824" y="74137"/>
                      </a:lnTo>
                      <a:lnTo>
                        <a:pt x="121104" y="64378"/>
                      </a:lnTo>
                      <a:lnTo>
                        <a:pt x="122876" y="56121"/>
                      </a:lnTo>
                      <a:lnTo>
                        <a:pt x="124142" y="49368"/>
                      </a:lnTo>
                      <a:lnTo>
                        <a:pt x="168922" y="49368"/>
                      </a:lnTo>
                      <a:lnTo>
                        <a:pt x="152505" y="0"/>
                      </a:lnTo>
                      <a:close/>
                    </a:path>
                    <a:path w="252730" h="300354">
                      <a:moveTo>
                        <a:pt x="226603" y="222822"/>
                      </a:moveTo>
                      <a:lnTo>
                        <a:pt x="171413" y="222822"/>
                      </a:lnTo>
                      <a:lnTo>
                        <a:pt x="194374" y="300208"/>
                      </a:lnTo>
                      <a:lnTo>
                        <a:pt x="252337" y="300208"/>
                      </a:lnTo>
                      <a:lnTo>
                        <a:pt x="226603" y="222822"/>
                      </a:lnTo>
                      <a:close/>
                    </a:path>
                    <a:path w="252730" h="300354">
                      <a:moveTo>
                        <a:pt x="168922" y="49368"/>
                      </a:moveTo>
                      <a:lnTo>
                        <a:pt x="125493" y="49368"/>
                      </a:lnTo>
                      <a:lnTo>
                        <a:pt x="126759" y="56872"/>
                      </a:lnTo>
                      <a:lnTo>
                        <a:pt x="128532" y="65380"/>
                      </a:lnTo>
                      <a:lnTo>
                        <a:pt x="130811" y="74888"/>
                      </a:lnTo>
                      <a:lnTo>
                        <a:pt x="133597" y="85397"/>
                      </a:lnTo>
                      <a:lnTo>
                        <a:pt x="164660" y="190799"/>
                      </a:lnTo>
                      <a:lnTo>
                        <a:pt x="215954" y="190799"/>
                      </a:lnTo>
                      <a:lnTo>
                        <a:pt x="168922" y="49368"/>
                      </a:lnTo>
                      <a:close/>
                    </a:path>
                  </a:pathLst>
                </a:custGeom>
                <a:solidFill>
                  <a:srgbClr val="000000"/>
                </a:solidFill>
              </p:spPr>
              <p:txBody>
                <a:bodyPr wrap="square" lIns="0" tIns="0" rIns="0" bIns="0" rtlCol="0"/>
                <a:lstStyle/>
                <a:p>
                  <a:endParaRPr/>
                </a:p>
              </p:txBody>
            </p:sp>
            <p:sp>
              <p:nvSpPr>
                <p:cNvPr id="46" name="object 12">
                  <a:extLst>
                    <a:ext uri="{FF2B5EF4-FFF2-40B4-BE49-F238E27FC236}">
                      <a16:creationId xmlns:a16="http://schemas.microsoft.com/office/drawing/2014/main" id="{9BD47DDB-2395-D4A2-7B6B-283F0D015EBD}"/>
                    </a:ext>
                  </a:extLst>
                </p:cNvPr>
                <p:cNvSpPr/>
                <p:nvPr/>
              </p:nvSpPr>
              <p:spPr>
                <a:xfrm>
                  <a:off x="2119628" y="6017801"/>
                  <a:ext cx="171414" cy="220151"/>
                </a:xfrm>
                <a:prstGeom prst="rect">
                  <a:avLst/>
                </a:prstGeom>
                <a:blipFill>
                  <a:blip r:embed="rId6" cstate="print"/>
                  <a:stretch>
                    <a:fillRect/>
                  </a:stretch>
                </a:blipFill>
              </p:spPr>
              <p:txBody>
                <a:bodyPr wrap="square" lIns="0" tIns="0" rIns="0" bIns="0" rtlCol="0"/>
                <a:lstStyle/>
                <a:p>
                  <a:endParaRPr/>
                </a:p>
              </p:txBody>
            </p:sp>
          </p:grpSp>
          <p:grpSp>
            <p:nvGrpSpPr>
              <p:cNvPr id="31" name="object 13">
                <a:extLst>
                  <a:ext uri="{FF2B5EF4-FFF2-40B4-BE49-F238E27FC236}">
                    <a16:creationId xmlns:a16="http://schemas.microsoft.com/office/drawing/2014/main" id="{7DD914F6-F0CB-513B-9EE6-13C1E643A2E6}"/>
                  </a:ext>
                </a:extLst>
              </p:cNvPr>
              <p:cNvGrpSpPr/>
              <p:nvPr/>
            </p:nvGrpSpPr>
            <p:grpSpPr>
              <a:xfrm>
                <a:off x="2335612" y="5937745"/>
                <a:ext cx="574040" cy="306070"/>
                <a:chOff x="2335612" y="5937745"/>
                <a:chExt cx="574040" cy="306070"/>
              </a:xfrm>
            </p:grpSpPr>
            <p:sp>
              <p:nvSpPr>
                <p:cNvPr id="42" name="object 14">
                  <a:extLst>
                    <a:ext uri="{FF2B5EF4-FFF2-40B4-BE49-F238E27FC236}">
                      <a16:creationId xmlns:a16="http://schemas.microsoft.com/office/drawing/2014/main" id="{EB041F0F-F77E-4464-7387-009DE824B389}"/>
                    </a:ext>
                  </a:extLst>
                </p:cNvPr>
                <p:cNvSpPr/>
                <p:nvPr/>
              </p:nvSpPr>
              <p:spPr>
                <a:xfrm>
                  <a:off x="2335612" y="5937745"/>
                  <a:ext cx="179705" cy="306070"/>
                </a:xfrm>
                <a:custGeom>
                  <a:avLst/>
                  <a:gdLst/>
                  <a:ahLst/>
                  <a:cxnLst/>
                  <a:rect l="l" t="t" r="r" b="b"/>
                  <a:pathLst>
                    <a:path w="179705" h="306070">
                      <a:moveTo>
                        <a:pt x="95780" y="84061"/>
                      </a:moveTo>
                      <a:lnTo>
                        <a:pt x="57344" y="91231"/>
                      </a:lnTo>
                      <a:lnTo>
                        <a:pt x="15384" y="129905"/>
                      </a:lnTo>
                      <a:lnTo>
                        <a:pt x="1751" y="171393"/>
                      </a:lnTo>
                      <a:lnTo>
                        <a:pt x="0" y="196140"/>
                      </a:lnTo>
                      <a:lnTo>
                        <a:pt x="1751" y="220090"/>
                      </a:lnTo>
                      <a:lnTo>
                        <a:pt x="15384" y="260491"/>
                      </a:lnTo>
                      <a:lnTo>
                        <a:pt x="42230" y="289218"/>
                      </a:lnTo>
                      <a:lnTo>
                        <a:pt x="79717" y="303775"/>
                      </a:lnTo>
                      <a:lnTo>
                        <a:pt x="102533" y="305548"/>
                      </a:lnTo>
                      <a:lnTo>
                        <a:pt x="125577" y="304547"/>
                      </a:lnTo>
                      <a:lnTo>
                        <a:pt x="146090" y="301544"/>
                      </a:lnTo>
                      <a:lnTo>
                        <a:pt x="164070" y="296541"/>
                      </a:lnTo>
                      <a:lnTo>
                        <a:pt x="179517" y="289537"/>
                      </a:lnTo>
                      <a:lnTo>
                        <a:pt x="178167" y="289537"/>
                      </a:lnTo>
                      <a:lnTo>
                        <a:pt x="178167" y="274861"/>
                      </a:lnTo>
                      <a:lnTo>
                        <a:pt x="103883" y="274861"/>
                      </a:lnTo>
                      <a:lnTo>
                        <a:pt x="63253" y="254177"/>
                      </a:lnTo>
                      <a:lnTo>
                        <a:pt x="49972" y="193470"/>
                      </a:lnTo>
                      <a:lnTo>
                        <a:pt x="53711" y="157463"/>
                      </a:lnTo>
                      <a:lnTo>
                        <a:pt x="64772" y="131590"/>
                      </a:lnTo>
                      <a:lnTo>
                        <a:pt x="82924" y="115976"/>
                      </a:lnTo>
                      <a:lnTo>
                        <a:pt x="107935" y="110743"/>
                      </a:lnTo>
                      <a:lnTo>
                        <a:pt x="178167" y="110743"/>
                      </a:lnTo>
                      <a:lnTo>
                        <a:pt x="178167" y="88056"/>
                      </a:lnTo>
                      <a:lnTo>
                        <a:pt x="128194" y="88056"/>
                      </a:lnTo>
                      <a:lnTo>
                        <a:pt x="121420" y="86310"/>
                      </a:lnTo>
                      <a:lnTo>
                        <a:pt x="113506" y="85061"/>
                      </a:lnTo>
                      <a:lnTo>
                        <a:pt x="104833" y="84312"/>
                      </a:lnTo>
                      <a:lnTo>
                        <a:pt x="95780" y="84061"/>
                      </a:lnTo>
                      <a:close/>
                    </a:path>
                    <a:path w="179705" h="306070">
                      <a:moveTo>
                        <a:pt x="178167" y="110743"/>
                      </a:moveTo>
                      <a:lnTo>
                        <a:pt x="116039" y="110743"/>
                      </a:lnTo>
                      <a:lnTo>
                        <a:pt x="129545" y="113413"/>
                      </a:lnTo>
                      <a:lnTo>
                        <a:pt x="129545" y="268185"/>
                      </a:lnTo>
                      <a:lnTo>
                        <a:pt x="124965" y="270730"/>
                      </a:lnTo>
                      <a:lnTo>
                        <a:pt x="119246" y="272525"/>
                      </a:lnTo>
                      <a:lnTo>
                        <a:pt x="112261" y="273818"/>
                      </a:lnTo>
                      <a:lnTo>
                        <a:pt x="103883" y="274861"/>
                      </a:lnTo>
                      <a:lnTo>
                        <a:pt x="178167" y="274861"/>
                      </a:lnTo>
                      <a:lnTo>
                        <a:pt x="178167" y="110743"/>
                      </a:lnTo>
                      <a:close/>
                    </a:path>
                    <a:path w="179705" h="306070">
                      <a:moveTo>
                        <a:pt x="178166" y="0"/>
                      </a:moveTo>
                      <a:lnTo>
                        <a:pt x="128194" y="0"/>
                      </a:lnTo>
                      <a:lnTo>
                        <a:pt x="128194" y="88056"/>
                      </a:lnTo>
                      <a:lnTo>
                        <a:pt x="178167" y="88056"/>
                      </a:lnTo>
                      <a:lnTo>
                        <a:pt x="178166" y="0"/>
                      </a:lnTo>
                      <a:close/>
                    </a:path>
                  </a:pathLst>
                </a:custGeom>
                <a:solidFill>
                  <a:srgbClr val="000000"/>
                </a:solidFill>
              </p:spPr>
              <p:txBody>
                <a:bodyPr wrap="square" lIns="0" tIns="0" rIns="0" bIns="0" rtlCol="0"/>
                <a:lstStyle/>
                <a:p>
                  <a:endParaRPr/>
                </a:p>
              </p:txBody>
            </p:sp>
            <p:sp>
              <p:nvSpPr>
                <p:cNvPr id="43" name="object 15">
                  <a:extLst>
                    <a:ext uri="{FF2B5EF4-FFF2-40B4-BE49-F238E27FC236}">
                      <a16:creationId xmlns:a16="http://schemas.microsoft.com/office/drawing/2014/main" id="{B7F42983-8D68-4E17-A983-E00C5D1F15CE}"/>
                    </a:ext>
                  </a:extLst>
                </p:cNvPr>
                <p:cNvSpPr/>
                <p:nvPr/>
              </p:nvSpPr>
              <p:spPr>
                <a:xfrm>
                  <a:off x="2558326" y="6015131"/>
                  <a:ext cx="180778" cy="225492"/>
                </a:xfrm>
                <a:prstGeom prst="rect">
                  <a:avLst/>
                </a:prstGeom>
                <a:blipFill>
                  <a:blip r:embed="rId7" cstate="print"/>
                  <a:stretch>
                    <a:fillRect/>
                  </a:stretch>
                </a:blipFill>
              </p:spPr>
              <p:txBody>
                <a:bodyPr wrap="square" lIns="0" tIns="0" rIns="0" bIns="0" rtlCol="0"/>
                <a:lstStyle/>
                <a:p>
                  <a:endParaRPr/>
                </a:p>
              </p:txBody>
            </p:sp>
            <p:sp>
              <p:nvSpPr>
                <p:cNvPr id="44" name="object 16">
                  <a:extLst>
                    <a:ext uri="{FF2B5EF4-FFF2-40B4-BE49-F238E27FC236}">
                      <a16:creationId xmlns:a16="http://schemas.microsoft.com/office/drawing/2014/main" id="{0FAA98B5-441F-B648-E558-97A5C3CEA508}"/>
                    </a:ext>
                  </a:extLst>
                </p:cNvPr>
                <p:cNvSpPr/>
                <p:nvPr/>
              </p:nvSpPr>
              <p:spPr>
                <a:xfrm>
                  <a:off x="2770168" y="6020117"/>
                  <a:ext cx="138999" cy="220840"/>
                </a:xfrm>
                <a:prstGeom prst="rect">
                  <a:avLst/>
                </a:prstGeom>
                <a:blipFill>
                  <a:blip r:embed="rId8" cstate="print"/>
                  <a:stretch>
                    <a:fillRect/>
                  </a:stretch>
                </a:blipFill>
              </p:spPr>
              <p:txBody>
                <a:bodyPr wrap="square" lIns="0" tIns="0" rIns="0" bIns="0" rtlCol="0"/>
                <a:lstStyle/>
                <a:p>
                  <a:endParaRPr/>
                </a:p>
              </p:txBody>
            </p:sp>
          </p:grpSp>
          <p:grpSp>
            <p:nvGrpSpPr>
              <p:cNvPr id="32" name="object 17">
                <a:extLst>
                  <a:ext uri="{FF2B5EF4-FFF2-40B4-BE49-F238E27FC236}">
                    <a16:creationId xmlns:a16="http://schemas.microsoft.com/office/drawing/2014/main" id="{942F5C38-AEE2-BD91-38A1-99E5030F3217}"/>
                  </a:ext>
                </a:extLst>
              </p:cNvPr>
              <p:cNvGrpSpPr/>
              <p:nvPr/>
            </p:nvGrpSpPr>
            <p:grpSpPr>
              <a:xfrm>
                <a:off x="1274781" y="5678906"/>
                <a:ext cx="1281430" cy="194945"/>
                <a:chOff x="1274781" y="5678906"/>
                <a:chExt cx="1281430" cy="194945"/>
              </a:xfrm>
            </p:grpSpPr>
            <p:sp>
              <p:nvSpPr>
                <p:cNvPr id="33" name="object 18">
                  <a:extLst>
                    <a:ext uri="{FF2B5EF4-FFF2-40B4-BE49-F238E27FC236}">
                      <a16:creationId xmlns:a16="http://schemas.microsoft.com/office/drawing/2014/main" id="{9A625CB6-4018-90E6-B3CC-A35A9E7FBF49}"/>
                    </a:ext>
                  </a:extLst>
                </p:cNvPr>
                <p:cNvSpPr/>
                <p:nvPr/>
              </p:nvSpPr>
              <p:spPr>
                <a:xfrm>
                  <a:off x="1427286" y="5729599"/>
                  <a:ext cx="109331" cy="141430"/>
                </a:xfrm>
                <a:prstGeom prst="rect">
                  <a:avLst/>
                </a:prstGeom>
                <a:blipFill>
                  <a:blip r:embed="rId9" cstate="print"/>
                  <a:stretch>
                    <a:fillRect/>
                  </a:stretch>
                </a:blipFill>
              </p:spPr>
              <p:txBody>
                <a:bodyPr wrap="square" lIns="0" tIns="0" rIns="0" bIns="0" rtlCol="0"/>
                <a:lstStyle/>
                <a:p>
                  <a:endParaRPr/>
                </a:p>
              </p:txBody>
            </p:sp>
            <p:sp>
              <p:nvSpPr>
                <p:cNvPr id="34" name="object 19">
                  <a:extLst>
                    <a:ext uri="{FF2B5EF4-FFF2-40B4-BE49-F238E27FC236}">
                      <a16:creationId xmlns:a16="http://schemas.microsoft.com/office/drawing/2014/main" id="{9B3A7C6A-6403-435E-0D67-59BF85111F59}"/>
                    </a:ext>
                  </a:extLst>
                </p:cNvPr>
                <p:cNvSpPr/>
                <p:nvPr/>
              </p:nvSpPr>
              <p:spPr>
                <a:xfrm>
                  <a:off x="1569010" y="5678906"/>
                  <a:ext cx="35560" cy="192405"/>
                </a:xfrm>
                <a:custGeom>
                  <a:avLst/>
                  <a:gdLst/>
                  <a:ahLst/>
                  <a:cxnLst/>
                  <a:rect l="l" t="t" r="r" b="b"/>
                  <a:pathLst>
                    <a:path w="35559" h="192404">
                      <a:moveTo>
                        <a:pt x="33731" y="53363"/>
                      </a:moveTo>
                      <a:lnTo>
                        <a:pt x="2689" y="53363"/>
                      </a:lnTo>
                      <a:lnTo>
                        <a:pt x="2689" y="192123"/>
                      </a:lnTo>
                      <a:lnTo>
                        <a:pt x="33731" y="192123"/>
                      </a:lnTo>
                      <a:lnTo>
                        <a:pt x="33731" y="53363"/>
                      </a:lnTo>
                      <a:close/>
                    </a:path>
                    <a:path w="35559" h="192404">
                      <a:moveTo>
                        <a:pt x="22937" y="0"/>
                      </a:moveTo>
                      <a:lnTo>
                        <a:pt x="13494" y="0"/>
                      </a:lnTo>
                      <a:lnTo>
                        <a:pt x="9442" y="1335"/>
                      </a:lnTo>
                      <a:lnTo>
                        <a:pt x="1339" y="6664"/>
                      </a:lnTo>
                      <a:lnTo>
                        <a:pt x="0" y="10670"/>
                      </a:lnTo>
                      <a:lnTo>
                        <a:pt x="0" y="18670"/>
                      </a:lnTo>
                      <a:lnTo>
                        <a:pt x="2689" y="22676"/>
                      </a:lnTo>
                      <a:lnTo>
                        <a:pt x="8092" y="28016"/>
                      </a:lnTo>
                      <a:lnTo>
                        <a:pt x="12144" y="29352"/>
                      </a:lnTo>
                      <a:lnTo>
                        <a:pt x="21587" y="29352"/>
                      </a:lnTo>
                      <a:lnTo>
                        <a:pt x="26989" y="28016"/>
                      </a:lnTo>
                      <a:lnTo>
                        <a:pt x="29690" y="25346"/>
                      </a:lnTo>
                      <a:lnTo>
                        <a:pt x="33731" y="22676"/>
                      </a:lnTo>
                      <a:lnTo>
                        <a:pt x="35081" y="18670"/>
                      </a:lnTo>
                      <a:lnTo>
                        <a:pt x="35081" y="10670"/>
                      </a:lnTo>
                      <a:lnTo>
                        <a:pt x="33731" y="6664"/>
                      </a:lnTo>
                      <a:lnTo>
                        <a:pt x="29690" y="3994"/>
                      </a:lnTo>
                      <a:lnTo>
                        <a:pt x="26989" y="1335"/>
                      </a:lnTo>
                      <a:lnTo>
                        <a:pt x="22937" y="0"/>
                      </a:lnTo>
                      <a:close/>
                    </a:path>
                  </a:pathLst>
                </a:custGeom>
                <a:solidFill>
                  <a:srgbClr val="000000"/>
                </a:solidFill>
              </p:spPr>
              <p:txBody>
                <a:bodyPr wrap="square" lIns="0" tIns="0" rIns="0" bIns="0" rtlCol="0"/>
                <a:lstStyle/>
                <a:p>
                  <a:endParaRPr/>
                </a:p>
              </p:txBody>
            </p:sp>
            <p:sp>
              <p:nvSpPr>
                <p:cNvPr id="35" name="object 20">
                  <a:extLst>
                    <a:ext uri="{FF2B5EF4-FFF2-40B4-BE49-F238E27FC236}">
                      <a16:creationId xmlns:a16="http://schemas.microsoft.com/office/drawing/2014/main" id="{FB5999D7-751A-4E93-ADDD-47920CCAAB5B}"/>
                    </a:ext>
                  </a:extLst>
                </p:cNvPr>
                <p:cNvSpPr/>
                <p:nvPr/>
              </p:nvSpPr>
              <p:spPr>
                <a:xfrm>
                  <a:off x="1625690" y="5729599"/>
                  <a:ext cx="252405" cy="142766"/>
                </a:xfrm>
                <a:prstGeom prst="rect">
                  <a:avLst/>
                </a:prstGeom>
                <a:blipFill>
                  <a:blip r:embed="rId10" cstate="print"/>
                  <a:stretch>
                    <a:fillRect/>
                  </a:stretch>
                </a:blipFill>
              </p:spPr>
              <p:txBody>
                <a:bodyPr wrap="square" lIns="0" tIns="0" rIns="0" bIns="0" rtlCol="0"/>
                <a:lstStyle/>
                <a:p>
                  <a:endParaRPr/>
                </a:p>
              </p:txBody>
            </p:sp>
            <p:sp>
              <p:nvSpPr>
                <p:cNvPr id="36" name="object 21">
                  <a:extLst>
                    <a:ext uri="{FF2B5EF4-FFF2-40B4-BE49-F238E27FC236}">
                      <a16:creationId xmlns:a16="http://schemas.microsoft.com/office/drawing/2014/main" id="{C1B4E466-760C-EED2-0DD1-506B620A694A}"/>
                    </a:ext>
                  </a:extLst>
                </p:cNvPr>
                <p:cNvSpPr/>
                <p:nvPr/>
              </p:nvSpPr>
              <p:spPr>
                <a:xfrm>
                  <a:off x="1907808" y="5729599"/>
                  <a:ext cx="167362" cy="142766"/>
                </a:xfrm>
                <a:prstGeom prst="rect">
                  <a:avLst/>
                </a:prstGeom>
                <a:blipFill>
                  <a:blip r:embed="rId11" cstate="print"/>
                  <a:stretch>
                    <a:fillRect/>
                  </a:stretch>
                </a:blipFill>
              </p:spPr>
              <p:txBody>
                <a:bodyPr wrap="square" lIns="0" tIns="0" rIns="0" bIns="0" rtlCol="0"/>
                <a:lstStyle/>
                <a:p>
                  <a:endParaRPr/>
                </a:p>
              </p:txBody>
            </p:sp>
            <p:sp>
              <p:nvSpPr>
                <p:cNvPr id="37" name="object 22">
                  <a:extLst>
                    <a:ext uri="{FF2B5EF4-FFF2-40B4-BE49-F238E27FC236}">
                      <a16:creationId xmlns:a16="http://schemas.microsoft.com/office/drawing/2014/main" id="{12D2B8CF-E844-5926-9B2D-745DDC1FF49B}"/>
                    </a:ext>
                  </a:extLst>
                </p:cNvPr>
                <p:cNvSpPr/>
                <p:nvPr/>
              </p:nvSpPr>
              <p:spPr>
                <a:xfrm>
                  <a:off x="2102070" y="5678906"/>
                  <a:ext cx="35560" cy="192405"/>
                </a:xfrm>
                <a:custGeom>
                  <a:avLst/>
                  <a:gdLst/>
                  <a:ahLst/>
                  <a:cxnLst/>
                  <a:rect l="l" t="t" r="r" b="b"/>
                  <a:pathLst>
                    <a:path w="35560" h="192404">
                      <a:moveTo>
                        <a:pt x="32414" y="53363"/>
                      </a:moveTo>
                      <a:lnTo>
                        <a:pt x="1350" y="53363"/>
                      </a:lnTo>
                      <a:lnTo>
                        <a:pt x="1350" y="192123"/>
                      </a:lnTo>
                      <a:lnTo>
                        <a:pt x="32414" y="192123"/>
                      </a:lnTo>
                      <a:lnTo>
                        <a:pt x="32414" y="53363"/>
                      </a:lnTo>
                      <a:close/>
                    </a:path>
                    <a:path w="35560" h="192404">
                      <a:moveTo>
                        <a:pt x="22960" y="0"/>
                      </a:moveTo>
                      <a:lnTo>
                        <a:pt x="13506" y="0"/>
                      </a:lnTo>
                      <a:lnTo>
                        <a:pt x="8103" y="1335"/>
                      </a:lnTo>
                      <a:lnTo>
                        <a:pt x="5402" y="3994"/>
                      </a:lnTo>
                      <a:lnTo>
                        <a:pt x="1350" y="6664"/>
                      </a:lnTo>
                      <a:lnTo>
                        <a:pt x="0" y="10670"/>
                      </a:lnTo>
                      <a:lnTo>
                        <a:pt x="0" y="18670"/>
                      </a:lnTo>
                      <a:lnTo>
                        <a:pt x="2701" y="22676"/>
                      </a:lnTo>
                      <a:lnTo>
                        <a:pt x="8103" y="28016"/>
                      </a:lnTo>
                      <a:lnTo>
                        <a:pt x="12155" y="29352"/>
                      </a:lnTo>
                      <a:lnTo>
                        <a:pt x="21609" y="29352"/>
                      </a:lnTo>
                      <a:lnTo>
                        <a:pt x="27012" y="28016"/>
                      </a:lnTo>
                      <a:lnTo>
                        <a:pt x="29713" y="25346"/>
                      </a:lnTo>
                      <a:lnTo>
                        <a:pt x="33765" y="22676"/>
                      </a:lnTo>
                      <a:lnTo>
                        <a:pt x="35115" y="18670"/>
                      </a:lnTo>
                      <a:lnTo>
                        <a:pt x="35115" y="10670"/>
                      </a:lnTo>
                      <a:lnTo>
                        <a:pt x="32414" y="6664"/>
                      </a:lnTo>
                      <a:lnTo>
                        <a:pt x="27012" y="1335"/>
                      </a:lnTo>
                      <a:lnTo>
                        <a:pt x="22960" y="0"/>
                      </a:lnTo>
                      <a:close/>
                    </a:path>
                  </a:pathLst>
                </a:custGeom>
                <a:solidFill>
                  <a:srgbClr val="000000"/>
                </a:solidFill>
              </p:spPr>
              <p:txBody>
                <a:bodyPr wrap="square" lIns="0" tIns="0" rIns="0" bIns="0" rtlCol="0"/>
                <a:lstStyle/>
                <a:p>
                  <a:endParaRPr/>
                </a:p>
              </p:txBody>
            </p:sp>
            <p:sp>
              <p:nvSpPr>
                <p:cNvPr id="38" name="object 23">
                  <a:extLst>
                    <a:ext uri="{FF2B5EF4-FFF2-40B4-BE49-F238E27FC236}">
                      <a16:creationId xmlns:a16="http://schemas.microsoft.com/office/drawing/2014/main" id="{147C4ED9-2CDD-4BDF-FE3F-BFBCEEFA1EA4}"/>
                    </a:ext>
                  </a:extLst>
                </p:cNvPr>
                <p:cNvSpPr/>
                <p:nvPr/>
              </p:nvSpPr>
              <p:spPr>
                <a:xfrm>
                  <a:off x="2165548" y="5678906"/>
                  <a:ext cx="114688" cy="194794"/>
                </a:xfrm>
                <a:prstGeom prst="rect">
                  <a:avLst/>
                </a:prstGeom>
                <a:blipFill>
                  <a:blip r:embed="rId12" cstate="print"/>
                  <a:stretch>
                    <a:fillRect/>
                  </a:stretch>
                </a:blipFill>
              </p:spPr>
              <p:txBody>
                <a:bodyPr wrap="square" lIns="0" tIns="0" rIns="0" bIns="0" rtlCol="0"/>
                <a:lstStyle/>
                <a:p>
                  <a:endParaRPr/>
                </a:p>
              </p:txBody>
            </p:sp>
            <p:sp>
              <p:nvSpPr>
                <p:cNvPr id="39" name="object 24">
                  <a:extLst>
                    <a:ext uri="{FF2B5EF4-FFF2-40B4-BE49-F238E27FC236}">
                      <a16:creationId xmlns:a16="http://schemas.microsoft.com/office/drawing/2014/main" id="{CDCBC08D-8224-40CD-D628-B2ADB37A5BA2}"/>
                    </a:ext>
                  </a:extLst>
                </p:cNvPr>
                <p:cNvSpPr/>
                <p:nvPr/>
              </p:nvSpPr>
              <p:spPr>
                <a:xfrm>
                  <a:off x="2305898" y="5729599"/>
                  <a:ext cx="106585" cy="142766"/>
                </a:xfrm>
                <a:prstGeom prst="rect">
                  <a:avLst/>
                </a:prstGeom>
                <a:blipFill>
                  <a:blip r:embed="rId13" cstate="print"/>
                  <a:stretch>
                    <a:fillRect/>
                  </a:stretch>
                </a:blipFill>
              </p:spPr>
              <p:txBody>
                <a:bodyPr wrap="square" lIns="0" tIns="0" rIns="0" bIns="0" rtlCol="0"/>
                <a:lstStyle/>
                <a:p>
                  <a:endParaRPr/>
                </a:p>
              </p:txBody>
            </p:sp>
            <p:sp>
              <p:nvSpPr>
                <p:cNvPr id="40" name="object 25">
                  <a:extLst>
                    <a:ext uri="{FF2B5EF4-FFF2-40B4-BE49-F238E27FC236}">
                      <a16:creationId xmlns:a16="http://schemas.microsoft.com/office/drawing/2014/main" id="{4F0F4801-3C87-2D13-48AD-66C81F39DB8F}"/>
                    </a:ext>
                  </a:extLst>
                </p:cNvPr>
                <p:cNvSpPr/>
                <p:nvPr/>
              </p:nvSpPr>
              <p:spPr>
                <a:xfrm>
                  <a:off x="2440846" y="5678906"/>
                  <a:ext cx="114801" cy="194794"/>
                </a:xfrm>
                <a:prstGeom prst="rect">
                  <a:avLst/>
                </a:prstGeom>
                <a:blipFill>
                  <a:blip r:embed="rId14" cstate="print"/>
                  <a:stretch>
                    <a:fillRect/>
                  </a:stretch>
                </a:blipFill>
              </p:spPr>
              <p:txBody>
                <a:bodyPr wrap="square" lIns="0" tIns="0" rIns="0" bIns="0" rtlCol="0"/>
                <a:lstStyle/>
                <a:p>
                  <a:endParaRPr/>
                </a:p>
              </p:txBody>
            </p:sp>
            <p:sp>
              <p:nvSpPr>
                <p:cNvPr id="41" name="object 26">
                  <a:extLst>
                    <a:ext uri="{FF2B5EF4-FFF2-40B4-BE49-F238E27FC236}">
                      <a16:creationId xmlns:a16="http://schemas.microsoft.com/office/drawing/2014/main" id="{62B819C5-360B-ED31-6195-4FC2EE4BA0B0}"/>
                    </a:ext>
                  </a:extLst>
                </p:cNvPr>
                <p:cNvSpPr/>
                <p:nvPr/>
              </p:nvSpPr>
              <p:spPr>
                <a:xfrm>
                  <a:off x="1274781" y="5678906"/>
                  <a:ext cx="117423" cy="193459"/>
                </a:xfrm>
                <a:prstGeom prst="rect">
                  <a:avLst/>
                </a:prstGeom>
                <a:blipFill>
                  <a:blip r:embed="rId15" cstate="print"/>
                  <a:stretch>
                    <a:fillRect/>
                  </a:stretch>
                </a:blipFill>
              </p:spPr>
              <p:txBody>
                <a:bodyPr wrap="square" lIns="0" tIns="0" rIns="0" bIns="0" rtlCol="0"/>
                <a:lstStyle/>
                <a:p>
                  <a:endParaRPr/>
                </a:p>
              </p:txBody>
            </p:sp>
          </p:grpSp>
        </p:grpSp>
      </p:grpSp>
      <p:sp>
        <p:nvSpPr>
          <p:cNvPr id="59" name="Marcador de texto 1">
            <a:extLst>
              <a:ext uri="{FF2B5EF4-FFF2-40B4-BE49-F238E27FC236}">
                <a16:creationId xmlns:a16="http://schemas.microsoft.com/office/drawing/2014/main" id="{749B28BB-CD41-F05B-73E5-C9837F2EAB79}"/>
              </a:ext>
            </a:extLst>
          </p:cNvPr>
          <p:cNvSpPr txBox="1">
            <a:spLocks/>
          </p:cNvSpPr>
          <p:nvPr/>
        </p:nvSpPr>
        <p:spPr>
          <a:xfrm>
            <a:off x="1714500" y="3172979"/>
            <a:ext cx="4708646" cy="376886"/>
          </a:xfrm>
          <a:prstGeom prst="rect">
            <a:avLst/>
          </a:prstGeom>
        </p:spPr>
        <p:txBody>
          <a:bodyPr vert="horz" lIns="91440" tIns="45720" rIns="91440" bIns="45720" rtlCol="0" anchor="ctr">
            <a:normAutofit/>
          </a:bodyPr>
          <a:lstStyle>
            <a:lvl1pPr marL="0" indent="0" algn="l" defTabSz="914400" rtl="0" eaLnBrk="1" latinLnBrk="0" hangingPunct="1">
              <a:lnSpc>
                <a:spcPct val="90000"/>
              </a:lnSpc>
              <a:spcBef>
                <a:spcPts val="1000"/>
              </a:spcBef>
              <a:buClr>
                <a:srgbClr val="00A3E0"/>
              </a:buClr>
              <a:buFont typeface="Open Sans" panose="020B0606030504020204" pitchFamily="34" charset="0"/>
              <a:buNone/>
              <a:defRPr sz="1600" b="1" kern="1200">
                <a:solidFill>
                  <a:srgbClr val="0070C0"/>
                </a:solidFill>
                <a:latin typeface="+mj-lt"/>
                <a:ea typeface="+mn-ea"/>
                <a:cs typeface="+mn-cs"/>
              </a:defRPr>
            </a:lvl1pPr>
            <a:lvl2pPr marL="457200" indent="0" algn="l" defTabSz="914400" rtl="0" eaLnBrk="1" latinLnBrk="0" hangingPunct="1">
              <a:lnSpc>
                <a:spcPct val="90000"/>
              </a:lnSpc>
              <a:spcBef>
                <a:spcPts val="500"/>
              </a:spcBef>
              <a:buClr>
                <a:srgbClr val="00A3E0"/>
              </a:buClr>
              <a:buFont typeface="Open Sans" panose="020B0606030504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rgbClr val="00A3E0"/>
              </a:buClr>
              <a:buFont typeface="Open Sans" panose="020B0606030504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defRPr/>
            </a:pPr>
            <a:r>
              <a:rPr lang="es-CO" sz="1400" dirty="0">
                <a:latin typeface="Open Sans Semibold"/>
              </a:rPr>
              <a:t>Importante resaltar : </a:t>
            </a:r>
          </a:p>
        </p:txBody>
      </p:sp>
      <p:graphicFrame>
        <p:nvGraphicFramePr>
          <p:cNvPr id="7" name="Tabla 6">
            <a:extLst>
              <a:ext uri="{FF2B5EF4-FFF2-40B4-BE49-F238E27FC236}">
                <a16:creationId xmlns:a16="http://schemas.microsoft.com/office/drawing/2014/main" id="{AF29D63D-EC2B-4E1A-6004-8E8F521735A2}"/>
              </a:ext>
            </a:extLst>
          </p:cNvPr>
          <p:cNvGraphicFramePr>
            <a:graphicFrameLocks noGrp="1"/>
          </p:cNvGraphicFramePr>
          <p:nvPr>
            <p:extLst>
              <p:ext uri="{D42A27DB-BD31-4B8C-83A1-F6EECF244321}">
                <p14:modId xmlns:p14="http://schemas.microsoft.com/office/powerpoint/2010/main" val="570511123"/>
              </p:ext>
            </p:extLst>
          </p:nvPr>
        </p:nvGraphicFramePr>
        <p:xfrm>
          <a:off x="2415559" y="1469816"/>
          <a:ext cx="7713050" cy="1243025"/>
        </p:xfrm>
        <a:graphic>
          <a:graphicData uri="http://schemas.openxmlformats.org/drawingml/2006/table">
            <a:tbl>
              <a:tblPr/>
              <a:tblGrid>
                <a:gridCol w="2396288">
                  <a:extLst>
                    <a:ext uri="{9D8B030D-6E8A-4147-A177-3AD203B41FA5}">
                      <a16:colId xmlns:a16="http://schemas.microsoft.com/office/drawing/2014/main" val="518267740"/>
                    </a:ext>
                  </a:extLst>
                </a:gridCol>
                <a:gridCol w="2134193">
                  <a:extLst>
                    <a:ext uri="{9D8B030D-6E8A-4147-A177-3AD203B41FA5}">
                      <a16:colId xmlns:a16="http://schemas.microsoft.com/office/drawing/2014/main" val="1891503776"/>
                    </a:ext>
                  </a:extLst>
                </a:gridCol>
                <a:gridCol w="1722332">
                  <a:extLst>
                    <a:ext uri="{9D8B030D-6E8A-4147-A177-3AD203B41FA5}">
                      <a16:colId xmlns:a16="http://schemas.microsoft.com/office/drawing/2014/main" val="3345453915"/>
                    </a:ext>
                  </a:extLst>
                </a:gridCol>
                <a:gridCol w="936050">
                  <a:extLst>
                    <a:ext uri="{9D8B030D-6E8A-4147-A177-3AD203B41FA5}">
                      <a16:colId xmlns:a16="http://schemas.microsoft.com/office/drawing/2014/main" val="2300508264"/>
                    </a:ext>
                  </a:extLst>
                </a:gridCol>
                <a:gridCol w="524187">
                  <a:extLst>
                    <a:ext uri="{9D8B030D-6E8A-4147-A177-3AD203B41FA5}">
                      <a16:colId xmlns:a16="http://schemas.microsoft.com/office/drawing/2014/main" val="2068278943"/>
                    </a:ext>
                  </a:extLst>
                </a:gridCol>
              </a:tblGrid>
              <a:tr h="147744">
                <a:tc>
                  <a:txBody>
                    <a:bodyPr/>
                    <a:lstStyle/>
                    <a:p>
                      <a:pPr algn="ctr">
                        <a:buNone/>
                      </a:pPr>
                      <a:r>
                        <a:rPr lang="es-CO" sz="1100" b="1">
                          <a:solidFill>
                            <a:srgbClr val="000000"/>
                          </a:solidFill>
                          <a:effectLst/>
                          <a:latin typeface="Helvetica Neue" panose="02000503000000020004" pitchFamily="2" charset="0"/>
                        </a:rPr>
                        <a:t>Modelo</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lgn="ctr">
                        <a:buNone/>
                      </a:pPr>
                      <a:r>
                        <a:rPr lang="es-CO" sz="1100" b="1">
                          <a:solidFill>
                            <a:srgbClr val="000000"/>
                          </a:solidFill>
                          <a:effectLst/>
                          <a:latin typeface="Helvetica Neue" panose="02000503000000020004" pitchFamily="2" charset="0"/>
                        </a:rPr>
                        <a:t>R2</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lgn="ctr">
                        <a:buNone/>
                      </a:pPr>
                      <a:r>
                        <a:rPr lang="es-CO" sz="1100" b="1">
                          <a:solidFill>
                            <a:srgbClr val="000000"/>
                          </a:solidFill>
                          <a:effectLst/>
                          <a:latin typeface="Helvetica Neue" panose="02000503000000020004" pitchFamily="2" charset="0"/>
                        </a:rPr>
                        <a:t>Edad_pico</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lgn="ctr">
                        <a:buNone/>
                      </a:pPr>
                      <a:r>
                        <a:rPr lang="es-CO" sz="1100" b="1">
                          <a:solidFill>
                            <a:srgbClr val="000000"/>
                          </a:solidFill>
                          <a:effectLst/>
                          <a:latin typeface="Helvetica Neue" panose="02000503000000020004" pitchFamily="2" charset="0"/>
                        </a:rPr>
                        <a:t>IC_95</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lgn="ctr">
                        <a:buNone/>
                      </a:pPr>
                      <a:r>
                        <a:rPr lang="es-CO" sz="1100" b="1">
                          <a:solidFill>
                            <a:srgbClr val="000000"/>
                          </a:solidFill>
                          <a:effectLst/>
                          <a:latin typeface="Helvetica Neue" panose="02000503000000020004" pitchFamily="2" charset="0"/>
                        </a:rPr>
                        <a:t>N</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extLst>
                  <a:ext uri="{0D108BD9-81ED-4DB2-BD59-A6C34878D82A}">
                    <a16:rowId xmlns:a16="http://schemas.microsoft.com/office/drawing/2014/main" val="2293035063"/>
                  </a:ext>
                </a:extLst>
              </a:tr>
              <a:tr h="342335">
                <a:tc>
                  <a:txBody>
                    <a:bodyPr/>
                    <a:lstStyle/>
                    <a:p>
                      <a:pPr algn="ctr">
                        <a:buNone/>
                      </a:pPr>
                      <a:r>
                        <a:rPr lang="es-CO" sz="1100" b="1" dirty="0">
                          <a:solidFill>
                            <a:srgbClr val="000000"/>
                          </a:solidFill>
                          <a:effectLst/>
                          <a:latin typeface="Helvetica Neue" panose="02000503000000020004" pitchFamily="2" charset="0"/>
                        </a:rPr>
                        <a:t>Lineal</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lgn="ctr">
                        <a:buNone/>
                      </a:pPr>
                      <a:r>
                        <a:rPr lang="es-CO" sz="1100" dirty="0">
                          <a:solidFill>
                            <a:srgbClr val="000000"/>
                          </a:solidFill>
                          <a:effectLst/>
                          <a:latin typeface="Helvetica Neue" panose="02000503000000020004" pitchFamily="2" charset="0"/>
                        </a:rPr>
                        <a:t>0.001</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dirty="0">
                          <a:solidFill>
                            <a:srgbClr val="000000"/>
                          </a:solidFill>
                          <a:effectLst/>
                          <a:latin typeface="Helvetica Neue" panose="02000503000000020004" pitchFamily="2" charset="0"/>
                        </a:rPr>
                        <a:t>NA</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a:solidFill>
                            <a:srgbClr val="000000"/>
                          </a:solidFill>
                          <a:effectLst/>
                          <a:latin typeface="Helvetica Neue" panose="02000503000000020004" pitchFamily="2" charset="0"/>
                        </a:rPr>
                        <a:t>NA</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a:solidFill>
                            <a:srgbClr val="000000"/>
                          </a:solidFill>
                          <a:effectLst/>
                          <a:latin typeface="Helvetica Neue" panose="02000503000000020004" pitchFamily="2" charset="0"/>
                        </a:rPr>
                        <a:t>14764</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1318898"/>
                  </a:ext>
                </a:extLst>
              </a:tr>
              <a:tr h="342335">
                <a:tc>
                  <a:txBody>
                    <a:bodyPr/>
                    <a:lstStyle/>
                    <a:p>
                      <a:pPr algn="ctr">
                        <a:buNone/>
                      </a:pPr>
                      <a:r>
                        <a:rPr lang="es-CO" sz="1100" b="1">
                          <a:solidFill>
                            <a:srgbClr val="000000"/>
                          </a:solidFill>
                          <a:effectLst/>
                          <a:latin typeface="Helvetica Neue" panose="02000503000000020004" pitchFamily="2" charset="0"/>
                        </a:rPr>
                        <a:t>Cuadrático (incond.)</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lgn="ctr">
                        <a:buNone/>
                      </a:pPr>
                      <a:r>
                        <a:rPr lang="es-CO" sz="1100" dirty="0">
                          <a:solidFill>
                            <a:srgbClr val="000000"/>
                          </a:solidFill>
                          <a:effectLst/>
                          <a:latin typeface="Helvetica Neue" panose="02000503000000020004" pitchFamily="2" charset="0"/>
                        </a:rPr>
                        <a:t>0.050</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dirty="0">
                          <a:solidFill>
                            <a:srgbClr val="000000"/>
                          </a:solidFill>
                          <a:effectLst/>
                          <a:latin typeface="Helvetica Neue" panose="02000503000000020004" pitchFamily="2" charset="0"/>
                        </a:rPr>
                        <a:t>40.618</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a:solidFill>
                            <a:srgbClr val="000000"/>
                          </a:solidFill>
                          <a:effectLst/>
                          <a:latin typeface="Helvetica Neue" panose="02000503000000020004" pitchFamily="2" charset="0"/>
                        </a:rPr>
                        <a:t>[40.1, 41.1]</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a:solidFill>
                            <a:srgbClr val="000000"/>
                          </a:solidFill>
                          <a:effectLst/>
                          <a:latin typeface="Helvetica Neue" panose="02000503000000020004" pitchFamily="2" charset="0"/>
                        </a:rPr>
                        <a:t>14764</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6999494"/>
                  </a:ext>
                </a:extLst>
              </a:tr>
              <a:tr h="342335">
                <a:tc>
                  <a:txBody>
                    <a:bodyPr/>
                    <a:lstStyle/>
                    <a:p>
                      <a:pPr algn="ctr">
                        <a:buNone/>
                      </a:pPr>
                      <a:r>
                        <a:rPr lang="es-CO" sz="1100" b="1">
                          <a:solidFill>
                            <a:srgbClr val="000000"/>
                          </a:solidFill>
                          <a:effectLst/>
                          <a:latin typeface="Helvetica Neue" panose="02000503000000020004" pitchFamily="2" charset="0"/>
                        </a:rPr>
                        <a:t>Condicional (horas + relab)</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lgn="ctr">
                        <a:buNone/>
                      </a:pPr>
                      <a:r>
                        <a:rPr lang="es-CO" sz="1100" dirty="0">
                          <a:solidFill>
                            <a:srgbClr val="000000"/>
                          </a:solidFill>
                          <a:effectLst/>
                          <a:latin typeface="Helvetica Neue" panose="02000503000000020004" pitchFamily="2" charset="0"/>
                        </a:rPr>
                        <a:t>0.226</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dirty="0">
                          <a:solidFill>
                            <a:srgbClr val="000000"/>
                          </a:solidFill>
                          <a:effectLst/>
                          <a:latin typeface="Helvetica Neue" panose="02000503000000020004" pitchFamily="2" charset="0"/>
                        </a:rPr>
                        <a:t>43.608</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a:solidFill>
                            <a:srgbClr val="000000"/>
                          </a:solidFill>
                          <a:effectLst/>
                          <a:latin typeface="Helvetica Neue" panose="02000503000000020004" pitchFamily="2" charset="0"/>
                        </a:rPr>
                        <a:t>[42.8, 44.4]</a:t>
                      </a:r>
                      <a:endParaRPr lang="es-CO" sz="110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a:buNone/>
                      </a:pPr>
                      <a:r>
                        <a:rPr lang="es-CO" sz="1100" dirty="0">
                          <a:solidFill>
                            <a:srgbClr val="000000"/>
                          </a:solidFill>
                          <a:effectLst/>
                          <a:latin typeface="Helvetica Neue" panose="02000503000000020004" pitchFamily="2" charset="0"/>
                        </a:rPr>
                        <a:t>14764</a:t>
                      </a:r>
                      <a:endParaRPr lang="es-CO" sz="1100" dirty="0">
                        <a:effectLst/>
                      </a:endParaRPr>
                    </a:p>
                  </a:txBody>
                  <a:tcPr marL="24190" marR="24190" marT="24190" marB="2419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43561213"/>
                  </a:ext>
                </a:extLst>
              </a:tr>
            </a:tbl>
          </a:graphicData>
        </a:graphic>
      </p:graphicFrame>
      <p:sp>
        <p:nvSpPr>
          <p:cNvPr id="8" name="CuadroTexto 7">
            <a:extLst>
              <a:ext uri="{FF2B5EF4-FFF2-40B4-BE49-F238E27FC236}">
                <a16:creationId xmlns:a16="http://schemas.microsoft.com/office/drawing/2014/main" id="{F3FBB0D4-2842-3AB4-A435-9395510EA218}"/>
              </a:ext>
            </a:extLst>
          </p:cNvPr>
          <p:cNvSpPr txBox="1"/>
          <p:nvPr/>
        </p:nvSpPr>
        <p:spPr>
          <a:xfrm>
            <a:off x="2401492" y="2778306"/>
            <a:ext cx="7947641" cy="369332"/>
          </a:xfrm>
          <a:prstGeom prst="rect">
            <a:avLst/>
          </a:prstGeom>
          <a:noFill/>
        </p:spPr>
        <p:txBody>
          <a:bodyPr wrap="square">
            <a:spAutoFit/>
          </a:bodyPr>
          <a:lstStyle/>
          <a:p>
            <a:pPr>
              <a:buClr>
                <a:srgbClr val="0072CE"/>
              </a:buClr>
            </a:pPr>
            <a:r>
              <a:rPr lang="es-CO" sz="900" i="1" dirty="0">
                <a:solidFill>
                  <a:srgbClr val="3C3C3C"/>
                </a:solidFill>
                <a:latin typeface="Open Sans"/>
              </a:rPr>
              <a:t>Fuente: Cálculos propios basados en la GEIH (2018) para la ciudad de Bogotá.</a:t>
            </a:r>
          </a:p>
          <a:p>
            <a:pPr>
              <a:buClr>
                <a:srgbClr val="0072CE"/>
              </a:buClr>
            </a:pPr>
            <a:r>
              <a:rPr lang="es-CO" sz="900" i="1" dirty="0">
                <a:solidFill>
                  <a:srgbClr val="3C3C3C"/>
                </a:solidFill>
                <a:latin typeface="Open Sans"/>
              </a:rPr>
              <a:t>**El modelo (3) incluye controles por intensidad de la jornada (</a:t>
            </a:r>
            <a:r>
              <a:rPr lang="es-CO" sz="900" i="1" dirty="0" err="1">
                <a:solidFill>
                  <a:srgbClr val="3C3C3C"/>
                </a:solidFill>
                <a:latin typeface="Open Sans"/>
              </a:rPr>
              <a:t>totalHoursWorked</a:t>
            </a:r>
            <a:r>
              <a:rPr lang="es-CO" sz="900" i="1" dirty="0">
                <a:solidFill>
                  <a:srgbClr val="3C3C3C"/>
                </a:solidFill>
                <a:latin typeface="Open Sans"/>
              </a:rPr>
              <a:t>) y tipo de empleo (</a:t>
            </a:r>
            <a:r>
              <a:rPr lang="es-CO" sz="900" i="1" dirty="0" err="1">
                <a:solidFill>
                  <a:srgbClr val="3C3C3C"/>
                </a:solidFill>
                <a:latin typeface="Open Sans"/>
              </a:rPr>
              <a:t>relab</a:t>
            </a:r>
            <a:r>
              <a:rPr lang="es-CO" sz="900" i="1" dirty="0">
                <a:solidFill>
                  <a:srgbClr val="3C3C3C"/>
                </a:solidFill>
                <a:latin typeface="Open Sans"/>
              </a:rPr>
              <a:t>).</a:t>
            </a:r>
          </a:p>
        </p:txBody>
      </p:sp>
      <p:pic>
        <p:nvPicPr>
          <p:cNvPr id="11" name="Gráfico 10" descr="Badge Tick1 contorno">
            <a:extLst>
              <a:ext uri="{FF2B5EF4-FFF2-40B4-BE49-F238E27FC236}">
                <a16:creationId xmlns:a16="http://schemas.microsoft.com/office/drawing/2014/main" id="{6080AE91-FBF9-5805-186C-58A62925CE10}"/>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254578" y="3589172"/>
            <a:ext cx="457200" cy="457200"/>
          </a:xfrm>
          <a:prstGeom prst="rect">
            <a:avLst/>
          </a:prstGeom>
        </p:spPr>
      </p:pic>
      <p:pic>
        <p:nvPicPr>
          <p:cNvPr id="12" name="Gráfico 11" descr="Badge Tick1 contorno">
            <a:extLst>
              <a:ext uri="{FF2B5EF4-FFF2-40B4-BE49-F238E27FC236}">
                <a16:creationId xmlns:a16="http://schemas.microsoft.com/office/drawing/2014/main" id="{01B8F003-39FC-1ED8-E538-A12FF51D716A}"/>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254578" y="4182013"/>
            <a:ext cx="457200" cy="457200"/>
          </a:xfrm>
          <a:prstGeom prst="rect">
            <a:avLst/>
          </a:prstGeom>
        </p:spPr>
      </p:pic>
      <p:pic>
        <p:nvPicPr>
          <p:cNvPr id="52" name="Gráfico 51" descr="Badge Tick1 contorno">
            <a:extLst>
              <a:ext uri="{FF2B5EF4-FFF2-40B4-BE49-F238E27FC236}">
                <a16:creationId xmlns:a16="http://schemas.microsoft.com/office/drawing/2014/main" id="{9445D2AA-164F-FB79-9F15-2D651C13B14D}"/>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254578" y="5053674"/>
            <a:ext cx="457200" cy="457200"/>
          </a:xfrm>
          <a:prstGeom prst="rect">
            <a:avLst/>
          </a:prstGeom>
        </p:spPr>
      </p:pic>
      <mc:AlternateContent xmlns:mc="http://schemas.openxmlformats.org/markup-compatibility/2006">
        <mc:Choice xmlns:a14="http://schemas.microsoft.com/office/drawing/2010/main" Requires="a14">
          <p:sp>
            <p:nvSpPr>
              <p:cNvPr id="55" name="CuadroTexto 54">
                <a:extLst>
                  <a:ext uri="{FF2B5EF4-FFF2-40B4-BE49-F238E27FC236}">
                    <a16:creationId xmlns:a16="http://schemas.microsoft.com/office/drawing/2014/main" id="{89DDAE86-C7BF-9B3A-751C-11831AFDF118}"/>
                  </a:ext>
                </a:extLst>
              </p:cNvPr>
              <p:cNvSpPr txBox="1"/>
              <p:nvPr/>
            </p:nvSpPr>
            <p:spPr>
              <a:xfrm>
                <a:off x="1711778" y="3549865"/>
                <a:ext cx="9509236" cy="430887"/>
              </a:xfrm>
              <a:prstGeom prst="rect">
                <a:avLst/>
              </a:prstGeom>
              <a:noFill/>
            </p:spPr>
            <p:txBody>
              <a:bodyPr wrap="square">
                <a:spAutoFit/>
              </a:bodyPr>
              <a:lstStyle/>
              <a:p>
                <a:pPr>
                  <a:buClr>
                    <a:srgbClr val="0072CE"/>
                  </a:buClr>
                </a:pPr>
                <a:r>
                  <a:rPr lang="es-CO" sz="1100" dirty="0">
                    <a:solidFill>
                      <a:srgbClr val="3C3C3C"/>
                    </a:solidFill>
                    <a:latin typeface="Open Sans"/>
                  </a:rPr>
                  <a:t>Al pasar de la especificación (1) a la (2), </a:t>
                </a:r>
                <a:r>
                  <a:rPr lang="es-CO" sz="1100" b="1" dirty="0">
                    <a:solidFill>
                      <a:srgbClr val="3C3C3C"/>
                    </a:solidFill>
                    <a:latin typeface="Open Sans"/>
                  </a:rPr>
                  <a:t>observamos un incremento en el</a:t>
                </a:r>
                <a:r>
                  <a:rPr lang="es-CO" sz="1100" dirty="0">
                    <a:solidFill>
                      <a:srgbClr val="3C3C3C"/>
                    </a:solidFill>
                    <a:latin typeface="Open Sans"/>
                  </a:rPr>
                  <a:t> </a:t>
                </a:r>
                <a14:m>
                  <m:oMath xmlns:m="http://schemas.openxmlformats.org/officeDocument/2006/math">
                    <m:sSup>
                      <m:sSupPr>
                        <m:ctrlPr>
                          <a:rPr lang="es-CO" sz="1100" i="1" smtClean="0">
                            <a:solidFill>
                              <a:srgbClr val="3C3C3C"/>
                            </a:solidFill>
                            <a:latin typeface="Cambria Math" panose="02040503050406030204" pitchFamily="18" charset="0"/>
                          </a:rPr>
                        </m:ctrlPr>
                      </m:sSupPr>
                      <m:e>
                        <m:r>
                          <a:rPr lang="es-419" sz="1100" b="0" i="1" smtClean="0">
                            <a:solidFill>
                              <a:srgbClr val="3C3C3C"/>
                            </a:solidFill>
                            <a:latin typeface="Cambria Math" panose="02040503050406030204" pitchFamily="18" charset="0"/>
                          </a:rPr>
                          <m:t>𝑅</m:t>
                        </m:r>
                      </m:e>
                      <m:sup>
                        <m:r>
                          <a:rPr lang="es-419" sz="1100" b="0" i="1" smtClean="0">
                            <a:solidFill>
                              <a:srgbClr val="3C3C3C"/>
                            </a:solidFill>
                            <a:latin typeface="Cambria Math" panose="02040503050406030204" pitchFamily="18" charset="0"/>
                          </a:rPr>
                          <m:t>2</m:t>
                        </m:r>
                      </m:sup>
                    </m:sSup>
                  </m:oMath>
                </a14:m>
                <a:r>
                  <a:rPr lang="es-CO" sz="1100" dirty="0">
                    <a:solidFill>
                      <a:srgbClr val="3C3C3C"/>
                    </a:solidFill>
                    <a:latin typeface="Open Sans"/>
                  </a:rPr>
                  <a:t>y la significancia del término cuadrático. </a:t>
                </a:r>
                <a:r>
                  <a:rPr lang="es-CO" sz="1100" b="1" dirty="0">
                    <a:solidFill>
                      <a:srgbClr val="3C3C3C"/>
                    </a:solidFill>
                    <a:latin typeface="Open Sans"/>
                  </a:rPr>
                  <a:t>Esto confirma que los ingresos en Bogotá no crecen de forma lineal, sino que exhiben la concavidad predicha por la teoría del capital humano de </a:t>
                </a:r>
                <a:r>
                  <a:rPr lang="es-CO" sz="1100" b="1" dirty="0" err="1">
                    <a:solidFill>
                      <a:srgbClr val="3C3C3C"/>
                    </a:solidFill>
                    <a:latin typeface="Open Sans"/>
                  </a:rPr>
                  <a:t>Mincer</a:t>
                </a:r>
                <a:r>
                  <a:rPr lang="es-CO" sz="1100" b="1" dirty="0">
                    <a:solidFill>
                      <a:srgbClr val="3C3C3C"/>
                    </a:solidFill>
                    <a:latin typeface="Open Sans"/>
                  </a:rPr>
                  <a:t>."</a:t>
                </a:r>
              </a:p>
            </p:txBody>
          </p:sp>
        </mc:Choice>
        <mc:Fallback>
          <p:sp>
            <p:nvSpPr>
              <p:cNvPr id="55" name="CuadroTexto 54">
                <a:extLst>
                  <a:ext uri="{FF2B5EF4-FFF2-40B4-BE49-F238E27FC236}">
                    <a16:creationId xmlns:a16="http://schemas.microsoft.com/office/drawing/2014/main" id="{89DDAE86-C7BF-9B3A-751C-11831AFDF118}"/>
                  </a:ext>
                </a:extLst>
              </p:cNvPr>
              <p:cNvSpPr txBox="1">
                <a:spLocks noRot="1" noChangeAspect="1" noMove="1" noResize="1" noEditPoints="1" noAdjustHandles="1" noChangeArrowheads="1" noChangeShapeType="1" noTextEdit="1"/>
              </p:cNvSpPr>
              <p:nvPr/>
            </p:nvSpPr>
            <p:spPr>
              <a:xfrm>
                <a:off x="1711778" y="3549865"/>
                <a:ext cx="9509236" cy="430887"/>
              </a:xfrm>
              <a:prstGeom prst="rect">
                <a:avLst/>
              </a:prstGeom>
              <a:blipFill>
                <a:blip r:embed="rId18"/>
                <a:stretch>
                  <a:fillRect b="-857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1" name="CuadroTexto 60">
                <a:extLst>
                  <a:ext uri="{FF2B5EF4-FFF2-40B4-BE49-F238E27FC236}">
                    <a16:creationId xmlns:a16="http://schemas.microsoft.com/office/drawing/2014/main" id="{9AA4198B-7C94-90AA-E4F5-61A21F183BDF}"/>
                  </a:ext>
                </a:extLst>
              </p:cNvPr>
              <p:cNvSpPr txBox="1"/>
              <p:nvPr/>
            </p:nvSpPr>
            <p:spPr>
              <a:xfrm>
                <a:off x="1733549" y="4093611"/>
                <a:ext cx="9225644" cy="769441"/>
              </a:xfrm>
              <a:prstGeom prst="rect">
                <a:avLst/>
              </a:prstGeom>
              <a:noFill/>
            </p:spPr>
            <p:txBody>
              <a:bodyPr wrap="square">
                <a:spAutoFit/>
              </a:bodyPr>
              <a:lstStyle/>
              <a:p>
                <a:pPr>
                  <a:buClr>
                    <a:srgbClr val="0072CE"/>
                  </a:buClr>
                </a:pPr>
                <a:r>
                  <a:rPr lang="es-CO" sz="1100" b="1" dirty="0">
                    <a:solidFill>
                      <a:srgbClr val="3C3C3C"/>
                    </a:solidFill>
                    <a:latin typeface="Open Sans"/>
                  </a:rPr>
                  <a:t>Por qué ese incremento en el </a:t>
                </a:r>
                <a14:m>
                  <m:oMath xmlns:m="http://schemas.openxmlformats.org/officeDocument/2006/math">
                    <m:sSup>
                      <m:sSupPr>
                        <m:ctrlPr>
                          <a:rPr lang="es-CO" sz="1100" i="1">
                            <a:solidFill>
                              <a:srgbClr val="3C3C3C"/>
                            </a:solidFill>
                            <a:latin typeface="Cambria Math" panose="02040503050406030204" pitchFamily="18" charset="0"/>
                          </a:rPr>
                        </m:ctrlPr>
                      </m:sSupPr>
                      <m:e>
                        <m:r>
                          <a:rPr lang="es-419" sz="1100" i="1">
                            <a:solidFill>
                              <a:srgbClr val="3C3C3C"/>
                            </a:solidFill>
                            <a:latin typeface="Cambria Math" panose="02040503050406030204" pitchFamily="18" charset="0"/>
                          </a:rPr>
                          <m:t>𝑅</m:t>
                        </m:r>
                      </m:e>
                      <m:sup>
                        <m:r>
                          <a:rPr lang="es-419" sz="1100" i="1">
                            <a:solidFill>
                              <a:srgbClr val="3C3C3C"/>
                            </a:solidFill>
                            <a:latin typeface="Cambria Math" panose="02040503050406030204" pitchFamily="18" charset="0"/>
                          </a:rPr>
                          <m:t>2</m:t>
                        </m:r>
                      </m:sup>
                    </m:sSup>
                    <m:r>
                      <a:rPr lang="es-419" sz="1100" i="1">
                        <a:solidFill>
                          <a:srgbClr val="3C3C3C"/>
                        </a:solidFill>
                        <a:latin typeface="Cambria Math" panose="02040503050406030204" pitchFamily="18" charset="0"/>
                      </a:rPr>
                      <m:t> </m:t>
                    </m:r>
                    <m:r>
                      <a:rPr lang="es-419" sz="1100" b="0" i="1" smtClean="0">
                        <a:solidFill>
                          <a:srgbClr val="3C3C3C"/>
                        </a:solidFill>
                        <a:latin typeface="Cambria Math" panose="02040503050406030204" pitchFamily="18" charset="0"/>
                      </a:rPr>
                      <m:t>? </m:t>
                    </m:r>
                  </m:oMath>
                </a14:m>
                <a:r>
                  <a:rPr lang="es-CO" sz="1100" dirty="0">
                    <a:solidFill>
                      <a:srgbClr val="3C3C3C"/>
                    </a:solidFill>
                    <a:latin typeface="Open Sans"/>
                  </a:rPr>
                  <a:t>Porque la edad es solo una pequeña parte de la historia. En un mercado como el de Bogotá, la intensidad de la jornada y el estatus laboral (formal vs. informal) explican mucho mejor la variabilidad del ingreso que simplemente los años de vida.</a:t>
                </a:r>
                <a:r>
                  <a:rPr lang="es-CO" sz="1100" b="1" dirty="0">
                    <a:solidFill>
                      <a:srgbClr val="3C3C3C"/>
                    </a:solidFill>
                    <a:latin typeface="Open Sans"/>
                  </a:rPr>
                  <a:t> El aumento confirma que el ingreso mensual está fuertemente determinado por el esfuerzo (horas) y la estructura del puesto de trabajo.</a:t>
                </a:r>
              </a:p>
            </p:txBody>
          </p:sp>
        </mc:Choice>
        <mc:Fallback>
          <p:sp>
            <p:nvSpPr>
              <p:cNvPr id="61" name="CuadroTexto 60">
                <a:extLst>
                  <a:ext uri="{FF2B5EF4-FFF2-40B4-BE49-F238E27FC236}">
                    <a16:creationId xmlns:a16="http://schemas.microsoft.com/office/drawing/2014/main" id="{9AA4198B-7C94-90AA-E4F5-61A21F183BDF}"/>
                  </a:ext>
                </a:extLst>
              </p:cNvPr>
              <p:cNvSpPr txBox="1">
                <a:spLocks noRot="1" noChangeAspect="1" noMove="1" noResize="1" noEditPoints="1" noAdjustHandles="1" noChangeArrowheads="1" noChangeShapeType="1" noTextEdit="1"/>
              </p:cNvSpPr>
              <p:nvPr/>
            </p:nvSpPr>
            <p:spPr>
              <a:xfrm>
                <a:off x="1733549" y="4093611"/>
                <a:ext cx="9225644" cy="769441"/>
              </a:xfrm>
              <a:prstGeom prst="rect">
                <a:avLst/>
              </a:prstGeom>
              <a:blipFill>
                <a:blip r:embed="rId19"/>
                <a:stretch>
                  <a:fillRect b="-3226"/>
                </a:stretch>
              </a:blipFill>
            </p:spPr>
            <p:txBody>
              <a:bodyPr/>
              <a:lstStyle/>
              <a:p>
                <a:r>
                  <a:rPr lang="es-CO">
                    <a:noFill/>
                  </a:rPr>
                  <a:t> </a:t>
                </a:r>
              </a:p>
            </p:txBody>
          </p:sp>
        </mc:Fallback>
      </mc:AlternateContent>
      <p:sp>
        <p:nvSpPr>
          <p:cNvPr id="62" name="CuadroTexto 61">
            <a:extLst>
              <a:ext uri="{FF2B5EF4-FFF2-40B4-BE49-F238E27FC236}">
                <a16:creationId xmlns:a16="http://schemas.microsoft.com/office/drawing/2014/main" id="{B4B475DD-5A8D-D34A-2AAB-E73DDCD2B811}"/>
              </a:ext>
            </a:extLst>
          </p:cNvPr>
          <p:cNvSpPr txBox="1"/>
          <p:nvPr/>
        </p:nvSpPr>
        <p:spPr>
          <a:xfrm>
            <a:off x="1683428" y="5230717"/>
            <a:ext cx="9527647" cy="261610"/>
          </a:xfrm>
          <a:prstGeom prst="rect">
            <a:avLst/>
          </a:prstGeom>
          <a:noFill/>
        </p:spPr>
        <p:txBody>
          <a:bodyPr wrap="square">
            <a:spAutoFit/>
          </a:bodyPr>
          <a:lstStyle/>
          <a:p>
            <a:pPr>
              <a:buClr>
                <a:srgbClr val="0072CE"/>
              </a:buClr>
            </a:pPr>
            <a:r>
              <a:rPr lang="es-CO" sz="1100" dirty="0">
                <a:solidFill>
                  <a:srgbClr val="3C3C3C"/>
                </a:solidFill>
                <a:latin typeface="Open Sans"/>
              </a:rPr>
              <a:t>Los intervalos de confianza estrechos obtenidos por </a:t>
            </a:r>
            <a:r>
              <a:rPr lang="es-CO" sz="1100" dirty="0" err="1">
                <a:solidFill>
                  <a:srgbClr val="3C3C3C"/>
                </a:solidFill>
                <a:latin typeface="Open Sans"/>
              </a:rPr>
              <a:t>bootstrap</a:t>
            </a:r>
            <a:r>
              <a:rPr lang="es-CO" sz="1100" dirty="0">
                <a:solidFill>
                  <a:srgbClr val="3C3C3C"/>
                </a:solidFill>
                <a:latin typeface="Open Sans"/>
              </a:rPr>
              <a:t> confirman la robustez de este pico de ingresos en la madurez del trabajador.</a:t>
            </a:r>
          </a:p>
        </p:txBody>
      </p:sp>
    </p:spTree>
    <p:extLst>
      <p:ext uri="{BB962C8B-B14F-4D97-AF65-F5344CB8AC3E}">
        <p14:creationId xmlns:p14="http://schemas.microsoft.com/office/powerpoint/2010/main" val="328517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94388-8887-BC27-AEEF-6847B885F10B}"/>
            </a:ext>
          </a:extLst>
        </p:cNvPr>
        <p:cNvGrpSpPr/>
        <p:nvPr/>
      </p:nvGrpSpPr>
      <p:grpSpPr>
        <a:xfrm>
          <a:off x="0" y="0"/>
          <a:ext cx="0" cy="0"/>
          <a:chOff x="0" y="0"/>
          <a:chExt cx="0" cy="0"/>
        </a:xfrm>
      </p:grpSpPr>
      <p:pic>
        <p:nvPicPr>
          <p:cNvPr id="9" name="Imagen 8">
            <a:extLst>
              <a:ext uri="{FF2B5EF4-FFF2-40B4-BE49-F238E27FC236}">
                <a16:creationId xmlns:a16="http://schemas.microsoft.com/office/drawing/2014/main" id="{7FEA0024-17D6-3303-848B-B7273187C8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9056" y="1657198"/>
            <a:ext cx="6781800" cy="4144434"/>
          </a:xfrm>
          <a:prstGeom prst="rect">
            <a:avLst/>
          </a:prstGeom>
        </p:spPr>
      </p:pic>
      <p:sp>
        <p:nvSpPr>
          <p:cNvPr id="2" name="Título 5">
            <a:extLst>
              <a:ext uri="{FF2B5EF4-FFF2-40B4-BE49-F238E27FC236}">
                <a16:creationId xmlns:a16="http://schemas.microsoft.com/office/drawing/2014/main" id="{ECAB8091-02EE-4AE5-A3C0-0DBD0FBE6D95}"/>
              </a:ext>
            </a:extLst>
          </p:cNvPr>
          <p:cNvSpPr txBox="1">
            <a:spLocks/>
          </p:cNvSpPr>
          <p:nvPr/>
        </p:nvSpPr>
        <p:spPr>
          <a:xfrm>
            <a:off x="2415559" y="761999"/>
            <a:ext cx="9240140" cy="917575"/>
          </a:xfrm>
          <a:prstGeom prst="rect">
            <a:avLst/>
          </a:prstGeom>
        </p:spPr>
        <p:txBody>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s-CO" sz="1800" dirty="0">
                <a:latin typeface="Open Sans Semibold"/>
              </a:rPr>
              <a:t>Resultados principales</a:t>
            </a:r>
            <a:endParaRPr kumimoji="0" lang="es-CO" sz="1800" b="0" i="0" u="none" strike="noStrike" kern="1200" cap="none" spc="0" normalizeH="0" baseline="0" noProof="0" dirty="0">
              <a:ln>
                <a:noFill/>
              </a:ln>
              <a:solidFill>
                <a:srgbClr val="003057"/>
              </a:solidFill>
              <a:effectLst/>
              <a:uLnTx/>
              <a:uFillTx/>
              <a:latin typeface="Open Sans Semibold"/>
              <a:ea typeface="+mj-ea"/>
              <a:cs typeface="+mj-cs"/>
            </a:endParaRPr>
          </a:p>
        </p:txBody>
      </p:sp>
      <p:sp>
        <p:nvSpPr>
          <p:cNvPr id="3" name="Título 5">
            <a:extLst>
              <a:ext uri="{FF2B5EF4-FFF2-40B4-BE49-F238E27FC236}">
                <a16:creationId xmlns:a16="http://schemas.microsoft.com/office/drawing/2014/main" id="{83020862-8EFA-E156-CCA5-5798D49BD79E}"/>
              </a:ext>
            </a:extLst>
          </p:cNvPr>
          <p:cNvSpPr txBox="1">
            <a:spLocks/>
          </p:cNvSpPr>
          <p:nvPr/>
        </p:nvSpPr>
        <p:spPr>
          <a:xfrm>
            <a:off x="2415559" y="762000"/>
            <a:ext cx="9776441" cy="9175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1400" b="0" i="1" u="none" strike="noStrike" kern="1200" cap="none" spc="0" normalizeH="0" baseline="0" noProof="0" dirty="0">
                <a:ln>
                  <a:noFill/>
                </a:ln>
                <a:solidFill>
                  <a:schemeClr val="accent1"/>
                </a:solidFill>
                <a:effectLst/>
                <a:uLnTx/>
                <a:uFillTx/>
                <a:latin typeface="Open Sans Semibold"/>
                <a:ea typeface="+mj-ea"/>
                <a:cs typeface="+mj-cs"/>
              </a:rPr>
              <a:t>Especificaciones econométricas</a:t>
            </a:r>
          </a:p>
        </p:txBody>
      </p:sp>
      <p:grpSp>
        <p:nvGrpSpPr>
          <p:cNvPr id="18" name="Grupo 17">
            <a:extLst>
              <a:ext uri="{FF2B5EF4-FFF2-40B4-BE49-F238E27FC236}">
                <a16:creationId xmlns:a16="http://schemas.microsoft.com/office/drawing/2014/main" id="{3F7640E7-4106-315F-3E3E-3AFFC3F81CBE}"/>
              </a:ext>
            </a:extLst>
          </p:cNvPr>
          <p:cNvGrpSpPr/>
          <p:nvPr/>
        </p:nvGrpSpPr>
        <p:grpSpPr>
          <a:xfrm>
            <a:off x="609600" y="6019983"/>
            <a:ext cx="8458200" cy="767532"/>
            <a:chOff x="609600" y="6019983"/>
            <a:chExt cx="8458200" cy="767532"/>
          </a:xfrm>
        </p:grpSpPr>
        <p:sp>
          <p:nvSpPr>
            <p:cNvPr id="19" name="Rectángulo 18">
              <a:extLst>
                <a:ext uri="{FF2B5EF4-FFF2-40B4-BE49-F238E27FC236}">
                  <a16:creationId xmlns:a16="http://schemas.microsoft.com/office/drawing/2014/main" id="{A519E2C5-005A-43B4-AEA5-F6DC30B70CA7}"/>
                </a:ext>
              </a:extLst>
            </p:cNvPr>
            <p:cNvSpPr/>
            <p:nvPr/>
          </p:nvSpPr>
          <p:spPr>
            <a:xfrm>
              <a:off x="6858000" y="6096000"/>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rupo 19">
              <a:extLst>
                <a:ext uri="{FF2B5EF4-FFF2-40B4-BE49-F238E27FC236}">
                  <a16:creationId xmlns:a16="http://schemas.microsoft.com/office/drawing/2014/main" id="{6C1F90F7-E5EC-EF45-47C1-DE07AABDBADD}"/>
                </a:ext>
              </a:extLst>
            </p:cNvPr>
            <p:cNvGrpSpPr/>
            <p:nvPr/>
          </p:nvGrpSpPr>
          <p:grpSpPr>
            <a:xfrm>
              <a:off x="609600" y="6019983"/>
              <a:ext cx="5334000" cy="691515"/>
              <a:chOff x="609600" y="6019983"/>
              <a:chExt cx="5334000" cy="691515"/>
            </a:xfrm>
          </p:grpSpPr>
          <p:sp>
            <p:nvSpPr>
              <p:cNvPr id="22" name="Rectángulo 21">
                <a:extLst>
                  <a:ext uri="{FF2B5EF4-FFF2-40B4-BE49-F238E27FC236}">
                    <a16:creationId xmlns:a16="http://schemas.microsoft.com/office/drawing/2014/main" id="{41D8DF09-8111-14D4-C1EA-1290B0B077A5}"/>
                  </a:ext>
                </a:extLst>
              </p:cNvPr>
              <p:cNvSpPr/>
              <p:nvPr/>
            </p:nvSpPr>
            <p:spPr>
              <a:xfrm>
                <a:off x="609600" y="6019983"/>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5AEBC928-08BD-3E74-0DA3-82C3B0BC0FE6}"/>
                  </a:ext>
                </a:extLst>
              </p:cNvPr>
              <p:cNvSpPr txBox="1"/>
              <p:nvPr/>
            </p:nvSpPr>
            <p:spPr>
              <a:xfrm>
                <a:off x="609600" y="6226043"/>
                <a:ext cx="5334000" cy="276999"/>
              </a:xfrm>
              <a:prstGeom prst="rect">
                <a:avLst/>
              </a:prstGeom>
              <a:noFill/>
            </p:spPr>
            <p:txBody>
              <a:bodyPr wrap="square" rtlCol="0">
                <a:spAutoFit/>
              </a:bodyPr>
              <a:lstStyle/>
              <a:p>
                <a:r>
                  <a:rPr lang="es-CO" sz="1200" i="1" dirty="0">
                    <a:solidFill>
                      <a:schemeClr val="tx2"/>
                    </a:solidFill>
                    <a:latin typeface="Aptos Narrow" panose="020B0004020202020204" pitchFamily="34" charset="0"/>
                  </a:rPr>
                  <a:t>MECA 4107 – </a:t>
                </a:r>
                <a:r>
                  <a:rPr lang="es-CO" sz="1200" i="1" dirty="0" err="1">
                    <a:solidFill>
                      <a:schemeClr val="tx2"/>
                    </a:solidFill>
                    <a:latin typeface="Aptos Narrow" panose="020B0004020202020204" pitchFamily="34" charset="0"/>
                  </a:rPr>
                  <a:t>Problem</a:t>
                </a:r>
                <a:r>
                  <a:rPr lang="es-CO" sz="1200" i="1" dirty="0">
                    <a:solidFill>
                      <a:schemeClr val="tx2"/>
                    </a:solidFill>
                    <a:latin typeface="Aptos Narrow" panose="020B0004020202020204" pitchFamily="34" charset="0"/>
                  </a:rPr>
                  <a:t> Set 1: </a:t>
                </a:r>
                <a:r>
                  <a:rPr lang="es-CO" sz="1200" i="1" dirty="0" err="1">
                    <a:solidFill>
                      <a:schemeClr val="tx2"/>
                    </a:solidFill>
                    <a:latin typeface="Aptos Narrow" panose="020B0004020202020204" pitchFamily="34" charset="0"/>
                  </a:rPr>
                  <a:t>Predicting</a:t>
                </a:r>
                <a:r>
                  <a:rPr lang="es-CO" sz="1200" i="1" dirty="0">
                    <a:solidFill>
                      <a:schemeClr val="tx2"/>
                    </a:solidFill>
                    <a:latin typeface="Aptos Narrow" panose="020B0004020202020204" pitchFamily="34" charset="0"/>
                  </a:rPr>
                  <a:t> </a:t>
                </a:r>
                <a:r>
                  <a:rPr lang="es-CO" sz="1200" i="1" dirty="0" err="1">
                    <a:solidFill>
                      <a:schemeClr val="tx2"/>
                    </a:solidFill>
                    <a:latin typeface="Aptos Narrow" panose="020B0004020202020204" pitchFamily="34" charset="0"/>
                  </a:rPr>
                  <a:t>Income</a:t>
                </a:r>
                <a:endParaRPr lang="es-CO" sz="1050" i="1" dirty="0">
                  <a:solidFill>
                    <a:schemeClr val="tx2"/>
                  </a:solidFill>
                  <a:latin typeface="Aptos Narrow" panose="020B0004020202020204" pitchFamily="34" charset="0"/>
                </a:endParaRPr>
              </a:p>
            </p:txBody>
          </p:sp>
        </p:grpSp>
        <p:sp>
          <p:nvSpPr>
            <p:cNvPr id="21" name="Triángulo 20">
              <a:extLst>
                <a:ext uri="{FF2B5EF4-FFF2-40B4-BE49-F238E27FC236}">
                  <a16:creationId xmlns:a16="http://schemas.microsoft.com/office/drawing/2014/main" id="{988ECE98-491C-51E3-B007-F9E1E3E22896}"/>
                </a:ext>
              </a:extLst>
            </p:cNvPr>
            <p:cNvSpPr/>
            <p:nvPr/>
          </p:nvSpPr>
          <p:spPr>
            <a:xfrm rot="5400000">
              <a:off x="8518791" y="6142961"/>
              <a:ext cx="488417" cy="483199"/>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4" name="Grupo 23">
            <a:extLst>
              <a:ext uri="{FF2B5EF4-FFF2-40B4-BE49-F238E27FC236}">
                <a16:creationId xmlns:a16="http://schemas.microsoft.com/office/drawing/2014/main" id="{AE452CC2-8216-68F0-AB26-C1BA0A6ADA39}"/>
              </a:ext>
            </a:extLst>
          </p:cNvPr>
          <p:cNvGrpSpPr/>
          <p:nvPr/>
        </p:nvGrpSpPr>
        <p:grpSpPr>
          <a:xfrm>
            <a:off x="9818298" y="273960"/>
            <a:ext cx="2373702" cy="691515"/>
            <a:chOff x="338281" y="6096000"/>
            <a:chExt cx="2373702" cy="691515"/>
          </a:xfrm>
        </p:grpSpPr>
        <p:sp>
          <p:nvSpPr>
            <p:cNvPr id="25" name="Rectángulo 24">
              <a:extLst>
                <a:ext uri="{FF2B5EF4-FFF2-40B4-BE49-F238E27FC236}">
                  <a16:creationId xmlns:a16="http://schemas.microsoft.com/office/drawing/2014/main" id="{89A45094-F563-DFD3-D7E6-2EC716CDE02E}"/>
                </a:ext>
              </a:extLst>
            </p:cNvPr>
            <p:cNvSpPr/>
            <p:nvPr/>
          </p:nvSpPr>
          <p:spPr>
            <a:xfrm>
              <a:off x="338281" y="6096000"/>
              <a:ext cx="2373702"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6" name="Grupo 25">
              <a:extLst>
                <a:ext uri="{FF2B5EF4-FFF2-40B4-BE49-F238E27FC236}">
                  <a16:creationId xmlns:a16="http://schemas.microsoft.com/office/drawing/2014/main" id="{EDF5B390-3170-D204-C6E2-4ED9D2248B42}"/>
                </a:ext>
              </a:extLst>
            </p:cNvPr>
            <p:cNvGrpSpPr/>
            <p:nvPr/>
          </p:nvGrpSpPr>
          <p:grpSpPr>
            <a:xfrm>
              <a:off x="685800" y="6096000"/>
              <a:ext cx="1447800" cy="495372"/>
              <a:chOff x="582416" y="5645548"/>
              <a:chExt cx="2329523" cy="691515"/>
            </a:xfrm>
          </p:grpSpPr>
          <p:sp>
            <p:nvSpPr>
              <p:cNvPr id="27" name="object 2">
                <a:extLst>
                  <a:ext uri="{FF2B5EF4-FFF2-40B4-BE49-F238E27FC236}">
                    <a16:creationId xmlns:a16="http://schemas.microsoft.com/office/drawing/2014/main" id="{8B6D392D-F2AB-708D-3ABE-5B103894EA20}"/>
                  </a:ext>
                </a:extLst>
              </p:cNvPr>
              <p:cNvSpPr/>
              <p:nvPr/>
            </p:nvSpPr>
            <p:spPr>
              <a:xfrm>
                <a:off x="582416" y="5645548"/>
                <a:ext cx="589915" cy="691515"/>
              </a:xfrm>
              <a:custGeom>
                <a:avLst/>
                <a:gdLst/>
                <a:ahLst/>
                <a:cxnLst/>
                <a:rect l="l" t="t" r="r" b="b"/>
                <a:pathLst>
                  <a:path w="589915" h="691514">
                    <a:moveTo>
                      <a:pt x="311958" y="97402"/>
                    </a:moveTo>
                    <a:lnTo>
                      <a:pt x="286126" y="97402"/>
                    </a:lnTo>
                    <a:lnTo>
                      <a:pt x="287264" y="104907"/>
                    </a:lnTo>
                    <a:lnTo>
                      <a:pt x="290172" y="124419"/>
                    </a:lnTo>
                    <a:lnTo>
                      <a:pt x="294174" y="152016"/>
                    </a:lnTo>
                    <a:lnTo>
                      <a:pt x="298270" y="181453"/>
                    </a:lnTo>
                    <a:lnTo>
                      <a:pt x="302721" y="200882"/>
                    </a:lnTo>
                    <a:lnTo>
                      <a:pt x="312125" y="239243"/>
                    </a:lnTo>
                    <a:lnTo>
                      <a:pt x="320584" y="296325"/>
                    </a:lnTo>
                    <a:lnTo>
                      <a:pt x="327583" y="362622"/>
                    </a:lnTo>
                    <a:lnTo>
                      <a:pt x="331926" y="440339"/>
                    </a:lnTo>
                    <a:lnTo>
                      <a:pt x="337659" y="553000"/>
                    </a:lnTo>
                    <a:lnTo>
                      <a:pt x="330998" y="595071"/>
                    </a:lnTo>
                    <a:lnTo>
                      <a:pt x="308224" y="625761"/>
                    </a:lnTo>
                    <a:lnTo>
                      <a:pt x="301539" y="633722"/>
                    </a:lnTo>
                    <a:lnTo>
                      <a:pt x="298270" y="648438"/>
                    </a:lnTo>
                    <a:lnTo>
                      <a:pt x="297656" y="661866"/>
                    </a:lnTo>
                    <a:lnTo>
                      <a:pt x="297595" y="673796"/>
                    </a:lnTo>
                    <a:lnTo>
                      <a:pt x="298650" y="681469"/>
                    </a:lnTo>
                    <a:lnTo>
                      <a:pt x="300971" y="691142"/>
                    </a:lnTo>
                    <a:lnTo>
                      <a:pt x="322460" y="690557"/>
                    </a:lnTo>
                    <a:lnTo>
                      <a:pt x="367010" y="684945"/>
                    </a:lnTo>
                    <a:lnTo>
                      <a:pt x="345996" y="683276"/>
                    </a:lnTo>
                    <a:lnTo>
                      <a:pt x="330662" y="664450"/>
                    </a:lnTo>
                    <a:lnTo>
                      <a:pt x="326610" y="656450"/>
                    </a:lnTo>
                    <a:lnTo>
                      <a:pt x="329311" y="656450"/>
                    </a:lnTo>
                    <a:lnTo>
                      <a:pt x="329311" y="643109"/>
                    </a:lnTo>
                    <a:lnTo>
                      <a:pt x="346960" y="604642"/>
                    </a:lnTo>
                    <a:lnTo>
                      <a:pt x="365755" y="584393"/>
                    </a:lnTo>
                    <a:lnTo>
                      <a:pt x="365755" y="579064"/>
                    </a:lnTo>
                    <a:lnTo>
                      <a:pt x="368456" y="568382"/>
                    </a:lnTo>
                    <a:lnTo>
                      <a:pt x="373472" y="527690"/>
                    </a:lnTo>
                    <a:lnTo>
                      <a:pt x="376212" y="475991"/>
                    </a:lnTo>
                    <a:lnTo>
                      <a:pt x="376422" y="425791"/>
                    </a:lnTo>
                    <a:lnTo>
                      <a:pt x="373847" y="389599"/>
                    </a:lnTo>
                    <a:lnTo>
                      <a:pt x="371211" y="374189"/>
                    </a:lnTo>
                    <a:lnTo>
                      <a:pt x="365920" y="344397"/>
                    </a:lnTo>
                    <a:lnTo>
                      <a:pt x="358857" y="303848"/>
                    </a:lnTo>
                    <a:lnTo>
                      <a:pt x="350910" y="256168"/>
                    </a:lnTo>
                    <a:lnTo>
                      <a:pt x="342956" y="212974"/>
                    </a:lnTo>
                    <a:lnTo>
                      <a:pt x="334782" y="181453"/>
                    </a:lnTo>
                    <a:lnTo>
                      <a:pt x="326043" y="151100"/>
                    </a:lnTo>
                    <a:lnTo>
                      <a:pt x="315816" y="109408"/>
                    </a:lnTo>
                    <a:lnTo>
                      <a:pt x="311958" y="97402"/>
                    </a:lnTo>
                    <a:close/>
                  </a:path>
                  <a:path w="589915" h="691514">
                    <a:moveTo>
                      <a:pt x="367433" y="684891"/>
                    </a:moveTo>
                    <a:lnTo>
                      <a:pt x="367010" y="684945"/>
                    </a:lnTo>
                    <a:lnTo>
                      <a:pt x="367274" y="684966"/>
                    </a:lnTo>
                    <a:lnTo>
                      <a:pt x="367433" y="684891"/>
                    </a:lnTo>
                    <a:close/>
                  </a:path>
                  <a:path w="589915" h="691514">
                    <a:moveTo>
                      <a:pt x="558230" y="26681"/>
                    </a:moveTo>
                    <a:lnTo>
                      <a:pt x="294218" y="26681"/>
                    </a:lnTo>
                    <a:lnTo>
                      <a:pt x="355567" y="27369"/>
                    </a:lnTo>
                    <a:lnTo>
                      <a:pt x="400339" y="32185"/>
                    </a:lnTo>
                    <a:lnTo>
                      <a:pt x="450425" y="45256"/>
                    </a:lnTo>
                    <a:lnTo>
                      <a:pt x="527715" y="70709"/>
                    </a:lnTo>
                    <a:lnTo>
                      <a:pt x="527669" y="553000"/>
                    </a:lnTo>
                    <a:lnTo>
                      <a:pt x="527061" y="579143"/>
                    </a:lnTo>
                    <a:lnTo>
                      <a:pt x="522484" y="595736"/>
                    </a:lnTo>
                    <a:lnTo>
                      <a:pt x="510061" y="607327"/>
                    </a:lnTo>
                    <a:lnTo>
                      <a:pt x="485869" y="620421"/>
                    </a:lnTo>
                    <a:lnTo>
                      <a:pt x="409049" y="665390"/>
                    </a:lnTo>
                    <a:lnTo>
                      <a:pt x="367433" y="684891"/>
                    </a:lnTo>
                    <a:lnTo>
                      <a:pt x="378743" y="683466"/>
                    </a:lnTo>
                    <a:lnTo>
                      <a:pt x="457548" y="661866"/>
                    </a:lnTo>
                    <a:lnTo>
                      <a:pt x="546601" y="617751"/>
                    </a:lnTo>
                    <a:lnTo>
                      <a:pt x="583618" y="580044"/>
                    </a:lnTo>
                    <a:lnTo>
                      <a:pt x="589797" y="551047"/>
                    </a:lnTo>
                    <a:lnTo>
                      <a:pt x="589797" y="32022"/>
                    </a:lnTo>
                    <a:lnTo>
                      <a:pt x="560485" y="27018"/>
                    </a:lnTo>
                    <a:lnTo>
                      <a:pt x="558230" y="26681"/>
                    </a:lnTo>
                    <a:close/>
                  </a:path>
                  <a:path w="589915" h="691514">
                    <a:moveTo>
                      <a:pt x="292867" y="0"/>
                    </a:moveTo>
                    <a:lnTo>
                      <a:pt x="228905" y="2372"/>
                    </a:lnTo>
                    <a:lnTo>
                      <a:pt x="162655" y="8302"/>
                    </a:lnTo>
                    <a:lnTo>
                      <a:pt x="100378" y="16011"/>
                    </a:lnTo>
                    <a:lnTo>
                      <a:pt x="48336" y="23720"/>
                    </a:lnTo>
                    <a:lnTo>
                      <a:pt x="0" y="32022"/>
                    </a:lnTo>
                    <a:lnTo>
                      <a:pt x="61" y="548376"/>
                    </a:lnTo>
                    <a:lnTo>
                      <a:pt x="1771" y="585444"/>
                    </a:lnTo>
                    <a:lnTo>
                      <a:pt x="14171" y="609085"/>
                    </a:lnTo>
                    <a:lnTo>
                      <a:pt x="47829" y="627721"/>
                    </a:lnTo>
                    <a:lnTo>
                      <a:pt x="113372" y="651109"/>
                    </a:lnTo>
                    <a:lnTo>
                      <a:pt x="87770" y="631303"/>
                    </a:lnTo>
                    <a:lnTo>
                      <a:pt x="73555" y="603744"/>
                    </a:lnTo>
                    <a:lnTo>
                      <a:pt x="67439" y="574184"/>
                    </a:lnTo>
                    <a:lnTo>
                      <a:pt x="66132" y="548376"/>
                    </a:lnTo>
                    <a:lnTo>
                      <a:pt x="66132" y="70709"/>
                    </a:lnTo>
                    <a:lnTo>
                      <a:pt x="87537" y="63830"/>
                    </a:lnTo>
                    <a:lnTo>
                      <a:pt x="142219" y="48695"/>
                    </a:lnTo>
                    <a:lnTo>
                      <a:pt x="215879" y="33561"/>
                    </a:lnTo>
                    <a:lnTo>
                      <a:pt x="294218" y="26681"/>
                    </a:lnTo>
                    <a:lnTo>
                      <a:pt x="558230" y="26681"/>
                    </a:lnTo>
                    <a:lnTo>
                      <a:pt x="486886" y="16011"/>
                    </a:lnTo>
                    <a:lnTo>
                      <a:pt x="390510" y="5003"/>
                    </a:lnTo>
                    <a:lnTo>
                      <a:pt x="292867" y="0"/>
                    </a:lnTo>
                    <a:close/>
                  </a:path>
                  <a:path w="589915" h="691514">
                    <a:moveTo>
                      <a:pt x="284775" y="46698"/>
                    </a:moveTo>
                    <a:lnTo>
                      <a:pt x="261826" y="98726"/>
                    </a:lnTo>
                    <a:lnTo>
                      <a:pt x="251961" y="152016"/>
                    </a:lnTo>
                    <a:lnTo>
                      <a:pt x="246898" y="196759"/>
                    </a:lnTo>
                    <a:lnTo>
                      <a:pt x="242830" y="248167"/>
                    </a:lnTo>
                    <a:lnTo>
                      <a:pt x="241590" y="272180"/>
                    </a:lnTo>
                    <a:lnTo>
                      <a:pt x="236862" y="348067"/>
                    </a:lnTo>
                    <a:lnTo>
                      <a:pt x="228084" y="487002"/>
                    </a:lnTo>
                    <a:lnTo>
                      <a:pt x="228147" y="489107"/>
                    </a:lnTo>
                    <a:lnTo>
                      <a:pt x="228590" y="492838"/>
                    </a:lnTo>
                    <a:lnTo>
                      <a:pt x="229793" y="494315"/>
                    </a:lnTo>
                    <a:lnTo>
                      <a:pt x="232135" y="489661"/>
                    </a:lnTo>
                    <a:lnTo>
                      <a:pt x="236333" y="462103"/>
                    </a:lnTo>
                    <a:lnTo>
                      <a:pt x="243441" y="405274"/>
                    </a:lnTo>
                    <a:lnTo>
                      <a:pt x="251309" y="339936"/>
                    </a:lnTo>
                    <a:lnTo>
                      <a:pt x="257786" y="286856"/>
                    </a:lnTo>
                    <a:lnTo>
                      <a:pt x="259826" y="267637"/>
                    </a:lnTo>
                    <a:lnTo>
                      <a:pt x="262054" y="247705"/>
                    </a:lnTo>
                    <a:lnTo>
                      <a:pt x="264422" y="228695"/>
                    </a:lnTo>
                    <a:lnTo>
                      <a:pt x="267229" y="209470"/>
                    </a:lnTo>
                    <a:lnTo>
                      <a:pt x="272270" y="171698"/>
                    </a:lnTo>
                    <a:lnTo>
                      <a:pt x="277184" y="138428"/>
                    </a:lnTo>
                    <a:lnTo>
                      <a:pt x="281844" y="112661"/>
                    </a:lnTo>
                    <a:lnTo>
                      <a:pt x="286126" y="97402"/>
                    </a:lnTo>
                    <a:lnTo>
                      <a:pt x="311958" y="97402"/>
                    </a:lnTo>
                    <a:lnTo>
                      <a:pt x="308687" y="87227"/>
                    </a:lnTo>
                    <a:lnTo>
                      <a:pt x="299283" y="67046"/>
                    </a:lnTo>
                    <a:lnTo>
                      <a:pt x="290385" y="52369"/>
                    </a:lnTo>
                    <a:lnTo>
                      <a:pt x="284775" y="46698"/>
                    </a:lnTo>
                    <a:close/>
                  </a:path>
                </a:pathLst>
              </a:custGeom>
              <a:solidFill>
                <a:srgbClr val="000000"/>
              </a:solidFill>
            </p:spPr>
            <p:txBody>
              <a:bodyPr wrap="square" lIns="0" tIns="0" rIns="0" bIns="0" rtlCol="0"/>
              <a:lstStyle/>
              <a:p>
                <a:endParaRPr/>
              </a:p>
            </p:txBody>
          </p:sp>
          <p:grpSp>
            <p:nvGrpSpPr>
              <p:cNvPr id="28" name="object 3">
                <a:extLst>
                  <a:ext uri="{FF2B5EF4-FFF2-40B4-BE49-F238E27FC236}">
                    <a16:creationId xmlns:a16="http://schemas.microsoft.com/office/drawing/2014/main" id="{2E01B2E7-2827-6271-8D19-31D9309240F4}"/>
                  </a:ext>
                </a:extLst>
              </p:cNvPr>
              <p:cNvGrpSpPr/>
              <p:nvPr/>
            </p:nvGrpSpPr>
            <p:grpSpPr>
              <a:xfrm>
                <a:off x="2654129" y="5677571"/>
                <a:ext cx="257810" cy="194945"/>
                <a:chOff x="2654129" y="5677571"/>
                <a:chExt cx="257810" cy="194945"/>
              </a:xfrm>
            </p:grpSpPr>
            <p:sp>
              <p:nvSpPr>
                <p:cNvPr id="50" name="object 4">
                  <a:extLst>
                    <a:ext uri="{FF2B5EF4-FFF2-40B4-BE49-F238E27FC236}">
                      <a16:creationId xmlns:a16="http://schemas.microsoft.com/office/drawing/2014/main" id="{3397189A-A0C1-0E7A-FEF1-D28A25025E5F}"/>
                    </a:ext>
                  </a:extLst>
                </p:cNvPr>
                <p:cNvSpPr/>
                <p:nvPr/>
              </p:nvSpPr>
              <p:spPr>
                <a:xfrm>
                  <a:off x="2654129" y="5677571"/>
                  <a:ext cx="114688" cy="194794"/>
                </a:xfrm>
                <a:prstGeom prst="rect">
                  <a:avLst/>
                </a:prstGeom>
                <a:blipFill>
                  <a:blip r:embed="rId3" cstate="print"/>
                  <a:stretch>
                    <a:fillRect/>
                  </a:stretch>
                </a:blipFill>
              </p:spPr>
              <p:txBody>
                <a:bodyPr wrap="square" lIns="0" tIns="0" rIns="0" bIns="0" rtlCol="0"/>
                <a:lstStyle/>
                <a:p>
                  <a:endParaRPr/>
                </a:p>
              </p:txBody>
            </p:sp>
            <p:sp>
              <p:nvSpPr>
                <p:cNvPr id="51" name="object 5">
                  <a:extLst>
                    <a:ext uri="{FF2B5EF4-FFF2-40B4-BE49-F238E27FC236}">
                      <a16:creationId xmlns:a16="http://schemas.microsoft.com/office/drawing/2014/main" id="{1220F76E-AA4D-A65D-668B-ECAF488832BD}"/>
                    </a:ext>
                  </a:extLst>
                </p:cNvPr>
                <p:cNvSpPr/>
                <p:nvPr/>
              </p:nvSpPr>
              <p:spPr>
                <a:xfrm>
                  <a:off x="2797180" y="5729599"/>
                  <a:ext cx="114688" cy="142766"/>
                </a:xfrm>
                <a:prstGeom prst="rect">
                  <a:avLst/>
                </a:prstGeom>
                <a:blipFill>
                  <a:blip r:embed="rId4" cstate="print"/>
                  <a:stretch>
                    <a:fillRect/>
                  </a:stretch>
                </a:blipFill>
              </p:spPr>
              <p:txBody>
                <a:bodyPr wrap="square" lIns="0" tIns="0" rIns="0" bIns="0" rtlCol="0"/>
                <a:lstStyle/>
                <a:p>
                  <a:endParaRPr/>
                </a:p>
              </p:txBody>
            </p:sp>
          </p:grpSp>
          <p:grpSp>
            <p:nvGrpSpPr>
              <p:cNvPr id="29" name="object 6">
                <a:extLst>
                  <a:ext uri="{FF2B5EF4-FFF2-40B4-BE49-F238E27FC236}">
                    <a16:creationId xmlns:a16="http://schemas.microsoft.com/office/drawing/2014/main" id="{AD75F2A4-437D-E779-27A9-AE479DF17B3F}"/>
                  </a:ext>
                </a:extLst>
              </p:cNvPr>
              <p:cNvGrpSpPr/>
              <p:nvPr/>
            </p:nvGrpSpPr>
            <p:grpSpPr>
              <a:xfrm>
                <a:off x="1276131" y="5935075"/>
                <a:ext cx="447040" cy="307340"/>
                <a:chOff x="1276131" y="5935075"/>
                <a:chExt cx="447040" cy="307340"/>
              </a:xfrm>
            </p:grpSpPr>
            <p:sp>
              <p:nvSpPr>
                <p:cNvPr id="47" name="object 7">
                  <a:extLst>
                    <a:ext uri="{FF2B5EF4-FFF2-40B4-BE49-F238E27FC236}">
                      <a16:creationId xmlns:a16="http://schemas.microsoft.com/office/drawing/2014/main" id="{CAE5FA6F-E574-F59B-67B1-168DF4CA7484}"/>
                    </a:ext>
                  </a:extLst>
                </p:cNvPr>
                <p:cNvSpPr/>
                <p:nvPr/>
              </p:nvSpPr>
              <p:spPr>
                <a:xfrm>
                  <a:off x="1276131" y="5935075"/>
                  <a:ext cx="50165" cy="302895"/>
                </a:xfrm>
                <a:custGeom>
                  <a:avLst/>
                  <a:gdLst/>
                  <a:ahLst/>
                  <a:cxnLst/>
                  <a:rect l="l" t="t" r="r" b="b"/>
                  <a:pathLst>
                    <a:path w="50165" h="302895">
                      <a:moveTo>
                        <a:pt x="49938" y="0"/>
                      </a:moveTo>
                      <a:lnTo>
                        <a:pt x="0" y="0"/>
                      </a:lnTo>
                      <a:lnTo>
                        <a:pt x="0" y="302878"/>
                      </a:lnTo>
                      <a:lnTo>
                        <a:pt x="49938" y="302878"/>
                      </a:lnTo>
                      <a:lnTo>
                        <a:pt x="49938" y="0"/>
                      </a:lnTo>
                      <a:close/>
                    </a:path>
                  </a:pathLst>
                </a:custGeom>
                <a:solidFill>
                  <a:srgbClr val="000000"/>
                </a:solidFill>
              </p:spPr>
              <p:txBody>
                <a:bodyPr wrap="square" lIns="0" tIns="0" rIns="0" bIns="0" rtlCol="0"/>
                <a:lstStyle/>
                <a:p>
                  <a:endParaRPr/>
                </a:p>
              </p:txBody>
            </p:sp>
            <p:sp>
              <p:nvSpPr>
                <p:cNvPr id="48" name="object 8">
                  <a:extLst>
                    <a:ext uri="{FF2B5EF4-FFF2-40B4-BE49-F238E27FC236}">
                      <a16:creationId xmlns:a16="http://schemas.microsoft.com/office/drawing/2014/main" id="{17C03BC2-8C91-534D-8B51-284B5F516645}"/>
                    </a:ext>
                  </a:extLst>
                </p:cNvPr>
                <p:cNvSpPr/>
                <p:nvPr/>
              </p:nvSpPr>
              <p:spPr>
                <a:xfrm>
                  <a:off x="1369255" y="6017801"/>
                  <a:ext cx="183558" cy="224157"/>
                </a:xfrm>
                <a:prstGeom prst="rect">
                  <a:avLst/>
                </a:prstGeom>
                <a:blipFill>
                  <a:blip r:embed="rId5" cstate="print"/>
                  <a:stretch>
                    <a:fillRect/>
                  </a:stretch>
                </a:blipFill>
              </p:spPr>
              <p:txBody>
                <a:bodyPr wrap="square" lIns="0" tIns="0" rIns="0" bIns="0" rtlCol="0"/>
                <a:lstStyle/>
                <a:p>
                  <a:endParaRPr/>
                </a:p>
              </p:txBody>
            </p:sp>
            <p:sp>
              <p:nvSpPr>
                <p:cNvPr id="49" name="object 9">
                  <a:extLst>
                    <a:ext uri="{FF2B5EF4-FFF2-40B4-BE49-F238E27FC236}">
                      <a16:creationId xmlns:a16="http://schemas.microsoft.com/office/drawing/2014/main" id="{8FDF22F2-E5DA-A1B8-D190-CA63D3BA9EC5}"/>
                    </a:ext>
                  </a:extLst>
                </p:cNvPr>
                <p:cNvSpPr/>
                <p:nvPr/>
              </p:nvSpPr>
              <p:spPr>
                <a:xfrm>
                  <a:off x="1583855" y="6020117"/>
                  <a:ext cx="139033" cy="220840"/>
                </a:xfrm>
                <a:prstGeom prst="rect">
                  <a:avLst/>
                </a:prstGeom>
                <a:blipFill>
                  <a:blip r:embed="rId6" cstate="print"/>
                  <a:stretch>
                    <a:fillRect/>
                  </a:stretch>
                </a:blipFill>
              </p:spPr>
              <p:txBody>
                <a:bodyPr wrap="square" lIns="0" tIns="0" rIns="0" bIns="0" rtlCol="0"/>
                <a:lstStyle/>
                <a:p>
                  <a:endParaRPr/>
                </a:p>
              </p:txBody>
            </p:sp>
          </p:grpSp>
          <p:grpSp>
            <p:nvGrpSpPr>
              <p:cNvPr id="30" name="object 10">
                <a:extLst>
                  <a:ext uri="{FF2B5EF4-FFF2-40B4-BE49-F238E27FC236}">
                    <a16:creationId xmlns:a16="http://schemas.microsoft.com/office/drawing/2014/main" id="{39FCAF48-B3E1-94CF-EBD7-D664F156C263}"/>
                  </a:ext>
                </a:extLst>
              </p:cNvPr>
              <p:cNvGrpSpPr/>
              <p:nvPr/>
            </p:nvGrpSpPr>
            <p:grpSpPr>
              <a:xfrm>
                <a:off x="1834876" y="5937745"/>
                <a:ext cx="456565" cy="300355"/>
                <a:chOff x="1834876" y="5937745"/>
                <a:chExt cx="456565" cy="300355"/>
              </a:xfrm>
            </p:grpSpPr>
            <p:sp>
              <p:nvSpPr>
                <p:cNvPr id="45" name="object 11">
                  <a:extLst>
                    <a:ext uri="{FF2B5EF4-FFF2-40B4-BE49-F238E27FC236}">
                      <a16:creationId xmlns:a16="http://schemas.microsoft.com/office/drawing/2014/main" id="{55D36121-C764-4DF1-E3D7-755C407C646F}"/>
                    </a:ext>
                  </a:extLst>
                </p:cNvPr>
                <p:cNvSpPr/>
                <p:nvPr/>
              </p:nvSpPr>
              <p:spPr>
                <a:xfrm>
                  <a:off x="1834876" y="5937745"/>
                  <a:ext cx="252729" cy="300355"/>
                </a:xfrm>
                <a:custGeom>
                  <a:avLst/>
                  <a:gdLst/>
                  <a:ahLst/>
                  <a:cxnLst/>
                  <a:rect l="l" t="t" r="r" b="b"/>
                  <a:pathLst>
                    <a:path w="252730" h="300354">
                      <a:moveTo>
                        <a:pt x="152505" y="0"/>
                      </a:moveTo>
                      <a:lnTo>
                        <a:pt x="99832" y="0"/>
                      </a:lnTo>
                      <a:lnTo>
                        <a:pt x="0" y="300208"/>
                      </a:lnTo>
                      <a:lnTo>
                        <a:pt x="49972" y="300208"/>
                      </a:lnTo>
                      <a:lnTo>
                        <a:pt x="74283" y="222822"/>
                      </a:lnTo>
                      <a:lnTo>
                        <a:pt x="226603" y="222822"/>
                      </a:lnTo>
                      <a:lnTo>
                        <a:pt x="215954" y="190799"/>
                      </a:lnTo>
                      <a:lnTo>
                        <a:pt x="82386" y="190799"/>
                      </a:lnTo>
                      <a:lnTo>
                        <a:pt x="116039" y="85397"/>
                      </a:lnTo>
                      <a:lnTo>
                        <a:pt x="118824" y="74137"/>
                      </a:lnTo>
                      <a:lnTo>
                        <a:pt x="121104" y="64378"/>
                      </a:lnTo>
                      <a:lnTo>
                        <a:pt x="122876" y="56121"/>
                      </a:lnTo>
                      <a:lnTo>
                        <a:pt x="124142" y="49368"/>
                      </a:lnTo>
                      <a:lnTo>
                        <a:pt x="168922" y="49368"/>
                      </a:lnTo>
                      <a:lnTo>
                        <a:pt x="152505" y="0"/>
                      </a:lnTo>
                      <a:close/>
                    </a:path>
                    <a:path w="252730" h="300354">
                      <a:moveTo>
                        <a:pt x="226603" y="222822"/>
                      </a:moveTo>
                      <a:lnTo>
                        <a:pt x="171413" y="222822"/>
                      </a:lnTo>
                      <a:lnTo>
                        <a:pt x="194374" y="300208"/>
                      </a:lnTo>
                      <a:lnTo>
                        <a:pt x="252337" y="300208"/>
                      </a:lnTo>
                      <a:lnTo>
                        <a:pt x="226603" y="222822"/>
                      </a:lnTo>
                      <a:close/>
                    </a:path>
                    <a:path w="252730" h="300354">
                      <a:moveTo>
                        <a:pt x="168922" y="49368"/>
                      </a:moveTo>
                      <a:lnTo>
                        <a:pt x="125493" y="49368"/>
                      </a:lnTo>
                      <a:lnTo>
                        <a:pt x="126759" y="56872"/>
                      </a:lnTo>
                      <a:lnTo>
                        <a:pt x="128532" y="65380"/>
                      </a:lnTo>
                      <a:lnTo>
                        <a:pt x="130811" y="74888"/>
                      </a:lnTo>
                      <a:lnTo>
                        <a:pt x="133597" y="85397"/>
                      </a:lnTo>
                      <a:lnTo>
                        <a:pt x="164660" y="190799"/>
                      </a:lnTo>
                      <a:lnTo>
                        <a:pt x="215954" y="190799"/>
                      </a:lnTo>
                      <a:lnTo>
                        <a:pt x="168922" y="49368"/>
                      </a:lnTo>
                      <a:close/>
                    </a:path>
                  </a:pathLst>
                </a:custGeom>
                <a:solidFill>
                  <a:srgbClr val="000000"/>
                </a:solidFill>
              </p:spPr>
              <p:txBody>
                <a:bodyPr wrap="square" lIns="0" tIns="0" rIns="0" bIns="0" rtlCol="0"/>
                <a:lstStyle/>
                <a:p>
                  <a:endParaRPr/>
                </a:p>
              </p:txBody>
            </p:sp>
            <p:sp>
              <p:nvSpPr>
                <p:cNvPr id="46" name="object 12">
                  <a:extLst>
                    <a:ext uri="{FF2B5EF4-FFF2-40B4-BE49-F238E27FC236}">
                      <a16:creationId xmlns:a16="http://schemas.microsoft.com/office/drawing/2014/main" id="{34F93B43-28A1-9610-DEC9-AFA8BB24F2A3}"/>
                    </a:ext>
                  </a:extLst>
                </p:cNvPr>
                <p:cNvSpPr/>
                <p:nvPr/>
              </p:nvSpPr>
              <p:spPr>
                <a:xfrm>
                  <a:off x="2119628" y="6017801"/>
                  <a:ext cx="171414" cy="220151"/>
                </a:xfrm>
                <a:prstGeom prst="rect">
                  <a:avLst/>
                </a:prstGeom>
                <a:blipFill>
                  <a:blip r:embed="rId7" cstate="print"/>
                  <a:stretch>
                    <a:fillRect/>
                  </a:stretch>
                </a:blipFill>
              </p:spPr>
              <p:txBody>
                <a:bodyPr wrap="square" lIns="0" tIns="0" rIns="0" bIns="0" rtlCol="0"/>
                <a:lstStyle/>
                <a:p>
                  <a:endParaRPr/>
                </a:p>
              </p:txBody>
            </p:sp>
          </p:grpSp>
          <p:grpSp>
            <p:nvGrpSpPr>
              <p:cNvPr id="31" name="object 13">
                <a:extLst>
                  <a:ext uri="{FF2B5EF4-FFF2-40B4-BE49-F238E27FC236}">
                    <a16:creationId xmlns:a16="http://schemas.microsoft.com/office/drawing/2014/main" id="{01608929-A4E8-1ABF-52E4-B0171F2FF5FB}"/>
                  </a:ext>
                </a:extLst>
              </p:cNvPr>
              <p:cNvGrpSpPr/>
              <p:nvPr/>
            </p:nvGrpSpPr>
            <p:grpSpPr>
              <a:xfrm>
                <a:off x="2335612" y="5937745"/>
                <a:ext cx="574040" cy="306070"/>
                <a:chOff x="2335612" y="5937745"/>
                <a:chExt cx="574040" cy="306070"/>
              </a:xfrm>
            </p:grpSpPr>
            <p:sp>
              <p:nvSpPr>
                <p:cNvPr id="42" name="object 14">
                  <a:extLst>
                    <a:ext uri="{FF2B5EF4-FFF2-40B4-BE49-F238E27FC236}">
                      <a16:creationId xmlns:a16="http://schemas.microsoft.com/office/drawing/2014/main" id="{A59AEEF8-7DEB-5C33-FE58-32CCFD2108A3}"/>
                    </a:ext>
                  </a:extLst>
                </p:cNvPr>
                <p:cNvSpPr/>
                <p:nvPr/>
              </p:nvSpPr>
              <p:spPr>
                <a:xfrm>
                  <a:off x="2335612" y="5937745"/>
                  <a:ext cx="179705" cy="306070"/>
                </a:xfrm>
                <a:custGeom>
                  <a:avLst/>
                  <a:gdLst/>
                  <a:ahLst/>
                  <a:cxnLst/>
                  <a:rect l="l" t="t" r="r" b="b"/>
                  <a:pathLst>
                    <a:path w="179705" h="306070">
                      <a:moveTo>
                        <a:pt x="95780" y="84061"/>
                      </a:moveTo>
                      <a:lnTo>
                        <a:pt x="57344" y="91231"/>
                      </a:lnTo>
                      <a:lnTo>
                        <a:pt x="15384" y="129905"/>
                      </a:lnTo>
                      <a:lnTo>
                        <a:pt x="1751" y="171393"/>
                      </a:lnTo>
                      <a:lnTo>
                        <a:pt x="0" y="196140"/>
                      </a:lnTo>
                      <a:lnTo>
                        <a:pt x="1751" y="220090"/>
                      </a:lnTo>
                      <a:lnTo>
                        <a:pt x="15384" y="260491"/>
                      </a:lnTo>
                      <a:lnTo>
                        <a:pt x="42230" y="289218"/>
                      </a:lnTo>
                      <a:lnTo>
                        <a:pt x="79717" y="303775"/>
                      </a:lnTo>
                      <a:lnTo>
                        <a:pt x="102533" y="305548"/>
                      </a:lnTo>
                      <a:lnTo>
                        <a:pt x="125577" y="304547"/>
                      </a:lnTo>
                      <a:lnTo>
                        <a:pt x="146090" y="301544"/>
                      </a:lnTo>
                      <a:lnTo>
                        <a:pt x="164070" y="296541"/>
                      </a:lnTo>
                      <a:lnTo>
                        <a:pt x="179517" y="289537"/>
                      </a:lnTo>
                      <a:lnTo>
                        <a:pt x="178167" y="289537"/>
                      </a:lnTo>
                      <a:lnTo>
                        <a:pt x="178167" y="274861"/>
                      </a:lnTo>
                      <a:lnTo>
                        <a:pt x="103883" y="274861"/>
                      </a:lnTo>
                      <a:lnTo>
                        <a:pt x="63253" y="254177"/>
                      </a:lnTo>
                      <a:lnTo>
                        <a:pt x="49972" y="193470"/>
                      </a:lnTo>
                      <a:lnTo>
                        <a:pt x="53711" y="157463"/>
                      </a:lnTo>
                      <a:lnTo>
                        <a:pt x="64772" y="131590"/>
                      </a:lnTo>
                      <a:lnTo>
                        <a:pt x="82924" y="115976"/>
                      </a:lnTo>
                      <a:lnTo>
                        <a:pt x="107935" y="110743"/>
                      </a:lnTo>
                      <a:lnTo>
                        <a:pt x="178167" y="110743"/>
                      </a:lnTo>
                      <a:lnTo>
                        <a:pt x="178167" y="88056"/>
                      </a:lnTo>
                      <a:lnTo>
                        <a:pt x="128194" y="88056"/>
                      </a:lnTo>
                      <a:lnTo>
                        <a:pt x="121420" y="86310"/>
                      </a:lnTo>
                      <a:lnTo>
                        <a:pt x="113506" y="85061"/>
                      </a:lnTo>
                      <a:lnTo>
                        <a:pt x="104833" y="84312"/>
                      </a:lnTo>
                      <a:lnTo>
                        <a:pt x="95780" y="84061"/>
                      </a:lnTo>
                      <a:close/>
                    </a:path>
                    <a:path w="179705" h="306070">
                      <a:moveTo>
                        <a:pt x="178167" y="110743"/>
                      </a:moveTo>
                      <a:lnTo>
                        <a:pt x="116039" y="110743"/>
                      </a:lnTo>
                      <a:lnTo>
                        <a:pt x="129545" y="113413"/>
                      </a:lnTo>
                      <a:lnTo>
                        <a:pt x="129545" y="268185"/>
                      </a:lnTo>
                      <a:lnTo>
                        <a:pt x="124965" y="270730"/>
                      </a:lnTo>
                      <a:lnTo>
                        <a:pt x="119246" y="272525"/>
                      </a:lnTo>
                      <a:lnTo>
                        <a:pt x="112261" y="273818"/>
                      </a:lnTo>
                      <a:lnTo>
                        <a:pt x="103883" y="274861"/>
                      </a:lnTo>
                      <a:lnTo>
                        <a:pt x="178167" y="274861"/>
                      </a:lnTo>
                      <a:lnTo>
                        <a:pt x="178167" y="110743"/>
                      </a:lnTo>
                      <a:close/>
                    </a:path>
                    <a:path w="179705" h="306070">
                      <a:moveTo>
                        <a:pt x="178166" y="0"/>
                      </a:moveTo>
                      <a:lnTo>
                        <a:pt x="128194" y="0"/>
                      </a:lnTo>
                      <a:lnTo>
                        <a:pt x="128194" y="88056"/>
                      </a:lnTo>
                      <a:lnTo>
                        <a:pt x="178167" y="88056"/>
                      </a:lnTo>
                      <a:lnTo>
                        <a:pt x="178166" y="0"/>
                      </a:lnTo>
                      <a:close/>
                    </a:path>
                  </a:pathLst>
                </a:custGeom>
                <a:solidFill>
                  <a:srgbClr val="000000"/>
                </a:solidFill>
              </p:spPr>
              <p:txBody>
                <a:bodyPr wrap="square" lIns="0" tIns="0" rIns="0" bIns="0" rtlCol="0"/>
                <a:lstStyle/>
                <a:p>
                  <a:endParaRPr/>
                </a:p>
              </p:txBody>
            </p:sp>
            <p:sp>
              <p:nvSpPr>
                <p:cNvPr id="43" name="object 15">
                  <a:extLst>
                    <a:ext uri="{FF2B5EF4-FFF2-40B4-BE49-F238E27FC236}">
                      <a16:creationId xmlns:a16="http://schemas.microsoft.com/office/drawing/2014/main" id="{5ACE7921-BC68-48B9-5C70-1E3692AFF8E3}"/>
                    </a:ext>
                  </a:extLst>
                </p:cNvPr>
                <p:cNvSpPr/>
                <p:nvPr/>
              </p:nvSpPr>
              <p:spPr>
                <a:xfrm>
                  <a:off x="2558326" y="6015131"/>
                  <a:ext cx="180778" cy="225492"/>
                </a:xfrm>
                <a:prstGeom prst="rect">
                  <a:avLst/>
                </a:prstGeom>
                <a:blipFill>
                  <a:blip r:embed="rId8" cstate="print"/>
                  <a:stretch>
                    <a:fillRect/>
                  </a:stretch>
                </a:blipFill>
              </p:spPr>
              <p:txBody>
                <a:bodyPr wrap="square" lIns="0" tIns="0" rIns="0" bIns="0" rtlCol="0"/>
                <a:lstStyle/>
                <a:p>
                  <a:endParaRPr/>
                </a:p>
              </p:txBody>
            </p:sp>
            <p:sp>
              <p:nvSpPr>
                <p:cNvPr id="44" name="object 16">
                  <a:extLst>
                    <a:ext uri="{FF2B5EF4-FFF2-40B4-BE49-F238E27FC236}">
                      <a16:creationId xmlns:a16="http://schemas.microsoft.com/office/drawing/2014/main" id="{3A4D6363-EDDD-F026-2F9C-11C370F98C9D}"/>
                    </a:ext>
                  </a:extLst>
                </p:cNvPr>
                <p:cNvSpPr/>
                <p:nvPr/>
              </p:nvSpPr>
              <p:spPr>
                <a:xfrm>
                  <a:off x="2770168" y="6020117"/>
                  <a:ext cx="138999" cy="220840"/>
                </a:xfrm>
                <a:prstGeom prst="rect">
                  <a:avLst/>
                </a:prstGeom>
                <a:blipFill>
                  <a:blip r:embed="rId9" cstate="print"/>
                  <a:stretch>
                    <a:fillRect/>
                  </a:stretch>
                </a:blipFill>
              </p:spPr>
              <p:txBody>
                <a:bodyPr wrap="square" lIns="0" tIns="0" rIns="0" bIns="0" rtlCol="0"/>
                <a:lstStyle/>
                <a:p>
                  <a:endParaRPr/>
                </a:p>
              </p:txBody>
            </p:sp>
          </p:grpSp>
          <p:grpSp>
            <p:nvGrpSpPr>
              <p:cNvPr id="32" name="object 17">
                <a:extLst>
                  <a:ext uri="{FF2B5EF4-FFF2-40B4-BE49-F238E27FC236}">
                    <a16:creationId xmlns:a16="http://schemas.microsoft.com/office/drawing/2014/main" id="{DD18DBC9-0162-08C9-BD2F-A9831E2947CB}"/>
                  </a:ext>
                </a:extLst>
              </p:cNvPr>
              <p:cNvGrpSpPr/>
              <p:nvPr/>
            </p:nvGrpSpPr>
            <p:grpSpPr>
              <a:xfrm>
                <a:off x="1274781" y="5678906"/>
                <a:ext cx="1281430" cy="194945"/>
                <a:chOff x="1274781" y="5678906"/>
                <a:chExt cx="1281430" cy="194945"/>
              </a:xfrm>
            </p:grpSpPr>
            <p:sp>
              <p:nvSpPr>
                <p:cNvPr id="33" name="object 18">
                  <a:extLst>
                    <a:ext uri="{FF2B5EF4-FFF2-40B4-BE49-F238E27FC236}">
                      <a16:creationId xmlns:a16="http://schemas.microsoft.com/office/drawing/2014/main" id="{82B7FF1D-2B73-2D47-EE27-C59A6DA7A62C}"/>
                    </a:ext>
                  </a:extLst>
                </p:cNvPr>
                <p:cNvSpPr/>
                <p:nvPr/>
              </p:nvSpPr>
              <p:spPr>
                <a:xfrm>
                  <a:off x="1427286" y="5729599"/>
                  <a:ext cx="109331" cy="141430"/>
                </a:xfrm>
                <a:prstGeom prst="rect">
                  <a:avLst/>
                </a:prstGeom>
                <a:blipFill>
                  <a:blip r:embed="rId10" cstate="print"/>
                  <a:stretch>
                    <a:fillRect/>
                  </a:stretch>
                </a:blipFill>
              </p:spPr>
              <p:txBody>
                <a:bodyPr wrap="square" lIns="0" tIns="0" rIns="0" bIns="0" rtlCol="0"/>
                <a:lstStyle/>
                <a:p>
                  <a:endParaRPr/>
                </a:p>
              </p:txBody>
            </p:sp>
            <p:sp>
              <p:nvSpPr>
                <p:cNvPr id="34" name="object 19">
                  <a:extLst>
                    <a:ext uri="{FF2B5EF4-FFF2-40B4-BE49-F238E27FC236}">
                      <a16:creationId xmlns:a16="http://schemas.microsoft.com/office/drawing/2014/main" id="{7D77BA00-E12E-24B0-3CF4-3F807E3E0721}"/>
                    </a:ext>
                  </a:extLst>
                </p:cNvPr>
                <p:cNvSpPr/>
                <p:nvPr/>
              </p:nvSpPr>
              <p:spPr>
                <a:xfrm>
                  <a:off x="1569010" y="5678906"/>
                  <a:ext cx="35560" cy="192405"/>
                </a:xfrm>
                <a:custGeom>
                  <a:avLst/>
                  <a:gdLst/>
                  <a:ahLst/>
                  <a:cxnLst/>
                  <a:rect l="l" t="t" r="r" b="b"/>
                  <a:pathLst>
                    <a:path w="35559" h="192404">
                      <a:moveTo>
                        <a:pt x="33731" y="53363"/>
                      </a:moveTo>
                      <a:lnTo>
                        <a:pt x="2689" y="53363"/>
                      </a:lnTo>
                      <a:lnTo>
                        <a:pt x="2689" y="192123"/>
                      </a:lnTo>
                      <a:lnTo>
                        <a:pt x="33731" y="192123"/>
                      </a:lnTo>
                      <a:lnTo>
                        <a:pt x="33731" y="53363"/>
                      </a:lnTo>
                      <a:close/>
                    </a:path>
                    <a:path w="35559" h="192404">
                      <a:moveTo>
                        <a:pt x="22937" y="0"/>
                      </a:moveTo>
                      <a:lnTo>
                        <a:pt x="13494" y="0"/>
                      </a:lnTo>
                      <a:lnTo>
                        <a:pt x="9442" y="1335"/>
                      </a:lnTo>
                      <a:lnTo>
                        <a:pt x="1339" y="6664"/>
                      </a:lnTo>
                      <a:lnTo>
                        <a:pt x="0" y="10670"/>
                      </a:lnTo>
                      <a:lnTo>
                        <a:pt x="0" y="18670"/>
                      </a:lnTo>
                      <a:lnTo>
                        <a:pt x="2689" y="22676"/>
                      </a:lnTo>
                      <a:lnTo>
                        <a:pt x="8092" y="28016"/>
                      </a:lnTo>
                      <a:lnTo>
                        <a:pt x="12144" y="29352"/>
                      </a:lnTo>
                      <a:lnTo>
                        <a:pt x="21587" y="29352"/>
                      </a:lnTo>
                      <a:lnTo>
                        <a:pt x="26989" y="28016"/>
                      </a:lnTo>
                      <a:lnTo>
                        <a:pt x="29690" y="25346"/>
                      </a:lnTo>
                      <a:lnTo>
                        <a:pt x="33731" y="22676"/>
                      </a:lnTo>
                      <a:lnTo>
                        <a:pt x="35081" y="18670"/>
                      </a:lnTo>
                      <a:lnTo>
                        <a:pt x="35081" y="10670"/>
                      </a:lnTo>
                      <a:lnTo>
                        <a:pt x="33731" y="6664"/>
                      </a:lnTo>
                      <a:lnTo>
                        <a:pt x="29690" y="3994"/>
                      </a:lnTo>
                      <a:lnTo>
                        <a:pt x="26989" y="1335"/>
                      </a:lnTo>
                      <a:lnTo>
                        <a:pt x="22937" y="0"/>
                      </a:lnTo>
                      <a:close/>
                    </a:path>
                  </a:pathLst>
                </a:custGeom>
                <a:solidFill>
                  <a:srgbClr val="000000"/>
                </a:solidFill>
              </p:spPr>
              <p:txBody>
                <a:bodyPr wrap="square" lIns="0" tIns="0" rIns="0" bIns="0" rtlCol="0"/>
                <a:lstStyle/>
                <a:p>
                  <a:endParaRPr/>
                </a:p>
              </p:txBody>
            </p:sp>
            <p:sp>
              <p:nvSpPr>
                <p:cNvPr id="35" name="object 20">
                  <a:extLst>
                    <a:ext uri="{FF2B5EF4-FFF2-40B4-BE49-F238E27FC236}">
                      <a16:creationId xmlns:a16="http://schemas.microsoft.com/office/drawing/2014/main" id="{83317DC0-FD44-0EEB-96D3-760DBFAF70C9}"/>
                    </a:ext>
                  </a:extLst>
                </p:cNvPr>
                <p:cNvSpPr/>
                <p:nvPr/>
              </p:nvSpPr>
              <p:spPr>
                <a:xfrm>
                  <a:off x="1625690" y="5729599"/>
                  <a:ext cx="252405" cy="142766"/>
                </a:xfrm>
                <a:prstGeom prst="rect">
                  <a:avLst/>
                </a:prstGeom>
                <a:blipFill>
                  <a:blip r:embed="rId11" cstate="print"/>
                  <a:stretch>
                    <a:fillRect/>
                  </a:stretch>
                </a:blipFill>
              </p:spPr>
              <p:txBody>
                <a:bodyPr wrap="square" lIns="0" tIns="0" rIns="0" bIns="0" rtlCol="0"/>
                <a:lstStyle/>
                <a:p>
                  <a:endParaRPr/>
                </a:p>
              </p:txBody>
            </p:sp>
            <p:sp>
              <p:nvSpPr>
                <p:cNvPr id="36" name="object 21">
                  <a:extLst>
                    <a:ext uri="{FF2B5EF4-FFF2-40B4-BE49-F238E27FC236}">
                      <a16:creationId xmlns:a16="http://schemas.microsoft.com/office/drawing/2014/main" id="{BA99F67A-ECAC-E8D2-9A91-DE1AF128EDF1}"/>
                    </a:ext>
                  </a:extLst>
                </p:cNvPr>
                <p:cNvSpPr/>
                <p:nvPr/>
              </p:nvSpPr>
              <p:spPr>
                <a:xfrm>
                  <a:off x="1907808" y="5729599"/>
                  <a:ext cx="167362" cy="142766"/>
                </a:xfrm>
                <a:prstGeom prst="rect">
                  <a:avLst/>
                </a:prstGeom>
                <a:blipFill>
                  <a:blip r:embed="rId12" cstate="print"/>
                  <a:stretch>
                    <a:fillRect/>
                  </a:stretch>
                </a:blipFill>
              </p:spPr>
              <p:txBody>
                <a:bodyPr wrap="square" lIns="0" tIns="0" rIns="0" bIns="0" rtlCol="0"/>
                <a:lstStyle/>
                <a:p>
                  <a:endParaRPr/>
                </a:p>
              </p:txBody>
            </p:sp>
            <p:sp>
              <p:nvSpPr>
                <p:cNvPr id="37" name="object 22">
                  <a:extLst>
                    <a:ext uri="{FF2B5EF4-FFF2-40B4-BE49-F238E27FC236}">
                      <a16:creationId xmlns:a16="http://schemas.microsoft.com/office/drawing/2014/main" id="{CBD76BE3-EF30-DD4A-5B65-37F90932A36B}"/>
                    </a:ext>
                  </a:extLst>
                </p:cNvPr>
                <p:cNvSpPr/>
                <p:nvPr/>
              </p:nvSpPr>
              <p:spPr>
                <a:xfrm>
                  <a:off x="2102070" y="5678906"/>
                  <a:ext cx="35560" cy="192405"/>
                </a:xfrm>
                <a:custGeom>
                  <a:avLst/>
                  <a:gdLst/>
                  <a:ahLst/>
                  <a:cxnLst/>
                  <a:rect l="l" t="t" r="r" b="b"/>
                  <a:pathLst>
                    <a:path w="35560" h="192404">
                      <a:moveTo>
                        <a:pt x="32414" y="53363"/>
                      </a:moveTo>
                      <a:lnTo>
                        <a:pt x="1350" y="53363"/>
                      </a:lnTo>
                      <a:lnTo>
                        <a:pt x="1350" y="192123"/>
                      </a:lnTo>
                      <a:lnTo>
                        <a:pt x="32414" y="192123"/>
                      </a:lnTo>
                      <a:lnTo>
                        <a:pt x="32414" y="53363"/>
                      </a:lnTo>
                      <a:close/>
                    </a:path>
                    <a:path w="35560" h="192404">
                      <a:moveTo>
                        <a:pt x="22960" y="0"/>
                      </a:moveTo>
                      <a:lnTo>
                        <a:pt x="13506" y="0"/>
                      </a:lnTo>
                      <a:lnTo>
                        <a:pt x="8103" y="1335"/>
                      </a:lnTo>
                      <a:lnTo>
                        <a:pt x="5402" y="3994"/>
                      </a:lnTo>
                      <a:lnTo>
                        <a:pt x="1350" y="6664"/>
                      </a:lnTo>
                      <a:lnTo>
                        <a:pt x="0" y="10670"/>
                      </a:lnTo>
                      <a:lnTo>
                        <a:pt x="0" y="18670"/>
                      </a:lnTo>
                      <a:lnTo>
                        <a:pt x="2701" y="22676"/>
                      </a:lnTo>
                      <a:lnTo>
                        <a:pt x="8103" y="28016"/>
                      </a:lnTo>
                      <a:lnTo>
                        <a:pt x="12155" y="29352"/>
                      </a:lnTo>
                      <a:lnTo>
                        <a:pt x="21609" y="29352"/>
                      </a:lnTo>
                      <a:lnTo>
                        <a:pt x="27012" y="28016"/>
                      </a:lnTo>
                      <a:lnTo>
                        <a:pt x="29713" y="25346"/>
                      </a:lnTo>
                      <a:lnTo>
                        <a:pt x="33765" y="22676"/>
                      </a:lnTo>
                      <a:lnTo>
                        <a:pt x="35115" y="18670"/>
                      </a:lnTo>
                      <a:lnTo>
                        <a:pt x="35115" y="10670"/>
                      </a:lnTo>
                      <a:lnTo>
                        <a:pt x="32414" y="6664"/>
                      </a:lnTo>
                      <a:lnTo>
                        <a:pt x="27012" y="1335"/>
                      </a:lnTo>
                      <a:lnTo>
                        <a:pt x="22960" y="0"/>
                      </a:lnTo>
                      <a:close/>
                    </a:path>
                  </a:pathLst>
                </a:custGeom>
                <a:solidFill>
                  <a:srgbClr val="000000"/>
                </a:solidFill>
              </p:spPr>
              <p:txBody>
                <a:bodyPr wrap="square" lIns="0" tIns="0" rIns="0" bIns="0" rtlCol="0"/>
                <a:lstStyle/>
                <a:p>
                  <a:endParaRPr/>
                </a:p>
              </p:txBody>
            </p:sp>
            <p:sp>
              <p:nvSpPr>
                <p:cNvPr id="38" name="object 23">
                  <a:extLst>
                    <a:ext uri="{FF2B5EF4-FFF2-40B4-BE49-F238E27FC236}">
                      <a16:creationId xmlns:a16="http://schemas.microsoft.com/office/drawing/2014/main" id="{15C90D7E-8FF6-4701-5E9E-4D9AF4B5F6B4}"/>
                    </a:ext>
                  </a:extLst>
                </p:cNvPr>
                <p:cNvSpPr/>
                <p:nvPr/>
              </p:nvSpPr>
              <p:spPr>
                <a:xfrm>
                  <a:off x="2165548" y="5678906"/>
                  <a:ext cx="114688" cy="194794"/>
                </a:xfrm>
                <a:prstGeom prst="rect">
                  <a:avLst/>
                </a:prstGeom>
                <a:blipFill>
                  <a:blip r:embed="rId13" cstate="print"/>
                  <a:stretch>
                    <a:fillRect/>
                  </a:stretch>
                </a:blipFill>
              </p:spPr>
              <p:txBody>
                <a:bodyPr wrap="square" lIns="0" tIns="0" rIns="0" bIns="0" rtlCol="0"/>
                <a:lstStyle/>
                <a:p>
                  <a:endParaRPr/>
                </a:p>
              </p:txBody>
            </p:sp>
            <p:sp>
              <p:nvSpPr>
                <p:cNvPr id="39" name="object 24">
                  <a:extLst>
                    <a:ext uri="{FF2B5EF4-FFF2-40B4-BE49-F238E27FC236}">
                      <a16:creationId xmlns:a16="http://schemas.microsoft.com/office/drawing/2014/main" id="{E45D8B63-344E-3932-C4DF-7033F24400A0}"/>
                    </a:ext>
                  </a:extLst>
                </p:cNvPr>
                <p:cNvSpPr/>
                <p:nvPr/>
              </p:nvSpPr>
              <p:spPr>
                <a:xfrm>
                  <a:off x="2305898" y="5729599"/>
                  <a:ext cx="106585" cy="142766"/>
                </a:xfrm>
                <a:prstGeom prst="rect">
                  <a:avLst/>
                </a:prstGeom>
                <a:blipFill>
                  <a:blip r:embed="rId14" cstate="print"/>
                  <a:stretch>
                    <a:fillRect/>
                  </a:stretch>
                </a:blipFill>
              </p:spPr>
              <p:txBody>
                <a:bodyPr wrap="square" lIns="0" tIns="0" rIns="0" bIns="0" rtlCol="0"/>
                <a:lstStyle/>
                <a:p>
                  <a:endParaRPr/>
                </a:p>
              </p:txBody>
            </p:sp>
            <p:sp>
              <p:nvSpPr>
                <p:cNvPr id="40" name="object 25">
                  <a:extLst>
                    <a:ext uri="{FF2B5EF4-FFF2-40B4-BE49-F238E27FC236}">
                      <a16:creationId xmlns:a16="http://schemas.microsoft.com/office/drawing/2014/main" id="{ABDA318C-274E-5293-0C66-B32CBD6B3EE3}"/>
                    </a:ext>
                  </a:extLst>
                </p:cNvPr>
                <p:cNvSpPr/>
                <p:nvPr/>
              </p:nvSpPr>
              <p:spPr>
                <a:xfrm>
                  <a:off x="2440846" y="5678906"/>
                  <a:ext cx="114801" cy="194794"/>
                </a:xfrm>
                <a:prstGeom prst="rect">
                  <a:avLst/>
                </a:prstGeom>
                <a:blipFill>
                  <a:blip r:embed="rId15" cstate="print"/>
                  <a:stretch>
                    <a:fillRect/>
                  </a:stretch>
                </a:blipFill>
              </p:spPr>
              <p:txBody>
                <a:bodyPr wrap="square" lIns="0" tIns="0" rIns="0" bIns="0" rtlCol="0"/>
                <a:lstStyle/>
                <a:p>
                  <a:endParaRPr/>
                </a:p>
              </p:txBody>
            </p:sp>
            <p:sp>
              <p:nvSpPr>
                <p:cNvPr id="41" name="object 26">
                  <a:extLst>
                    <a:ext uri="{FF2B5EF4-FFF2-40B4-BE49-F238E27FC236}">
                      <a16:creationId xmlns:a16="http://schemas.microsoft.com/office/drawing/2014/main" id="{325ACC23-BBDF-04D6-5062-2B926215E201}"/>
                    </a:ext>
                  </a:extLst>
                </p:cNvPr>
                <p:cNvSpPr/>
                <p:nvPr/>
              </p:nvSpPr>
              <p:spPr>
                <a:xfrm>
                  <a:off x="1274781" y="5678906"/>
                  <a:ext cx="117423" cy="193459"/>
                </a:xfrm>
                <a:prstGeom prst="rect">
                  <a:avLst/>
                </a:prstGeom>
                <a:blipFill>
                  <a:blip r:embed="rId16" cstate="print"/>
                  <a:stretch>
                    <a:fillRect/>
                  </a:stretch>
                </a:blipFill>
              </p:spPr>
              <p:txBody>
                <a:bodyPr wrap="square" lIns="0" tIns="0" rIns="0" bIns="0" rtlCol="0"/>
                <a:lstStyle/>
                <a:p>
                  <a:endParaRPr/>
                </a:p>
              </p:txBody>
            </p:sp>
          </p:grpSp>
        </p:grpSp>
      </p:grpSp>
      <p:sp>
        <p:nvSpPr>
          <p:cNvPr id="10" name="CuadroTexto 9">
            <a:extLst>
              <a:ext uri="{FF2B5EF4-FFF2-40B4-BE49-F238E27FC236}">
                <a16:creationId xmlns:a16="http://schemas.microsoft.com/office/drawing/2014/main" id="{DFCAF8ED-11A8-5089-B1F8-172A0CBC3E1A}"/>
              </a:ext>
            </a:extLst>
          </p:cNvPr>
          <p:cNvSpPr txBox="1"/>
          <p:nvPr/>
        </p:nvSpPr>
        <p:spPr>
          <a:xfrm>
            <a:off x="9014834" y="1640134"/>
            <a:ext cx="2909015" cy="3600986"/>
          </a:xfrm>
          <a:prstGeom prst="rect">
            <a:avLst/>
          </a:prstGeom>
          <a:solidFill>
            <a:schemeClr val="bg1"/>
          </a:solidFill>
        </p:spPr>
        <p:txBody>
          <a:bodyPr wrap="square">
            <a:spAutoFit/>
          </a:bodyPr>
          <a:lstStyle/>
          <a:p>
            <a:pPr>
              <a:buClr>
                <a:srgbClr val="0072CE"/>
              </a:buClr>
            </a:pPr>
            <a:r>
              <a:rPr lang="es-CO" sz="1200" b="1" dirty="0">
                <a:solidFill>
                  <a:srgbClr val="3C3C3C"/>
                </a:solidFill>
                <a:latin typeface="Open Sans"/>
              </a:rPr>
              <a:t>La "Ilusión" de la Caída</a:t>
            </a:r>
            <a:r>
              <a:rPr lang="es-CO" sz="1200" dirty="0">
                <a:solidFill>
                  <a:srgbClr val="3C3C3C"/>
                </a:solidFill>
                <a:latin typeface="Open Sans"/>
              </a:rPr>
              <a:t>: En el perfil incondicional, ves que el ingreso cae mucho después de los 40,5 años. Uno pensaría:</a:t>
            </a:r>
          </a:p>
          <a:p>
            <a:pPr>
              <a:buClr>
                <a:srgbClr val="0072CE"/>
              </a:buClr>
            </a:pPr>
            <a:endParaRPr lang="es-CO" sz="1200" dirty="0">
              <a:solidFill>
                <a:srgbClr val="3C3C3C"/>
              </a:solidFill>
              <a:latin typeface="Open Sans"/>
            </a:endParaRPr>
          </a:p>
          <a:p>
            <a:pPr>
              <a:buClr>
                <a:srgbClr val="0072CE"/>
              </a:buClr>
            </a:pPr>
            <a:r>
              <a:rPr lang="es-CO" sz="1200" b="1" dirty="0">
                <a:solidFill>
                  <a:srgbClr val="3C3C3C"/>
                </a:solidFill>
                <a:latin typeface="Open Sans"/>
              </a:rPr>
              <a:t>Modelo Condicional: </a:t>
            </a:r>
            <a:r>
              <a:rPr lang="es-CO" sz="1200" dirty="0">
                <a:solidFill>
                  <a:srgbClr val="3C3C3C"/>
                </a:solidFill>
                <a:latin typeface="Open Sans"/>
              </a:rPr>
              <a:t>Al controlar por horas, notas que el pico se mueve a los 43.6 años y la curva se vuelve "más plana".</a:t>
            </a:r>
          </a:p>
          <a:p>
            <a:pPr>
              <a:buClr>
                <a:srgbClr val="0072CE"/>
              </a:buClr>
            </a:pPr>
            <a:endParaRPr lang="es-CO" sz="1200" dirty="0">
              <a:solidFill>
                <a:srgbClr val="3C3C3C"/>
              </a:solidFill>
              <a:latin typeface="Open Sans"/>
            </a:endParaRPr>
          </a:p>
          <a:p>
            <a:pPr>
              <a:buClr>
                <a:srgbClr val="0072CE"/>
              </a:buClr>
            </a:pPr>
            <a:r>
              <a:rPr lang="es-CO" sz="1200" b="1" dirty="0">
                <a:solidFill>
                  <a:srgbClr val="3C3C3C"/>
                </a:solidFill>
                <a:latin typeface="Open Sans"/>
              </a:rPr>
              <a:t>Intuición</a:t>
            </a:r>
            <a:r>
              <a:rPr lang="es-CO" sz="1200" dirty="0">
                <a:solidFill>
                  <a:srgbClr val="3C3C3C"/>
                </a:solidFill>
                <a:latin typeface="Open Sans"/>
              </a:rPr>
              <a:t>: Esto revela que la caída del ingreso en la vejez en Bogotá </a:t>
            </a:r>
            <a:r>
              <a:rPr lang="es-CO" sz="1200" b="1" dirty="0">
                <a:solidFill>
                  <a:srgbClr val="3C3C3C"/>
                </a:solidFill>
                <a:latin typeface="Open Sans"/>
              </a:rPr>
              <a:t>no es solo porque la gente "sepa menos" o sea "menos productiva",</a:t>
            </a:r>
            <a:r>
              <a:rPr lang="es-CO" sz="1200" dirty="0">
                <a:solidFill>
                  <a:srgbClr val="3C3C3C"/>
                </a:solidFill>
                <a:latin typeface="Open Sans"/>
              </a:rPr>
              <a:t> sino porque empieza a </a:t>
            </a:r>
            <a:r>
              <a:rPr lang="es-CO" sz="1200" b="1" dirty="0">
                <a:solidFill>
                  <a:srgbClr val="3C3C3C"/>
                </a:solidFill>
                <a:latin typeface="Open Sans"/>
              </a:rPr>
              <a:t>trabajar menos horas (margen intensivo) o se pasa a trabajos de menor intensidad (posiblemente informalidad o cuenta propia).</a:t>
            </a:r>
          </a:p>
        </p:txBody>
      </p:sp>
      <p:sp>
        <p:nvSpPr>
          <p:cNvPr id="13" name="Marcador de texto 1">
            <a:extLst>
              <a:ext uri="{FF2B5EF4-FFF2-40B4-BE49-F238E27FC236}">
                <a16:creationId xmlns:a16="http://schemas.microsoft.com/office/drawing/2014/main" id="{8F53040E-CF2A-23AC-088C-16789A0914CF}"/>
              </a:ext>
            </a:extLst>
          </p:cNvPr>
          <p:cNvSpPr txBox="1">
            <a:spLocks/>
          </p:cNvSpPr>
          <p:nvPr/>
        </p:nvSpPr>
        <p:spPr>
          <a:xfrm>
            <a:off x="9004599" y="1054044"/>
            <a:ext cx="4708646" cy="376886"/>
          </a:xfrm>
          <a:prstGeom prst="rect">
            <a:avLst/>
          </a:prstGeom>
        </p:spPr>
        <p:txBody>
          <a:bodyPr vert="horz" lIns="91440" tIns="45720" rIns="91440" bIns="45720" rtlCol="0" anchor="ctr">
            <a:normAutofit/>
          </a:bodyPr>
          <a:lstStyle>
            <a:lvl1pPr marL="0" indent="0" algn="l" defTabSz="914400" rtl="0" eaLnBrk="1" latinLnBrk="0" hangingPunct="1">
              <a:lnSpc>
                <a:spcPct val="90000"/>
              </a:lnSpc>
              <a:spcBef>
                <a:spcPts val="1000"/>
              </a:spcBef>
              <a:buClr>
                <a:srgbClr val="00A3E0"/>
              </a:buClr>
              <a:buFont typeface="Open Sans" panose="020B0606030504020204" pitchFamily="34" charset="0"/>
              <a:buNone/>
              <a:defRPr sz="1600" b="1" kern="1200">
                <a:solidFill>
                  <a:srgbClr val="0070C0"/>
                </a:solidFill>
                <a:latin typeface="+mj-lt"/>
                <a:ea typeface="+mn-ea"/>
                <a:cs typeface="+mn-cs"/>
              </a:defRPr>
            </a:lvl1pPr>
            <a:lvl2pPr marL="457200" indent="0" algn="l" defTabSz="914400" rtl="0" eaLnBrk="1" latinLnBrk="0" hangingPunct="1">
              <a:lnSpc>
                <a:spcPct val="90000"/>
              </a:lnSpc>
              <a:spcBef>
                <a:spcPts val="500"/>
              </a:spcBef>
              <a:buClr>
                <a:srgbClr val="00A3E0"/>
              </a:buClr>
              <a:buFont typeface="Open Sans" panose="020B0606030504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rgbClr val="00A3E0"/>
              </a:buClr>
              <a:buFont typeface="Open Sans" panose="020B0606030504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rgbClr val="00A3E0"/>
              </a:buClr>
              <a:buFont typeface="Open Sans" panose="020B0606030504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defRPr/>
            </a:pPr>
            <a:r>
              <a:rPr lang="es-CO" sz="1400" dirty="0">
                <a:latin typeface="Open Sans Semibold"/>
              </a:rPr>
              <a:t>Interpretación clave:</a:t>
            </a:r>
          </a:p>
        </p:txBody>
      </p:sp>
      <p:pic>
        <p:nvPicPr>
          <p:cNvPr id="14" name="Gráfico 13" descr="Lightbulb and pencil con relleno sólido">
            <a:extLst>
              <a:ext uri="{FF2B5EF4-FFF2-40B4-BE49-F238E27FC236}">
                <a16:creationId xmlns:a16="http://schemas.microsoft.com/office/drawing/2014/main" id="{B2C1E85C-18B7-6BAB-409C-4A58F04A4DE0}"/>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8244816" y="907884"/>
            <a:ext cx="669206" cy="669206"/>
          </a:xfrm>
          <a:prstGeom prst="rect">
            <a:avLst/>
          </a:prstGeom>
        </p:spPr>
      </p:pic>
      <p:pic>
        <p:nvPicPr>
          <p:cNvPr id="54" name="Gráfico 53" descr="Badge con relleno sólido">
            <a:extLst>
              <a:ext uri="{FF2B5EF4-FFF2-40B4-BE49-F238E27FC236}">
                <a16:creationId xmlns:a16="http://schemas.microsoft.com/office/drawing/2014/main" id="{37FA5D08-860B-BADD-3719-FDF5994C00DE}"/>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32834" y="2650652"/>
            <a:ext cx="720022" cy="720022"/>
          </a:xfrm>
          <a:prstGeom prst="rect">
            <a:avLst/>
          </a:prstGeom>
        </p:spPr>
      </p:pic>
      <p:pic>
        <p:nvPicPr>
          <p:cNvPr id="63" name="Gráfico 62" descr="Badge 1 con relleno sólido">
            <a:extLst>
              <a:ext uri="{FF2B5EF4-FFF2-40B4-BE49-F238E27FC236}">
                <a16:creationId xmlns:a16="http://schemas.microsoft.com/office/drawing/2014/main" id="{881BA5F2-DC92-C4D4-99D7-25D5FBB919A3}"/>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203010" y="1763373"/>
            <a:ext cx="702566" cy="702566"/>
          </a:xfrm>
          <a:prstGeom prst="rect">
            <a:avLst/>
          </a:prstGeom>
        </p:spPr>
      </p:pic>
      <p:pic>
        <p:nvPicPr>
          <p:cNvPr id="65" name="Gráfico 64" descr="Badge 3 con relleno sólido">
            <a:extLst>
              <a:ext uri="{FF2B5EF4-FFF2-40B4-BE49-F238E27FC236}">
                <a16:creationId xmlns:a16="http://schemas.microsoft.com/office/drawing/2014/main" id="{FF5895A2-A6F2-5113-46B0-31435479919F}"/>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8234604" y="3865543"/>
            <a:ext cx="720022" cy="720022"/>
          </a:xfrm>
          <a:prstGeom prst="rect">
            <a:avLst/>
          </a:prstGeom>
        </p:spPr>
      </p:pic>
    </p:spTree>
    <p:extLst>
      <p:ext uri="{BB962C8B-B14F-4D97-AF65-F5344CB8AC3E}">
        <p14:creationId xmlns:p14="http://schemas.microsoft.com/office/powerpoint/2010/main" val="1560128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F8E62-2A2E-900E-1FC0-8F46BE637045}"/>
            </a:ext>
          </a:extLst>
        </p:cNvPr>
        <p:cNvGrpSpPr/>
        <p:nvPr/>
      </p:nvGrpSpPr>
      <p:grpSpPr>
        <a:xfrm>
          <a:off x="0" y="0"/>
          <a:ext cx="0" cy="0"/>
          <a:chOff x="0" y="0"/>
          <a:chExt cx="0" cy="0"/>
        </a:xfrm>
      </p:grpSpPr>
      <p:sp>
        <p:nvSpPr>
          <p:cNvPr id="2" name="Título 5">
            <a:extLst>
              <a:ext uri="{FF2B5EF4-FFF2-40B4-BE49-F238E27FC236}">
                <a16:creationId xmlns:a16="http://schemas.microsoft.com/office/drawing/2014/main" id="{2F6E1519-10B0-DBCF-17B2-2C389586FB2C}"/>
              </a:ext>
            </a:extLst>
          </p:cNvPr>
          <p:cNvSpPr txBox="1">
            <a:spLocks/>
          </p:cNvSpPr>
          <p:nvPr/>
        </p:nvSpPr>
        <p:spPr>
          <a:xfrm>
            <a:off x="2415559" y="761999"/>
            <a:ext cx="9240140" cy="917575"/>
          </a:xfrm>
          <a:prstGeom prst="rect">
            <a:avLst/>
          </a:prstGeom>
        </p:spPr>
        <p:txBody>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s-CO" sz="1800" dirty="0">
                <a:latin typeface="Open Sans Semibold"/>
              </a:rPr>
              <a:t>Conclusiones</a:t>
            </a:r>
            <a:endParaRPr kumimoji="0" lang="es-CO" sz="1800" b="0" i="0" u="none" strike="noStrike" kern="1200" cap="none" spc="0" normalizeH="0" baseline="0" noProof="0" dirty="0">
              <a:ln>
                <a:noFill/>
              </a:ln>
              <a:solidFill>
                <a:srgbClr val="003057"/>
              </a:solidFill>
              <a:effectLst/>
              <a:uLnTx/>
              <a:uFillTx/>
              <a:latin typeface="Open Sans Semibold"/>
              <a:ea typeface="+mj-ea"/>
              <a:cs typeface="+mj-cs"/>
            </a:endParaRPr>
          </a:p>
        </p:txBody>
      </p:sp>
      <p:sp>
        <p:nvSpPr>
          <p:cNvPr id="3" name="Título 5">
            <a:extLst>
              <a:ext uri="{FF2B5EF4-FFF2-40B4-BE49-F238E27FC236}">
                <a16:creationId xmlns:a16="http://schemas.microsoft.com/office/drawing/2014/main" id="{42D73572-0450-1010-90E5-D515C80E0EAB}"/>
              </a:ext>
            </a:extLst>
          </p:cNvPr>
          <p:cNvSpPr txBox="1">
            <a:spLocks/>
          </p:cNvSpPr>
          <p:nvPr/>
        </p:nvSpPr>
        <p:spPr>
          <a:xfrm>
            <a:off x="2415559" y="762000"/>
            <a:ext cx="9776441" cy="9175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kern="1200">
                <a:solidFill>
                  <a:srgbClr val="003057"/>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1400" b="0" i="1" u="none" strike="noStrike" kern="1200" cap="none" spc="0" normalizeH="0" baseline="0" noProof="0" dirty="0">
                <a:ln>
                  <a:noFill/>
                </a:ln>
                <a:solidFill>
                  <a:schemeClr val="accent1"/>
                </a:solidFill>
                <a:effectLst/>
                <a:uLnTx/>
                <a:uFillTx/>
                <a:latin typeface="Open Sans Semibold"/>
                <a:ea typeface="+mj-ea"/>
                <a:cs typeface="+mj-cs"/>
              </a:rPr>
              <a:t>Interpretación económica</a:t>
            </a:r>
          </a:p>
        </p:txBody>
      </p:sp>
      <p:grpSp>
        <p:nvGrpSpPr>
          <p:cNvPr id="18" name="Grupo 17">
            <a:extLst>
              <a:ext uri="{FF2B5EF4-FFF2-40B4-BE49-F238E27FC236}">
                <a16:creationId xmlns:a16="http://schemas.microsoft.com/office/drawing/2014/main" id="{C2EC3935-B0AB-D9FB-7DE1-3BABC98805A0}"/>
              </a:ext>
            </a:extLst>
          </p:cNvPr>
          <p:cNvGrpSpPr/>
          <p:nvPr/>
        </p:nvGrpSpPr>
        <p:grpSpPr>
          <a:xfrm>
            <a:off x="609600" y="6019983"/>
            <a:ext cx="8458200" cy="767532"/>
            <a:chOff x="609600" y="6019983"/>
            <a:chExt cx="8458200" cy="767532"/>
          </a:xfrm>
        </p:grpSpPr>
        <p:sp>
          <p:nvSpPr>
            <p:cNvPr id="19" name="Rectángulo 18">
              <a:extLst>
                <a:ext uri="{FF2B5EF4-FFF2-40B4-BE49-F238E27FC236}">
                  <a16:creationId xmlns:a16="http://schemas.microsoft.com/office/drawing/2014/main" id="{973F7019-8437-2580-F6C4-8603268AB727}"/>
                </a:ext>
              </a:extLst>
            </p:cNvPr>
            <p:cNvSpPr/>
            <p:nvPr/>
          </p:nvSpPr>
          <p:spPr>
            <a:xfrm>
              <a:off x="6858000" y="6096000"/>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0" name="Grupo 19">
              <a:extLst>
                <a:ext uri="{FF2B5EF4-FFF2-40B4-BE49-F238E27FC236}">
                  <a16:creationId xmlns:a16="http://schemas.microsoft.com/office/drawing/2014/main" id="{4DD31947-6953-C760-35DC-51BEDA7B4D6E}"/>
                </a:ext>
              </a:extLst>
            </p:cNvPr>
            <p:cNvGrpSpPr/>
            <p:nvPr/>
          </p:nvGrpSpPr>
          <p:grpSpPr>
            <a:xfrm>
              <a:off x="609600" y="6019983"/>
              <a:ext cx="5334000" cy="691515"/>
              <a:chOff x="609600" y="6019983"/>
              <a:chExt cx="5334000" cy="691515"/>
            </a:xfrm>
          </p:grpSpPr>
          <p:sp>
            <p:nvSpPr>
              <p:cNvPr id="22" name="Rectángulo 21">
                <a:extLst>
                  <a:ext uri="{FF2B5EF4-FFF2-40B4-BE49-F238E27FC236}">
                    <a16:creationId xmlns:a16="http://schemas.microsoft.com/office/drawing/2014/main" id="{D3161588-EEFF-635F-273B-5C63305FC906}"/>
                  </a:ext>
                </a:extLst>
              </p:cNvPr>
              <p:cNvSpPr/>
              <p:nvPr/>
            </p:nvSpPr>
            <p:spPr>
              <a:xfrm>
                <a:off x="609600" y="6019983"/>
                <a:ext cx="2209800"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38FFA72E-F0BB-63CE-5B8B-FA8CD8DDC4C8}"/>
                  </a:ext>
                </a:extLst>
              </p:cNvPr>
              <p:cNvSpPr txBox="1"/>
              <p:nvPr/>
            </p:nvSpPr>
            <p:spPr>
              <a:xfrm>
                <a:off x="609600" y="6226043"/>
                <a:ext cx="5334000" cy="276999"/>
              </a:xfrm>
              <a:prstGeom prst="rect">
                <a:avLst/>
              </a:prstGeom>
              <a:noFill/>
            </p:spPr>
            <p:txBody>
              <a:bodyPr wrap="square" rtlCol="0">
                <a:spAutoFit/>
              </a:bodyPr>
              <a:lstStyle/>
              <a:p>
                <a:r>
                  <a:rPr lang="es-CO" sz="1200" i="1" dirty="0">
                    <a:solidFill>
                      <a:schemeClr val="tx2"/>
                    </a:solidFill>
                    <a:latin typeface="Aptos Narrow" panose="020B0004020202020204" pitchFamily="34" charset="0"/>
                  </a:rPr>
                  <a:t>MECA 4107 – </a:t>
                </a:r>
                <a:r>
                  <a:rPr lang="es-CO" sz="1200" i="1" dirty="0" err="1">
                    <a:solidFill>
                      <a:schemeClr val="tx2"/>
                    </a:solidFill>
                    <a:latin typeface="Aptos Narrow" panose="020B0004020202020204" pitchFamily="34" charset="0"/>
                  </a:rPr>
                  <a:t>Problem</a:t>
                </a:r>
                <a:r>
                  <a:rPr lang="es-CO" sz="1200" i="1" dirty="0">
                    <a:solidFill>
                      <a:schemeClr val="tx2"/>
                    </a:solidFill>
                    <a:latin typeface="Aptos Narrow" panose="020B0004020202020204" pitchFamily="34" charset="0"/>
                  </a:rPr>
                  <a:t> Set 1: </a:t>
                </a:r>
                <a:r>
                  <a:rPr lang="es-CO" sz="1200" i="1" dirty="0" err="1">
                    <a:solidFill>
                      <a:schemeClr val="tx2"/>
                    </a:solidFill>
                    <a:latin typeface="Aptos Narrow" panose="020B0004020202020204" pitchFamily="34" charset="0"/>
                  </a:rPr>
                  <a:t>Predicting</a:t>
                </a:r>
                <a:r>
                  <a:rPr lang="es-CO" sz="1200" i="1" dirty="0">
                    <a:solidFill>
                      <a:schemeClr val="tx2"/>
                    </a:solidFill>
                    <a:latin typeface="Aptos Narrow" panose="020B0004020202020204" pitchFamily="34" charset="0"/>
                  </a:rPr>
                  <a:t> </a:t>
                </a:r>
                <a:r>
                  <a:rPr lang="es-CO" sz="1200" i="1" dirty="0" err="1">
                    <a:solidFill>
                      <a:schemeClr val="tx2"/>
                    </a:solidFill>
                    <a:latin typeface="Aptos Narrow" panose="020B0004020202020204" pitchFamily="34" charset="0"/>
                  </a:rPr>
                  <a:t>Income</a:t>
                </a:r>
                <a:endParaRPr lang="es-CO" sz="1050" i="1" dirty="0">
                  <a:solidFill>
                    <a:schemeClr val="tx2"/>
                  </a:solidFill>
                  <a:latin typeface="Aptos Narrow" panose="020B0004020202020204" pitchFamily="34" charset="0"/>
                </a:endParaRPr>
              </a:p>
            </p:txBody>
          </p:sp>
        </p:grpSp>
        <p:sp>
          <p:nvSpPr>
            <p:cNvPr id="21" name="Triángulo 20">
              <a:extLst>
                <a:ext uri="{FF2B5EF4-FFF2-40B4-BE49-F238E27FC236}">
                  <a16:creationId xmlns:a16="http://schemas.microsoft.com/office/drawing/2014/main" id="{1DC4AB94-6960-DF07-92BE-EAA3BF9A875A}"/>
                </a:ext>
              </a:extLst>
            </p:cNvPr>
            <p:cNvSpPr/>
            <p:nvPr/>
          </p:nvSpPr>
          <p:spPr>
            <a:xfrm rot="5400000">
              <a:off x="8518791" y="6142961"/>
              <a:ext cx="488417" cy="483199"/>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4" name="Grupo 23">
            <a:extLst>
              <a:ext uri="{FF2B5EF4-FFF2-40B4-BE49-F238E27FC236}">
                <a16:creationId xmlns:a16="http://schemas.microsoft.com/office/drawing/2014/main" id="{EDBA9FB6-F902-8230-8D23-3E5E7FDC0741}"/>
              </a:ext>
            </a:extLst>
          </p:cNvPr>
          <p:cNvGrpSpPr/>
          <p:nvPr/>
        </p:nvGrpSpPr>
        <p:grpSpPr>
          <a:xfrm>
            <a:off x="9818298" y="273960"/>
            <a:ext cx="2373702" cy="691515"/>
            <a:chOff x="338281" y="6096000"/>
            <a:chExt cx="2373702" cy="691515"/>
          </a:xfrm>
        </p:grpSpPr>
        <p:sp>
          <p:nvSpPr>
            <p:cNvPr id="25" name="Rectángulo 24">
              <a:extLst>
                <a:ext uri="{FF2B5EF4-FFF2-40B4-BE49-F238E27FC236}">
                  <a16:creationId xmlns:a16="http://schemas.microsoft.com/office/drawing/2014/main" id="{C39CD7C7-3302-5CCA-B507-4F14C2459519}"/>
                </a:ext>
              </a:extLst>
            </p:cNvPr>
            <p:cNvSpPr/>
            <p:nvPr/>
          </p:nvSpPr>
          <p:spPr>
            <a:xfrm>
              <a:off x="338281" y="6096000"/>
              <a:ext cx="2373702" cy="691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26" name="Grupo 25">
              <a:extLst>
                <a:ext uri="{FF2B5EF4-FFF2-40B4-BE49-F238E27FC236}">
                  <a16:creationId xmlns:a16="http://schemas.microsoft.com/office/drawing/2014/main" id="{C0D547BB-67FF-A5CA-BAFD-2E5545C4184A}"/>
                </a:ext>
              </a:extLst>
            </p:cNvPr>
            <p:cNvGrpSpPr/>
            <p:nvPr/>
          </p:nvGrpSpPr>
          <p:grpSpPr>
            <a:xfrm>
              <a:off x="685800" y="6096000"/>
              <a:ext cx="1447800" cy="495372"/>
              <a:chOff x="582416" y="5645548"/>
              <a:chExt cx="2329523" cy="691515"/>
            </a:xfrm>
          </p:grpSpPr>
          <p:sp>
            <p:nvSpPr>
              <p:cNvPr id="27" name="object 2">
                <a:extLst>
                  <a:ext uri="{FF2B5EF4-FFF2-40B4-BE49-F238E27FC236}">
                    <a16:creationId xmlns:a16="http://schemas.microsoft.com/office/drawing/2014/main" id="{30839764-446F-2EC5-2461-296393425D72}"/>
                  </a:ext>
                </a:extLst>
              </p:cNvPr>
              <p:cNvSpPr/>
              <p:nvPr/>
            </p:nvSpPr>
            <p:spPr>
              <a:xfrm>
                <a:off x="582416" y="5645548"/>
                <a:ext cx="589915" cy="691515"/>
              </a:xfrm>
              <a:custGeom>
                <a:avLst/>
                <a:gdLst/>
                <a:ahLst/>
                <a:cxnLst/>
                <a:rect l="l" t="t" r="r" b="b"/>
                <a:pathLst>
                  <a:path w="589915" h="691514">
                    <a:moveTo>
                      <a:pt x="311958" y="97402"/>
                    </a:moveTo>
                    <a:lnTo>
                      <a:pt x="286126" y="97402"/>
                    </a:lnTo>
                    <a:lnTo>
                      <a:pt x="287264" y="104907"/>
                    </a:lnTo>
                    <a:lnTo>
                      <a:pt x="290172" y="124419"/>
                    </a:lnTo>
                    <a:lnTo>
                      <a:pt x="294174" y="152016"/>
                    </a:lnTo>
                    <a:lnTo>
                      <a:pt x="298270" y="181453"/>
                    </a:lnTo>
                    <a:lnTo>
                      <a:pt x="302721" y="200882"/>
                    </a:lnTo>
                    <a:lnTo>
                      <a:pt x="312125" y="239243"/>
                    </a:lnTo>
                    <a:lnTo>
                      <a:pt x="320584" y="296325"/>
                    </a:lnTo>
                    <a:lnTo>
                      <a:pt x="327583" y="362622"/>
                    </a:lnTo>
                    <a:lnTo>
                      <a:pt x="331926" y="440339"/>
                    </a:lnTo>
                    <a:lnTo>
                      <a:pt x="337659" y="553000"/>
                    </a:lnTo>
                    <a:lnTo>
                      <a:pt x="330998" y="595071"/>
                    </a:lnTo>
                    <a:lnTo>
                      <a:pt x="308224" y="625761"/>
                    </a:lnTo>
                    <a:lnTo>
                      <a:pt x="301539" y="633722"/>
                    </a:lnTo>
                    <a:lnTo>
                      <a:pt x="298270" y="648438"/>
                    </a:lnTo>
                    <a:lnTo>
                      <a:pt x="297656" y="661866"/>
                    </a:lnTo>
                    <a:lnTo>
                      <a:pt x="297595" y="673796"/>
                    </a:lnTo>
                    <a:lnTo>
                      <a:pt x="298650" y="681469"/>
                    </a:lnTo>
                    <a:lnTo>
                      <a:pt x="300971" y="691142"/>
                    </a:lnTo>
                    <a:lnTo>
                      <a:pt x="322460" y="690557"/>
                    </a:lnTo>
                    <a:lnTo>
                      <a:pt x="367010" y="684945"/>
                    </a:lnTo>
                    <a:lnTo>
                      <a:pt x="345996" y="683276"/>
                    </a:lnTo>
                    <a:lnTo>
                      <a:pt x="330662" y="664450"/>
                    </a:lnTo>
                    <a:lnTo>
                      <a:pt x="326610" y="656450"/>
                    </a:lnTo>
                    <a:lnTo>
                      <a:pt x="329311" y="656450"/>
                    </a:lnTo>
                    <a:lnTo>
                      <a:pt x="329311" y="643109"/>
                    </a:lnTo>
                    <a:lnTo>
                      <a:pt x="346960" y="604642"/>
                    </a:lnTo>
                    <a:lnTo>
                      <a:pt x="365755" y="584393"/>
                    </a:lnTo>
                    <a:lnTo>
                      <a:pt x="365755" y="579064"/>
                    </a:lnTo>
                    <a:lnTo>
                      <a:pt x="368456" y="568382"/>
                    </a:lnTo>
                    <a:lnTo>
                      <a:pt x="373472" y="527690"/>
                    </a:lnTo>
                    <a:lnTo>
                      <a:pt x="376212" y="475991"/>
                    </a:lnTo>
                    <a:lnTo>
                      <a:pt x="376422" y="425791"/>
                    </a:lnTo>
                    <a:lnTo>
                      <a:pt x="373847" y="389599"/>
                    </a:lnTo>
                    <a:lnTo>
                      <a:pt x="371211" y="374189"/>
                    </a:lnTo>
                    <a:lnTo>
                      <a:pt x="365920" y="344397"/>
                    </a:lnTo>
                    <a:lnTo>
                      <a:pt x="358857" y="303848"/>
                    </a:lnTo>
                    <a:lnTo>
                      <a:pt x="350910" y="256168"/>
                    </a:lnTo>
                    <a:lnTo>
                      <a:pt x="342956" y="212974"/>
                    </a:lnTo>
                    <a:lnTo>
                      <a:pt x="334782" y="181453"/>
                    </a:lnTo>
                    <a:lnTo>
                      <a:pt x="326043" y="151100"/>
                    </a:lnTo>
                    <a:lnTo>
                      <a:pt x="315816" y="109408"/>
                    </a:lnTo>
                    <a:lnTo>
                      <a:pt x="311958" y="97402"/>
                    </a:lnTo>
                    <a:close/>
                  </a:path>
                  <a:path w="589915" h="691514">
                    <a:moveTo>
                      <a:pt x="367433" y="684891"/>
                    </a:moveTo>
                    <a:lnTo>
                      <a:pt x="367010" y="684945"/>
                    </a:lnTo>
                    <a:lnTo>
                      <a:pt x="367274" y="684966"/>
                    </a:lnTo>
                    <a:lnTo>
                      <a:pt x="367433" y="684891"/>
                    </a:lnTo>
                    <a:close/>
                  </a:path>
                  <a:path w="589915" h="691514">
                    <a:moveTo>
                      <a:pt x="558230" y="26681"/>
                    </a:moveTo>
                    <a:lnTo>
                      <a:pt x="294218" y="26681"/>
                    </a:lnTo>
                    <a:lnTo>
                      <a:pt x="355567" y="27369"/>
                    </a:lnTo>
                    <a:lnTo>
                      <a:pt x="400339" y="32185"/>
                    </a:lnTo>
                    <a:lnTo>
                      <a:pt x="450425" y="45256"/>
                    </a:lnTo>
                    <a:lnTo>
                      <a:pt x="527715" y="70709"/>
                    </a:lnTo>
                    <a:lnTo>
                      <a:pt x="527669" y="553000"/>
                    </a:lnTo>
                    <a:lnTo>
                      <a:pt x="527061" y="579143"/>
                    </a:lnTo>
                    <a:lnTo>
                      <a:pt x="522484" y="595736"/>
                    </a:lnTo>
                    <a:lnTo>
                      <a:pt x="510061" y="607327"/>
                    </a:lnTo>
                    <a:lnTo>
                      <a:pt x="485869" y="620421"/>
                    </a:lnTo>
                    <a:lnTo>
                      <a:pt x="409049" y="665390"/>
                    </a:lnTo>
                    <a:lnTo>
                      <a:pt x="367433" y="684891"/>
                    </a:lnTo>
                    <a:lnTo>
                      <a:pt x="378743" y="683466"/>
                    </a:lnTo>
                    <a:lnTo>
                      <a:pt x="457548" y="661866"/>
                    </a:lnTo>
                    <a:lnTo>
                      <a:pt x="546601" y="617751"/>
                    </a:lnTo>
                    <a:lnTo>
                      <a:pt x="583618" y="580044"/>
                    </a:lnTo>
                    <a:lnTo>
                      <a:pt x="589797" y="551047"/>
                    </a:lnTo>
                    <a:lnTo>
                      <a:pt x="589797" y="32022"/>
                    </a:lnTo>
                    <a:lnTo>
                      <a:pt x="560485" y="27018"/>
                    </a:lnTo>
                    <a:lnTo>
                      <a:pt x="558230" y="26681"/>
                    </a:lnTo>
                    <a:close/>
                  </a:path>
                  <a:path w="589915" h="691514">
                    <a:moveTo>
                      <a:pt x="292867" y="0"/>
                    </a:moveTo>
                    <a:lnTo>
                      <a:pt x="228905" y="2372"/>
                    </a:lnTo>
                    <a:lnTo>
                      <a:pt x="162655" y="8302"/>
                    </a:lnTo>
                    <a:lnTo>
                      <a:pt x="100378" y="16011"/>
                    </a:lnTo>
                    <a:lnTo>
                      <a:pt x="48336" y="23720"/>
                    </a:lnTo>
                    <a:lnTo>
                      <a:pt x="0" y="32022"/>
                    </a:lnTo>
                    <a:lnTo>
                      <a:pt x="61" y="548376"/>
                    </a:lnTo>
                    <a:lnTo>
                      <a:pt x="1771" y="585444"/>
                    </a:lnTo>
                    <a:lnTo>
                      <a:pt x="14171" y="609085"/>
                    </a:lnTo>
                    <a:lnTo>
                      <a:pt x="47829" y="627721"/>
                    </a:lnTo>
                    <a:lnTo>
                      <a:pt x="113372" y="651109"/>
                    </a:lnTo>
                    <a:lnTo>
                      <a:pt x="87770" y="631303"/>
                    </a:lnTo>
                    <a:lnTo>
                      <a:pt x="73555" y="603744"/>
                    </a:lnTo>
                    <a:lnTo>
                      <a:pt x="67439" y="574184"/>
                    </a:lnTo>
                    <a:lnTo>
                      <a:pt x="66132" y="548376"/>
                    </a:lnTo>
                    <a:lnTo>
                      <a:pt x="66132" y="70709"/>
                    </a:lnTo>
                    <a:lnTo>
                      <a:pt x="87537" y="63830"/>
                    </a:lnTo>
                    <a:lnTo>
                      <a:pt x="142219" y="48695"/>
                    </a:lnTo>
                    <a:lnTo>
                      <a:pt x="215879" y="33561"/>
                    </a:lnTo>
                    <a:lnTo>
                      <a:pt x="294218" y="26681"/>
                    </a:lnTo>
                    <a:lnTo>
                      <a:pt x="558230" y="26681"/>
                    </a:lnTo>
                    <a:lnTo>
                      <a:pt x="486886" y="16011"/>
                    </a:lnTo>
                    <a:lnTo>
                      <a:pt x="390510" y="5003"/>
                    </a:lnTo>
                    <a:lnTo>
                      <a:pt x="292867" y="0"/>
                    </a:lnTo>
                    <a:close/>
                  </a:path>
                  <a:path w="589915" h="691514">
                    <a:moveTo>
                      <a:pt x="284775" y="46698"/>
                    </a:moveTo>
                    <a:lnTo>
                      <a:pt x="261826" y="98726"/>
                    </a:lnTo>
                    <a:lnTo>
                      <a:pt x="251961" y="152016"/>
                    </a:lnTo>
                    <a:lnTo>
                      <a:pt x="246898" y="196759"/>
                    </a:lnTo>
                    <a:lnTo>
                      <a:pt x="242830" y="248167"/>
                    </a:lnTo>
                    <a:lnTo>
                      <a:pt x="241590" y="272180"/>
                    </a:lnTo>
                    <a:lnTo>
                      <a:pt x="236862" y="348067"/>
                    </a:lnTo>
                    <a:lnTo>
                      <a:pt x="228084" y="487002"/>
                    </a:lnTo>
                    <a:lnTo>
                      <a:pt x="228147" y="489107"/>
                    </a:lnTo>
                    <a:lnTo>
                      <a:pt x="228590" y="492838"/>
                    </a:lnTo>
                    <a:lnTo>
                      <a:pt x="229793" y="494315"/>
                    </a:lnTo>
                    <a:lnTo>
                      <a:pt x="232135" y="489661"/>
                    </a:lnTo>
                    <a:lnTo>
                      <a:pt x="236333" y="462103"/>
                    </a:lnTo>
                    <a:lnTo>
                      <a:pt x="243441" y="405274"/>
                    </a:lnTo>
                    <a:lnTo>
                      <a:pt x="251309" y="339936"/>
                    </a:lnTo>
                    <a:lnTo>
                      <a:pt x="257786" y="286856"/>
                    </a:lnTo>
                    <a:lnTo>
                      <a:pt x="259826" y="267637"/>
                    </a:lnTo>
                    <a:lnTo>
                      <a:pt x="262054" y="247705"/>
                    </a:lnTo>
                    <a:lnTo>
                      <a:pt x="264422" y="228695"/>
                    </a:lnTo>
                    <a:lnTo>
                      <a:pt x="267229" y="209470"/>
                    </a:lnTo>
                    <a:lnTo>
                      <a:pt x="272270" y="171698"/>
                    </a:lnTo>
                    <a:lnTo>
                      <a:pt x="277184" y="138428"/>
                    </a:lnTo>
                    <a:lnTo>
                      <a:pt x="281844" y="112661"/>
                    </a:lnTo>
                    <a:lnTo>
                      <a:pt x="286126" y="97402"/>
                    </a:lnTo>
                    <a:lnTo>
                      <a:pt x="311958" y="97402"/>
                    </a:lnTo>
                    <a:lnTo>
                      <a:pt x="308687" y="87227"/>
                    </a:lnTo>
                    <a:lnTo>
                      <a:pt x="299283" y="67046"/>
                    </a:lnTo>
                    <a:lnTo>
                      <a:pt x="290385" y="52369"/>
                    </a:lnTo>
                    <a:lnTo>
                      <a:pt x="284775" y="46698"/>
                    </a:lnTo>
                    <a:close/>
                  </a:path>
                </a:pathLst>
              </a:custGeom>
              <a:solidFill>
                <a:srgbClr val="000000"/>
              </a:solidFill>
            </p:spPr>
            <p:txBody>
              <a:bodyPr wrap="square" lIns="0" tIns="0" rIns="0" bIns="0" rtlCol="0"/>
              <a:lstStyle/>
              <a:p>
                <a:endParaRPr/>
              </a:p>
            </p:txBody>
          </p:sp>
          <p:grpSp>
            <p:nvGrpSpPr>
              <p:cNvPr id="28" name="object 3">
                <a:extLst>
                  <a:ext uri="{FF2B5EF4-FFF2-40B4-BE49-F238E27FC236}">
                    <a16:creationId xmlns:a16="http://schemas.microsoft.com/office/drawing/2014/main" id="{0D14F88F-07C9-2ABC-4C06-FDFDFC668505}"/>
                  </a:ext>
                </a:extLst>
              </p:cNvPr>
              <p:cNvGrpSpPr/>
              <p:nvPr/>
            </p:nvGrpSpPr>
            <p:grpSpPr>
              <a:xfrm>
                <a:off x="2654129" y="5677571"/>
                <a:ext cx="257810" cy="194945"/>
                <a:chOff x="2654129" y="5677571"/>
                <a:chExt cx="257810" cy="194945"/>
              </a:xfrm>
            </p:grpSpPr>
            <p:sp>
              <p:nvSpPr>
                <p:cNvPr id="50" name="object 4">
                  <a:extLst>
                    <a:ext uri="{FF2B5EF4-FFF2-40B4-BE49-F238E27FC236}">
                      <a16:creationId xmlns:a16="http://schemas.microsoft.com/office/drawing/2014/main" id="{F52DBF2B-572D-2EEC-F67D-F283BECBC002}"/>
                    </a:ext>
                  </a:extLst>
                </p:cNvPr>
                <p:cNvSpPr/>
                <p:nvPr/>
              </p:nvSpPr>
              <p:spPr>
                <a:xfrm>
                  <a:off x="2654129" y="5677571"/>
                  <a:ext cx="114688" cy="194794"/>
                </a:xfrm>
                <a:prstGeom prst="rect">
                  <a:avLst/>
                </a:prstGeom>
                <a:blipFill>
                  <a:blip r:embed="rId2" cstate="print"/>
                  <a:stretch>
                    <a:fillRect/>
                  </a:stretch>
                </a:blipFill>
              </p:spPr>
              <p:txBody>
                <a:bodyPr wrap="square" lIns="0" tIns="0" rIns="0" bIns="0" rtlCol="0"/>
                <a:lstStyle/>
                <a:p>
                  <a:endParaRPr/>
                </a:p>
              </p:txBody>
            </p:sp>
            <p:sp>
              <p:nvSpPr>
                <p:cNvPr id="51" name="object 5">
                  <a:extLst>
                    <a:ext uri="{FF2B5EF4-FFF2-40B4-BE49-F238E27FC236}">
                      <a16:creationId xmlns:a16="http://schemas.microsoft.com/office/drawing/2014/main" id="{EB995528-3512-4EDC-F259-D967AFFF9551}"/>
                    </a:ext>
                  </a:extLst>
                </p:cNvPr>
                <p:cNvSpPr/>
                <p:nvPr/>
              </p:nvSpPr>
              <p:spPr>
                <a:xfrm>
                  <a:off x="2797180" y="5729599"/>
                  <a:ext cx="114688" cy="142766"/>
                </a:xfrm>
                <a:prstGeom prst="rect">
                  <a:avLst/>
                </a:prstGeom>
                <a:blipFill>
                  <a:blip r:embed="rId3" cstate="print"/>
                  <a:stretch>
                    <a:fillRect/>
                  </a:stretch>
                </a:blipFill>
              </p:spPr>
              <p:txBody>
                <a:bodyPr wrap="square" lIns="0" tIns="0" rIns="0" bIns="0" rtlCol="0"/>
                <a:lstStyle/>
                <a:p>
                  <a:endParaRPr/>
                </a:p>
              </p:txBody>
            </p:sp>
          </p:grpSp>
          <p:grpSp>
            <p:nvGrpSpPr>
              <p:cNvPr id="29" name="object 6">
                <a:extLst>
                  <a:ext uri="{FF2B5EF4-FFF2-40B4-BE49-F238E27FC236}">
                    <a16:creationId xmlns:a16="http://schemas.microsoft.com/office/drawing/2014/main" id="{13424E53-DBC2-D1C6-C0AE-61483C304B7A}"/>
                  </a:ext>
                </a:extLst>
              </p:cNvPr>
              <p:cNvGrpSpPr/>
              <p:nvPr/>
            </p:nvGrpSpPr>
            <p:grpSpPr>
              <a:xfrm>
                <a:off x="1276131" y="5935075"/>
                <a:ext cx="447040" cy="307340"/>
                <a:chOff x="1276131" y="5935075"/>
                <a:chExt cx="447040" cy="307340"/>
              </a:xfrm>
            </p:grpSpPr>
            <p:sp>
              <p:nvSpPr>
                <p:cNvPr id="47" name="object 7">
                  <a:extLst>
                    <a:ext uri="{FF2B5EF4-FFF2-40B4-BE49-F238E27FC236}">
                      <a16:creationId xmlns:a16="http://schemas.microsoft.com/office/drawing/2014/main" id="{2F1AE6D9-0C5C-4655-5925-0119612F4B6B}"/>
                    </a:ext>
                  </a:extLst>
                </p:cNvPr>
                <p:cNvSpPr/>
                <p:nvPr/>
              </p:nvSpPr>
              <p:spPr>
                <a:xfrm>
                  <a:off x="1276131" y="5935075"/>
                  <a:ext cx="50165" cy="302895"/>
                </a:xfrm>
                <a:custGeom>
                  <a:avLst/>
                  <a:gdLst/>
                  <a:ahLst/>
                  <a:cxnLst/>
                  <a:rect l="l" t="t" r="r" b="b"/>
                  <a:pathLst>
                    <a:path w="50165" h="302895">
                      <a:moveTo>
                        <a:pt x="49938" y="0"/>
                      </a:moveTo>
                      <a:lnTo>
                        <a:pt x="0" y="0"/>
                      </a:lnTo>
                      <a:lnTo>
                        <a:pt x="0" y="302878"/>
                      </a:lnTo>
                      <a:lnTo>
                        <a:pt x="49938" y="302878"/>
                      </a:lnTo>
                      <a:lnTo>
                        <a:pt x="49938" y="0"/>
                      </a:lnTo>
                      <a:close/>
                    </a:path>
                  </a:pathLst>
                </a:custGeom>
                <a:solidFill>
                  <a:srgbClr val="000000"/>
                </a:solidFill>
              </p:spPr>
              <p:txBody>
                <a:bodyPr wrap="square" lIns="0" tIns="0" rIns="0" bIns="0" rtlCol="0"/>
                <a:lstStyle/>
                <a:p>
                  <a:endParaRPr/>
                </a:p>
              </p:txBody>
            </p:sp>
            <p:sp>
              <p:nvSpPr>
                <p:cNvPr id="48" name="object 8">
                  <a:extLst>
                    <a:ext uri="{FF2B5EF4-FFF2-40B4-BE49-F238E27FC236}">
                      <a16:creationId xmlns:a16="http://schemas.microsoft.com/office/drawing/2014/main" id="{3F3ADF64-981C-6895-E8E5-105D98891CBA}"/>
                    </a:ext>
                  </a:extLst>
                </p:cNvPr>
                <p:cNvSpPr/>
                <p:nvPr/>
              </p:nvSpPr>
              <p:spPr>
                <a:xfrm>
                  <a:off x="1369255" y="6017801"/>
                  <a:ext cx="183558" cy="224157"/>
                </a:xfrm>
                <a:prstGeom prst="rect">
                  <a:avLst/>
                </a:prstGeom>
                <a:blipFill>
                  <a:blip r:embed="rId4" cstate="print"/>
                  <a:stretch>
                    <a:fillRect/>
                  </a:stretch>
                </a:blipFill>
              </p:spPr>
              <p:txBody>
                <a:bodyPr wrap="square" lIns="0" tIns="0" rIns="0" bIns="0" rtlCol="0"/>
                <a:lstStyle/>
                <a:p>
                  <a:endParaRPr/>
                </a:p>
              </p:txBody>
            </p:sp>
            <p:sp>
              <p:nvSpPr>
                <p:cNvPr id="49" name="object 9">
                  <a:extLst>
                    <a:ext uri="{FF2B5EF4-FFF2-40B4-BE49-F238E27FC236}">
                      <a16:creationId xmlns:a16="http://schemas.microsoft.com/office/drawing/2014/main" id="{B78F2DFC-F95C-339F-95B5-50E969C6A24B}"/>
                    </a:ext>
                  </a:extLst>
                </p:cNvPr>
                <p:cNvSpPr/>
                <p:nvPr/>
              </p:nvSpPr>
              <p:spPr>
                <a:xfrm>
                  <a:off x="1583855" y="6020117"/>
                  <a:ext cx="139033" cy="220840"/>
                </a:xfrm>
                <a:prstGeom prst="rect">
                  <a:avLst/>
                </a:prstGeom>
                <a:blipFill>
                  <a:blip r:embed="rId5" cstate="print"/>
                  <a:stretch>
                    <a:fillRect/>
                  </a:stretch>
                </a:blipFill>
              </p:spPr>
              <p:txBody>
                <a:bodyPr wrap="square" lIns="0" tIns="0" rIns="0" bIns="0" rtlCol="0"/>
                <a:lstStyle/>
                <a:p>
                  <a:endParaRPr/>
                </a:p>
              </p:txBody>
            </p:sp>
          </p:grpSp>
          <p:grpSp>
            <p:nvGrpSpPr>
              <p:cNvPr id="30" name="object 10">
                <a:extLst>
                  <a:ext uri="{FF2B5EF4-FFF2-40B4-BE49-F238E27FC236}">
                    <a16:creationId xmlns:a16="http://schemas.microsoft.com/office/drawing/2014/main" id="{284BC579-60ED-9015-A8E7-118D5A67C63E}"/>
                  </a:ext>
                </a:extLst>
              </p:cNvPr>
              <p:cNvGrpSpPr/>
              <p:nvPr/>
            </p:nvGrpSpPr>
            <p:grpSpPr>
              <a:xfrm>
                <a:off x="1834876" y="5937745"/>
                <a:ext cx="456565" cy="300355"/>
                <a:chOff x="1834876" y="5937745"/>
                <a:chExt cx="456565" cy="300355"/>
              </a:xfrm>
            </p:grpSpPr>
            <p:sp>
              <p:nvSpPr>
                <p:cNvPr id="45" name="object 11">
                  <a:extLst>
                    <a:ext uri="{FF2B5EF4-FFF2-40B4-BE49-F238E27FC236}">
                      <a16:creationId xmlns:a16="http://schemas.microsoft.com/office/drawing/2014/main" id="{8C13D857-1FED-BDF2-EE50-CF4D4C356A76}"/>
                    </a:ext>
                  </a:extLst>
                </p:cNvPr>
                <p:cNvSpPr/>
                <p:nvPr/>
              </p:nvSpPr>
              <p:spPr>
                <a:xfrm>
                  <a:off x="1834876" y="5937745"/>
                  <a:ext cx="252729" cy="300355"/>
                </a:xfrm>
                <a:custGeom>
                  <a:avLst/>
                  <a:gdLst/>
                  <a:ahLst/>
                  <a:cxnLst/>
                  <a:rect l="l" t="t" r="r" b="b"/>
                  <a:pathLst>
                    <a:path w="252730" h="300354">
                      <a:moveTo>
                        <a:pt x="152505" y="0"/>
                      </a:moveTo>
                      <a:lnTo>
                        <a:pt x="99832" y="0"/>
                      </a:lnTo>
                      <a:lnTo>
                        <a:pt x="0" y="300208"/>
                      </a:lnTo>
                      <a:lnTo>
                        <a:pt x="49972" y="300208"/>
                      </a:lnTo>
                      <a:lnTo>
                        <a:pt x="74283" y="222822"/>
                      </a:lnTo>
                      <a:lnTo>
                        <a:pt x="226603" y="222822"/>
                      </a:lnTo>
                      <a:lnTo>
                        <a:pt x="215954" y="190799"/>
                      </a:lnTo>
                      <a:lnTo>
                        <a:pt x="82386" y="190799"/>
                      </a:lnTo>
                      <a:lnTo>
                        <a:pt x="116039" y="85397"/>
                      </a:lnTo>
                      <a:lnTo>
                        <a:pt x="118824" y="74137"/>
                      </a:lnTo>
                      <a:lnTo>
                        <a:pt x="121104" y="64378"/>
                      </a:lnTo>
                      <a:lnTo>
                        <a:pt x="122876" y="56121"/>
                      </a:lnTo>
                      <a:lnTo>
                        <a:pt x="124142" y="49368"/>
                      </a:lnTo>
                      <a:lnTo>
                        <a:pt x="168922" y="49368"/>
                      </a:lnTo>
                      <a:lnTo>
                        <a:pt x="152505" y="0"/>
                      </a:lnTo>
                      <a:close/>
                    </a:path>
                    <a:path w="252730" h="300354">
                      <a:moveTo>
                        <a:pt x="226603" y="222822"/>
                      </a:moveTo>
                      <a:lnTo>
                        <a:pt x="171413" y="222822"/>
                      </a:lnTo>
                      <a:lnTo>
                        <a:pt x="194374" y="300208"/>
                      </a:lnTo>
                      <a:lnTo>
                        <a:pt x="252337" y="300208"/>
                      </a:lnTo>
                      <a:lnTo>
                        <a:pt x="226603" y="222822"/>
                      </a:lnTo>
                      <a:close/>
                    </a:path>
                    <a:path w="252730" h="300354">
                      <a:moveTo>
                        <a:pt x="168922" y="49368"/>
                      </a:moveTo>
                      <a:lnTo>
                        <a:pt x="125493" y="49368"/>
                      </a:lnTo>
                      <a:lnTo>
                        <a:pt x="126759" y="56872"/>
                      </a:lnTo>
                      <a:lnTo>
                        <a:pt x="128532" y="65380"/>
                      </a:lnTo>
                      <a:lnTo>
                        <a:pt x="130811" y="74888"/>
                      </a:lnTo>
                      <a:lnTo>
                        <a:pt x="133597" y="85397"/>
                      </a:lnTo>
                      <a:lnTo>
                        <a:pt x="164660" y="190799"/>
                      </a:lnTo>
                      <a:lnTo>
                        <a:pt x="215954" y="190799"/>
                      </a:lnTo>
                      <a:lnTo>
                        <a:pt x="168922" y="49368"/>
                      </a:lnTo>
                      <a:close/>
                    </a:path>
                  </a:pathLst>
                </a:custGeom>
                <a:solidFill>
                  <a:srgbClr val="000000"/>
                </a:solidFill>
              </p:spPr>
              <p:txBody>
                <a:bodyPr wrap="square" lIns="0" tIns="0" rIns="0" bIns="0" rtlCol="0"/>
                <a:lstStyle/>
                <a:p>
                  <a:endParaRPr/>
                </a:p>
              </p:txBody>
            </p:sp>
            <p:sp>
              <p:nvSpPr>
                <p:cNvPr id="46" name="object 12">
                  <a:extLst>
                    <a:ext uri="{FF2B5EF4-FFF2-40B4-BE49-F238E27FC236}">
                      <a16:creationId xmlns:a16="http://schemas.microsoft.com/office/drawing/2014/main" id="{BB5873CA-0869-34E3-1B0C-91B4C19003EC}"/>
                    </a:ext>
                  </a:extLst>
                </p:cNvPr>
                <p:cNvSpPr/>
                <p:nvPr/>
              </p:nvSpPr>
              <p:spPr>
                <a:xfrm>
                  <a:off x="2119628" y="6017801"/>
                  <a:ext cx="171414" cy="220151"/>
                </a:xfrm>
                <a:prstGeom prst="rect">
                  <a:avLst/>
                </a:prstGeom>
                <a:blipFill>
                  <a:blip r:embed="rId6" cstate="print"/>
                  <a:stretch>
                    <a:fillRect/>
                  </a:stretch>
                </a:blipFill>
              </p:spPr>
              <p:txBody>
                <a:bodyPr wrap="square" lIns="0" tIns="0" rIns="0" bIns="0" rtlCol="0"/>
                <a:lstStyle/>
                <a:p>
                  <a:endParaRPr/>
                </a:p>
              </p:txBody>
            </p:sp>
          </p:grpSp>
          <p:grpSp>
            <p:nvGrpSpPr>
              <p:cNvPr id="31" name="object 13">
                <a:extLst>
                  <a:ext uri="{FF2B5EF4-FFF2-40B4-BE49-F238E27FC236}">
                    <a16:creationId xmlns:a16="http://schemas.microsoft.com/office/drawing/2014/main" id="{AAB7093A-14C8-F79A-56A9-17F412721CB8}"/>
                  </a:ext>
                </a:extLst>
              </p:cNvPr>
              <p:cNvGrpSpPr/>
              <p:nvPr/>
            </p:nvGrpSpPr>
            <p:grpSpPr>
              <a:xfrm>
                <a:off x="2335612" y="5937745"/>
                <a:ext cx="574040" cy="306070"/>
                <a:chOff x="2335612" y="5937745"/>
                <a:chExt cx="574040" cy="306070"/>
              </a:xfrm>
            </p:grpSpPr>
            <p:sp>
              <p:nvSpPr>
                <p:cNvPr id="42" name="object 14">
                  <a:extLst>
                    <a:ext uri="{FF2B5EF4-FFF2-40B4-BE49-F238E27FC236}">
                      <a16:creationId xmlns:a16="http://schemas.microsoft.com/office/drawing/2014/main" id="{7DE483E6-EE08-DCA2-4690-6EBE16AC6E14}"/>
                    </a:ext>
                  </a:extLst>
                </p:cNvPr>
                <p:cNvSpPr/>
                <p:nvPr/>
              </p:nvSpPr>
              <p:spPr>
                <a:xfrm>
                  <a:off x="2335612" y="5937745"/>
                  <a:ext cx="179705" cy="306070"/>
                </a:xfrm>
                <a:custGeom>
                  <a:avLst/>
                  <a:gdLst/>
                  <a:ahLst/>
                  <a:cxnLst/>
                  <a:rect l="l" t="t" r="r" b="b"/>
                  <a:pathLst>
                    <a:path w="179705" h="306070">
                      <a:moveTo>
                        <a:pt x="95780" y="84061"/>
                      </a:moveTo>
                      <a:lnTo>
                        <a:pt x="57344" y="91231"/>
                      </a:lnTo>
                      <a:lnTo>
                        <a:pt x="15384" y="129905"/>
                      </a:lnTo>
                      <a:lnTo>
                        <a:pt x="1751" y="171393"/>
                      </a:lnTo>
                      <a:lnTo>
                        <a:pt x="0" y="196140"/>
                      </a:lnTo>
                      <a:lnTo>
                        <a:pt x="1751" y="220090"/>
                      </a:lnTo>
                      <a:lnTo>
                        <a:pt x="15384" y="260491"/>
                      </a:lnTo>
                      <a:lnTo>
                        <a:pt x="42230" y="289218"/>
                      </a:lnTo>
                      <a:lnTo>
                        <a:pt x="79717" y="303775"/>
                      </a:lnTo>
                      <a:lnTo>
                        <a:pt x="102533" y="305548"/>
                      </a:lnTo>
                      <a:lnTo>
                        <a:pt x="125577" y="304547"/>
                      </a:lnTo>
                      <a:lnTo>
                        <a:pt x="146090" y="301544"/>
                      </a:lnTo>
                      <a:lnTo>
                        <a:pt x="164070" y="296541"/>
                      </a:lnTo>
                      <a:lnTo>
                        <a:pt x="179517" y="289537"/>
                      </a:lnTo>
                      <a:lnTo>
                        <a:pt x="178167" y="289537"/>
                      </a:lnTo>
                      <a:lnTo>
                        <a:pt x="178167" y="274861"/>
                      </a:lnTo>
                      <a:lnTo>
                        <a:pt x="103883" y="274861"/>
                      </a:lnTo>
                      <a:lnTo>
                        <a:pt x="63253" y="254177"/>
                      </a:lnTo>
                      <a:lnTo>
                        <a:pt x="49972" y="193470"/>
                      </a:lnTo>
                      <a:lnTo>
                        <a:pt x="53711" y="157463"/>
                      </a:lnTo>
                      <a:lnTo>
                        <a:pt x="64772" y="131590"/>
                      </a:lnTo>
                      <a:lnTo>
                        <a:pt x="82924" y="115976"/>
                      </a:lnTo>
                      <a:lnTo>
                        <a:pt x="107935" y="110743"/>
                      </a:lnTo>
                      <a:lnTo>
                        <a:pt x="178167" y="110743"/>
                      </a:lnTo>
                      <a:lnTo>
                        <a:pt x="178167" y="88056"/>
                      </a:lnTo>
                      <a:lnTo>
                        <a:pt x="128194" y="88056"/>
                      </a:lnTo>
                      <a:lnTo>
                        <a:pt x="121420" y="86310"/>
                      </a:lnTo>
                      <a:lnTo>
                        <a:pt x="113506" y="85061"/>
                      </a:lnTo>
                      <a:lnTo>
                        <a:pt x="104833" y="84312"/>
                      </a:lnTo>
                      <a:lnTo>
                        <a:pt x="95780" y="84061"/>
                      </a:lnTo>
                      <a:close/>
                    </a:path>
                    <a:path w="179705" h="306070">
                      <a:moveTo>
                        <a:pt x="178167" y="110743"/>
                      </a:moveTo>
                      <a:lnTo>
                        <a:pt x="116039" y="110743"/>
                      </a:lnTo>
                      <a:lnTo>
                        <a:pt x="129545" y="113413"/>
                      </a:lnTo>
                      <a:lnTo>
                        <a:pt x="129545" y="268185"/>
                      </a:lnTo>
                      <a:lnTo>
                        <a:pt x="124965" y="270730"/>
                      </a:lnTo>
                      <a:lnTo>
                        <a:pt x="119246" y="272525"/>
                      </a:lnTo>
                      <a:lnTo>
                        <a:pt x="112261" y="273818"/>
                      </a:lnTo>
                      <a:lnTo>
                        <a:pt x="103883" y="274861"/>
                      </a:lnTo>
                      <a:lnTo>
                        <a:pt x="178167" y="274861"/>
                      </a:lnTo>
                      <a:lnTo>
                        <a:pt x="178167" y="110743"/>
                      </a:lnTo>
                      <a:close/>
                    </a:path>
                    <a:path w="179705" h="306070">
                      <a:moveTo>
                        <a:pt x="178166" y="0"/>
                      </a:moveTo>
                      <a:lnTo>
                        <a:pt x="128194" y="0"/>
                      </a:lnTo>
                      <a:lnTo>
                        <a:pt x="128194" y="88056"/>
                      </a:lnTo>
                      <a:lnTo>
                        <a:pt x="178167" y="88056"/>
                      </a:lnTo>
                      <a:lnTo>
                        <a:pt x="178166" y="0"/>
                      </a:lnTo>
                      <a:close/>
                    </a:path>
                  </a:pathLst>
                </a:custGeom>
                <a:solidFill>
                  <a:srgbClr val="000000"/>
                </a:solidFill>
              </p:spPr>
              <p:txBody>
                <a:bodyPr wrap="square" lIns="0" tIns="0" rIns="0" bIns="0" rtlCol="0"/>
                <a:lstStyle/>
                <a:p>
                  <a:endParaRPr/>
                </a:p>
              </p:txBody>
            </p:sp>
            <p:sp>
              <p:nvSpPr>
                <p:cNvPr id="43" name="object 15">
                  <a:extLst>
                    <a:ext uri="{FF2B5EF4-FFF2-40B4-BE49-F238E27FC236}">
                      <a16:creationId xmlns:a16="http://schemas.microsoft.com/office/drawing/2014/main" id="{42695088-E5C7-50FF-5298-6F59528A6F97}"/>
                    </a:ext>
                  </a:extLst>
                </p:cNvPr>
                <p:cNvSpPr/>
                <p:nvPr/>
              </p:nvSpPr>
              <p:spPr>
                <a:xfrm>
                  <a:off x="2558326" y="6015131"/>
                  <a:ext cx="180778" cy="225492"/>
                </a:xfrm>
                <a:prstGeom prst="rect">
                  <a:avLst/>
                </a:prstGeom>
                <a:blipFill>
                  <a:blip r:embed="rId7" cstate="print"/>
                  <a:stretch>
                    <a:fillRect/>
                  </a:stretch>
                </a:blipFill>
              </p:spPr>
              <p:txBody>
                <a:bodyPr wrap="square" lIns="0" tIns="0" rIns="0" bIns="0" rtlCol="0"/>
                <a:lstStyle/>
                <a:p>
                  <a:endParaRPr/>
                </a:p>
              </p:txBody>
            </p:sp>
            <p:sp>
              <p:nvSpPr>
                <p:cNvPr id="44" name="object 16">
                  <a:extLst>
                    <a:ext uri="{FF2B5EF4-FFF2-40B4-BE49-F238E27FC236}">
                      <a16:creationId xmlns:a16="http://schemas.microsoft.com/office/drawing/2014/main" id="{C28FAF21-C599-3514-8D86-184A5EBBE5B7}"/>
                    </a:ext>
                  </a:extLst>
                </p:cNvPr>
                <p:cNvSpPr/>
                <p:nvPr/>
              </p:nvSpPr>
              <p:spPr>
                <a:xfrm>
                  <a:off x="2770168" y="6020117"/>
                  <a:ext cx="138999" cy="220840"/>
                </a:xfrm>
                <a:prstGeom prst="rect">
                  <a:avLst/>
                </a:prstGeom>
                <a:blipFill>
                  <a:blip r:embed="rId8" cstate="print"/>
                  <a:stretch>
                    <a:fillRect/>
                  </a:stretch>
                </a:blipFill>
              </p:spPr>
              <p:txBody>
                <a:bodyPr wrap="square" lIns="0" tIns="0" rIns="0" bIns="0" rtlCol="0"/>
                <a:lstStyle/>
                <a:p>
                  <a:endParaRPr/>
                </a:p>
              </p:txBody>
            </p:sp>
          </p:grpSp>
          <p:grpSp>
            <p:nvGrpSpPr>
              <p:cNvPr id="32" name="object 17">
                <a:extLst>
                  <a:ext uri="{FF2B5EF4-FFF2-40B4-BE49-F238E27FC236}">
                    <a16:creationId xmlns:a16="http://schemas.microsoft.com/office/drawing/2014/main" id="{3425FCEB-7B32-30A8-0FFE-8F06C4DFB1E6}"/>
                  </a:ext>
                </a:extLst>
              </p:cNvPr>
              <p:cNvGrpSpPr/>
              <p:nvPr/>
            </p:nvGrpSpPr>
            <p:grpSpPr>
              <a:xfrm>
                <a:off x="1274781" y="5678906"/>
                <a:ext cx="1281430" cy="194945"/>
                <a:chOff x="1274781" y="5678906"/>
                <a:chExt cx="1281430" cy="194945"/>
              </a:xfrm>
            </p:grpSpPr>
            <p:sp>
              <p:nvSpPr>
                <p:cNvPr id="33" name="object 18">
                  <a:extLst>
                    <a:ext uri="{FF2B5EF4-FFF2-40B4-BE49-F238E27FC236}">
                      <a16:creationId xmlns:a16="http://schemas.microsoft.com/office/drawing/2014/main" id="{99C97AF3-E6FE-0CBC-D428-B3FBFA31ECB3}"/>
                    </a:ext>
                  </a:extLst>
                </p:cNvPr>
                <p:cNvSpPr/>
                <p:nvPr/>
              </p:nvSpPr>
              <p:spPr>
                <a:xfrm>
                  <a:off x="1427286" y="5729599"/>
                  <a:ext cx="109331" cy="141430"/>
                </a:xfrm>
                <a:prstGeom prst="rect">
                  <a:avLst/>
                </a:prstGeom>
                <a:blipFill>
                  <a:blip r:embed="rId9" cstate="print"/>
                  <a:stretch>
                    <a:fillRect/>
                  </a:stretch>
                </a:blipFill>
              </p:spPr>
              <p:txBody>
                <a:bodyPr wrap="square" lIns="0" tIns="0" rIns="0" bIns="0" rtlCol="0"/>
                <a:lstStyle/>
                <a:p>
                  <a:endParaRPr/>
                </a:p>
              </p:txBody>
            </p:sp>
            <p:sp>
              <p:nvSpPr>
                <p:cNvPr id="34" name="object 19">
                  <a:extLst>
                    <a:ext uri="{FF2B5EF4-FFF2-40B4-BE49-F238E27FC236}">
                      <a16:creationId xmlns:a16="http://schemas.microsoft.com/office/drawing/2014/main" id="{265AF099-1D7D-F2D3-77D9-7C4137D5E0C0}"/>
                    </a:ext>
                  </a:extLst>
                </p:cNvPr>
                <p:cNvSpPr/>
                <p:nvPr/>
              </p:nvSpPr>
              <p:spPr>
                <a:xfrm>
                  <a:off x="1569010" y="5678906"/>
                  <a:ext cx="35560" cy="192405"/>
                </a:xfrm>
                <a:custGeom>
                  <a:avLst/>
                  <a:gdLst/>
                  <a:ahLst/>
                  <a:cxnLst/>
                  <a:rect l="l" t="t" r="r" b="b"/>
                  <a:pathLst>
                    <a:path w="35559" h="192404">
                      <a:moveTo>
                        <a:pt x="33731" y="53363"/>
                      </a:moveTo>
                      <a:lnTo>
                        <a:pt x="2689" y="53363"/>
                      </a:lnTo>
                      <a:lnTo>
                        <a:pt x="2689" y="192123"/>
                      </a:lnTo>
                      <a:lnTo>
                        <a:pt x="33731" y="192123"/>
                      </a:lnTo>
                      <a:lnTo>
                        <a:pt x="33731" y="53363"/>
                      </a:lnTo>
                      <a:close/>
                    </a:path>
                    <a:path w="35559" h="192404">
                      <a:moveTo>
                        <a:pt x="22937" y="0"/>
                      </a:moveTo>
                      <a:lnTo>
                        <a:pt x="13494" y="0"/>
                      </a:lnTo>
                      <a:lnTo>
                        <a:pt x="9442" y="1335"/>
                      </a:lnTo>
                      <a:lnTo>
                        <a:pt x="1339" y="6664"/>
                      </a:lnTo>
                      <a:lnTo>
                        <a:pt x="0" y="10670"/>
                      </a:lnTo>
                      <a:lnTo>
                        <a:pt x="0" y="18670"/>
                      </a:lnTo>
                      <a:lnTo>
                        <a:pt x="2689" y="22676"/>
                      </a:lnTo>
                      <a:lnTo>
                        <a:pt x="8092" y="28016"/>
                      </a:lnTo>
                      <a:lnTo>
                        <a:pt x="12144" y="29352"/>
                      </a:lnTo>
                      <a:lnTo>
                        <a:pt x="21587" y="29352"/>
                      </a:lnTo>
                      <a:lnTo>
                        <a:pt x="26989" y="28016"/>
                      </a:lnTo>
                      <a:lnTo>
                        <a:pt x="29690" y="25346"/>
                      </a:lnTo>
                      <a:lnTo>
                        <a:pt x="33731" y="22676"/>
                      </a:lnTo>
                      <a:lnTo>
                        <a:pt x="35081" y="18670"/>
                      </a:lnTo>
                      <a:lnTo>
                        <a:pt x="35081" y="10670"/>
                      </a:lnTo>
                      <a:lnTo>
                        <a:pt x="33731" y="6664"/>
                      </a:lnTo>
                      <a:lnTo>
                        <a:pt x="29690" y="3994"/>
                      </a:lnTo>
                      <a:lnTo>
                        <a:pt x="26989" y="1335"/>
                      </a:lnTo>
                      <a:lnTo>
                        <a:pt x="22937" y="0"/>
                      </a:lnTo>
                      <a:close/>
                    </a:path>
                  </a:pathLst>
                </a:custGeom>
                <a:solidFill>
                  <a:srgbClr val="000000"/>
                </a:solidFill>
              </p:spPr>
              <p:txBody>
                <a:bodyPr wrap="square" lIns="0" tIns="0" rIns="0" bIns="0" rtlCol="0"/>
                <a:lstStyle/>
                <a:p>
                  <a:endParaRPr/>
                </a:p>
              </p:txBody>
            </p:sp>
            <p:sp>
              <p:nvSpPr>
                <p:cNvPr id="35" name="object 20">
                  <a:extLst>
                    <a:ext uri="{FF2B5EF4-FFF2-40B4-BE49-F238E27FC236}">
                      <a16:creationId xmlns:a16="http://schemas.microsoft.com/office/drawing/2014/main" id="{BC5CE3A1-AB2C-87E2-33A3-99E3ABD40BCE}"/>
                    </a:ext>
                  </a:extLst>
                </p:cNvPr>
                <p:cNvSpPr/>
                <p:nvPr/>
              </p:nvSpPr>
              <p:spPr>
                <a:xfrm>
                  <a:off x="1625690" y="5729599"/>
                  <a:ext cx="252405" cy="142766"/>
                </a:xfrm>
                <a:prstGeom prst="rect">
                  <a:avLst/>
                </a:prstGeom>
                <a:blipFill>
                  <a:blip r:embed="rId10" cstate="print"/>
                  <a:stretch>
                    <a:fillRect/>
                  </a:stretch>
                </a:blipFill>
              </p:spPr>
              <p:txBody>
                <a:bodyPr wrap="square" lIns="0" tIns="0" rIns="0" bIns="0" rtlCol="0"/>
                <a:lstStyle/>
                <a:p>
                  <a:endParaRPr/>
                </a:p>
              </p:txBody>
            </p:sp>
            <p:sp>
              <p:nvSpPr>
                <p:cNvPr id="36" name="object 21">
                  <a:extLst>
                    <a:ext uri="{FF2B5EF4-FFF2-40B4-BE49-F238E27FC236}">
                      <a16:creationId xmlns:a16="http://schemas.microsoft.com/office/drawing/2014/main" id="{85DA6F7E-BFEB-CCE6-F570-CE477202ED96}"/>
                    </a:ext>
                  </a:extLst>
                </p:cNvPr>
                <p:cNvSpPr/>
                <p:nvPr/>
              </p:nvSpPr>
              <p:spPr>
                <a:xfrm>
                  <a:off x="1907808" y="5729599"/>
                  <a:ext cx="167362" cy="142766"/>
                </a:xfrm>
                <a:prstGeom prst="rect">
                  <a:avLst/>
                </a:prstGeom>
                <a:blipFill>
                  <a:blip r:embed="rId11" cstate="print"/>
                  <a:stretch>
                    <a:fillRect/>
                  </a:stretch>
                </a:blipFill>
              </p:spPr>
              <p:txBody>
                <a:bodyPr wrap="square" lIns="0" tIns="0" rIns="0" bIns="0" rtlCol="0"/>
                <a:lstStyle/>
                <a:p>
                  <a:endParaRPr/>
                </a:p>
              </p:txBody>
            </p:sp>
            <p:sp>
              <p:nvSpPr>
                <p:cNvPr id="37" name="object 22">
                  <a:extLst>
                    <a:ext uri="{FF2B5EF4-FFF2-40B4-BE49-F238E27FC236}">
                      <a16:creationId xmlns:a16="http://schemas.microsoft.com/office/drawing/2014/main" id="{FC47F4FB-E47A-A516-8B5D-17F9C324BE36}"/>
                    </a:ext>
                  </a:extLst>
                </p:cNvPr>
                <p:cNvSpPr/>
                <p:nvPr/>
              </p:nvSpPr>
              <p:spPr>
                <a:xfrm>
                  <a:off x="2102070" y="5678906"/>
                  <a:ext cx="35560" cy="192405"/>
                </a:xfrm>
                <a:custGeom>
                  <a:avLst/>
                  <a:gdLst/>
                  <a:ahLst/>
                  <a:cxnLst/>
                  <a:rect l="l" t="t" r="r" b="b"/>
                  <a:pathLst>
                    <a:path w="35560" h="192404">
                      <a:moveTo>
                        <a:pt x="32414" y="53363"/>
                      </a:moveTo>
                      <a:lnTo>
                        <a:pt x="1350" y="53363"/>
                      </a:lnTo>
                      <a:lnTo>
                        <a:pt x="1350" y="192123"/>
                      </a:lnTo>
                      <a:lnTo>
                        <a:pt x="32414" y="192123"/>
                      </a:lnTo>
                      <a:lnTo>
                        <a:pt x="32414" y="53363"/>
                      </a:lnTo>
                      <a:close/>
                    </a:path>
                    <a:path w="35560" h="192404">
                      <a:moveTo>
                        <a:pt x="22960" y="0"/>
                      </a:moveTo>
                      <a:lnTo>
                        <a:pt x="13506" y="0"/>
                      </a:lnTo>
                      <a:lnTo>
                        <a:pt x="8103" y="1335"/>
                      </a:lnTo>
                      <a:lnTo>
                        <a:pt x="5402" y="3994"/>
                      </a:lnTo>
                      <a:lnTo>
                        <a:pt x="1350" y="6664"/>
                      </a:lnTo>
                      <a:lnTo>
                        <a:pt x="0" y="10670"/>
                      </a:lnTo>
                      <a:lnTo>
                        <a:pt x="0" y="18670"/>
                      </a:lnTo>
                      <a:lnTo>
                        <a:pt x="2701" y="22676"/>
                      </a:lnTo>
                      <a:lnTo>
                        <a:pt x="8103" y="28016"/>
                      </a:lnTo>
                      <a:lnTo>
                        <a:pt x="12155" y="29352"/>
                      </a:lnTo>
                      <a:lnTo>
                        <a:pt x="21609" y="29352"/>
                      </a:lnTo>
                      <a:lnTo>
                        <a:pt x="27012" y="28016"/>
                      </a:lnTo>
                      <a:lnTo>
                        <a:pt x="29713" y="25346"/>
                      </a:lnTo>
                      <a:lnTo>
                        <a:pt x="33765" y="22676"/>
                      </a:lnTo>
                      <a:lnTo>
                        <a:pt x="35115" y="18670"/>
                      </a:lnTo>
                      <a:lnTo>
                        <a:pt x="35115" y="10670"/>
                      </a:lnTo>
                      <a:lnTo>
                        <a:pt x="32414" y="6664"/>
                      </a:lnTo>
                      <a:lnTo>
                        <a:pt x="27012" y="1335"/>
                      </a:lnTo>
                      <a:lnTo>
                        <a:pt x="22960" y="0"/>
                      </a:lnTo>
                      <a:close/>
                    </a:path>
                  </a:pathLst>
                </a:custGeom>
                <a:solidFill>
                  <a:srgbClr val="000000"/>
                </a:solidFill>
              </p:spPr>
              <p:txBody>
                <a:bodyPr wrap="square" lIns="0" tIns="0" rIns="0" bIns="0" rtlCol="0"/>
                <a:lstStyle/>
                <a:p>
                  <a:endParaRPr/>
                </a:p>
              </p:txBody>
            </p:sp>
            <p:sp>
              <p:nvSpPr>
                <p:cNvPr id="38" name="object 23">
                  <a:extLst>
                    <a:ext uri="{FF2B5EF4-FFF2-40B4-BE49-F238E27FC236}">
                      <a16:creationId xmlns:a16="http://schemas.microsoft.com/office/drawing/2014/main" id="{945041BC-3D3D-4CA1-1C7D-B0E3BA66001B}"/>
                    </a:ext>
                  </a:extLst>
                </p:cNvPr>
                <p:cNvSpPr/>
                <p:nvPr/>
              </p:nvSpPr>
              <p:spPr>
                <a:xfrm>
                  <a:off x="2165548" y="5678906"/>
                  <a:ext cx="114688" cy="194794"/>
                </a:xfrm>
                <a:prstGeom prst="rect">
                  <a:avLst/>
                </a:prstGeom>
                <a:blipFill>
                  <a:blip r:embed="rId12" cstate="print"/>
                  <a:stretch>
                    <a:fillRect/>
                  </a:stretch>
                </a:blipFill>
              </p:spPr>
              <p:txBody>
                <a:bodyPr wrap="square" lIns="0" tIns="0" rIns="0" bIns="0" rtlCol="0"/>
                <a:lstStyle/>
                <a:p>
                  <a:endParaRPr/>
                </a:p>
              </p:txBody>
            </p:sp>
            <p:sp>
              <p:nvSpPr>
                <p:cNvPr id="39" name="object 24">
                  <a:extLst>
                    <a:ext uri="{FF2B5EF4-FFF2-40B4-BE49-F238E27FC236}">
                      <a16:creationId xmlns:a16="http://schemas.microsoft.com/office/drawing/2014/main" id="{4A7A713F-A0B3-D77E-B6E8-54832B05B729}"/>
                    </a:ext>
                  </a:extLst>
                </p:cNvPr>
                <p:cNvSpPr/>
                <p:nvPr/>
              </p:nvSpPr>
              <p:spPr>
                <a:xfrm>
                  <a:off x="2305898" y="5729599"/>
                  <a:ext cx="106585" cy="142766"/>
                </a:xfrm>
                <a:prstGeom prst="rect">
                  <a:avLst/>
                </a:prstGeom>
                <a:blipFill>
                  <a:blip r:embed="rId13" cstate="print"/>
                  <a:stretch>
                    <a:fillRect/>
                  </a:stretch>
                </a:blipFill>
              </p:spPr>
              <p:txBody>
                <a:bodyPr wrap="square" lIns="0" tIns="0" rIns="0" bIns="0" rtlCol="0"/>
                <a:lstStyle/>
                <a:p>
                  <a:endParaRPr/>
                </a:p>
              </p:txBody>
            </p:sp>
            <p:sp>
              <p:nvSpPr>
                <p:cNvPr id="40" name="object 25">
                  <a:extLst>
                    <a:ext uri="{FF2B5EF4-FFF2-40B4-BE49-F238E27FC236}">
                      <a16:creationId xmlns:a16="http://schemas.microsoft.com/office/drawing/2014/main" id="{C6852A4C-8A3C-3F5C-CE42-07CF3F5B1095}"/>
                    </a:ext>
                  </a:extLst>
                </p:cNvPr>
                <p:cNvSpPr/>
                <p:nvPr/>
              </p:nvSpPr>
              <p:spPr>
                <a:xfrm>
                  <a:off x="2440846" y="5678906"/>
                  <a:ext cx="114801" cy="194794"/>
                </a:xfrm>
                <a:prstGeom prst="rect">
                  <a:avLst/>
                </a:prstGeom>
                <a:blipFill>
                  <a:blip r:embed="rId14" cstate="print"/>
                  <a:stretch>
                    <a:fillRect/>
                  </a:stretch>
                </a:blipFill>
              </p:spPr>
              <p:txBody>
                <a:bodyPr wrap="square" lIns="0" tIns="0" rIns="0" bIns="0" rtlCol="0"/>
                <a:lstStyle/>
                <a:p>
                  <a:endParaRPr/>
                </a:p>
              </p:txBody>
            </p:sp>
            <p:sp>
              <p:nvSpPr>
                <p:cNvPr id="41" name="object 26">
                  <a:extLst>
                    <a:ext uri="{FF2B5EF4-FFF2-40B4-BE49-F238E27FC236}">
                      <a16:creationId xmlns:a16="http://schemas.microsoft.com/office/drawing/2014/main" id="{E3B22514-AC81-C324-7275-85CD1925701A}"/>
                    </a:ext>
                  </a:extLst>
                </p:cNvPr>
                <p:cNvSpPr/>
                <p:nvPr/>
              </p:nvSpPr>
              <p:spPr>
                <a:xfrm>
                  <a:off x="1274781" y="5678906"/>
                  <a:ext cx="117423" cy="193459"/>
                </a:xfrm>
                <a:prstGeom prst="rect">
                  <a:avLst/>
                </a:prstGeom>
                <a:blipFill>
                  <a:blip r:embed="rId15" cstate="print"/>
                  <a:stretch>
                    <a:fillRect/>
                  </a:stretch>
                </a:blipFill>
              </p:spPr>
              <p:txBody>
                <a:bodyPr wrap="square" lIns="0" tIns="0" rIns="0" bIns="0" rtlCol="0"/>
                <a:lstStyle/>
                <a:p>
                  <a:endParaRPr/>
                </a:p>
              </p:txBody>
            </p:sp>
          </p:grpSp>
        </p:grpSp>
      </p:grpSp>
      <p:sp>
        <p:nvSpPr>
          <p:cNvPr id="4" name="CuadroTexto 3">
            <a:extLst>
              <a:ext uri="{FF2B5EF4-FFF2-40B4-BE49-F238E27FC236}">
                <a16:creationId xmlns:a16="http://schemas.microsoft.com/office/drawing/2014/main" id="{8D369382-BFF3-889F-A079-417303EFF3BE}"/>
              </a:ext>
            </a:extLst>
          </p:cNvPr>
          <p:cNvSpPr txBox="1"/>
          <p:nvPr/>
        </p:nvSpPr>
        <p:spPr>
          <a:xfrm>
            <a:off x="2618025" y="1963121"/>
            <a:ext cx="8077165" cy="461665"/>
          </a:xfrm>
          <a:prstGeom prst="rect">
            <a:avLst/>
          </a:prstGeom>
          <a:noFill/>
        </p:spPr>
        <p:txBody>
          <a:bodyPr wrap="square">
            <a:spAutoFit/>
          </a:bodyPr>
          <a:lstStyle/>
          <a:p>
            <a:pPr>
              <a:buClr>
                <a:srgbClr val="0072CE"/>
              </a:buClr>
            </a:pPr>
            <a:r>
              <a:rPr lang="es-CO" sz="1200" dirty="0">
                <a:solidFill>
                  <a:srgbClr val="3C3C3C"/>
                </a:solidFill>
                <a:latin typeface="Open Sans"/>
              </a:rPr>
              <a:t>Los resultados confirman un perfil de ingresos cóncavo , consistente con la teoría de capital humano de </a:t>
            </a:r>
            <a:r>
              <a:rPr lang="es-CO" sz="1200" dirty="0" err="1">
                <a:solidFill>
                  <a:srgbClr val="3C3C3C"/>
                </a:solidFill>
                <a:latin typeface="Open Sans"/>
              </a:rPr>
              <a:t>Mincer</a:t>
            </a:r>
            <a:r>
              <a:rPr lang="es-CO" sz="1200" dirty="0">
                <a:solidFill>
                  <a:srgbClr val="3C3C3C"/>
                </a:solidFill>
                <a:latin typeface="Open Sans"/>
              </a:rPr>
              <a:t>. </a:t>
            </a:r>
            <a:r>
              <a:rPr lang="es-CO" sz="1200" b="1" dirty="0">
                <a:solidFill>
                  <a:srgbClr val="3C3C3C"/>
                </a:solidFill>
                <a:latin typeface="Open Sans"/>
              </a:rPr>
              <a:t>La tasa de rendimientos a la experiencia es decreciente,</a:t>
            </a:r>
          </a:p>
        </p:txBody>
      </p:sp>
      <p:pic>
        <p:nvPicPr>
          <p:cNvPr id="5" name="Gráfico 4" descr="Fin con relleno sólido">
            <a:extLst>
              <a:ext uri="{FF2B5EF4-FFF2-40B4-BE49-F238E27FC236}">
                <a16:creationId xmlns:a16="http://schemas.microsoft.com/office/drawing/2014/main" id="{508FE1FB-3DB2-7383-DB7C-5A99E3CB6247}"/>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972554" y="1838510"/>
            <a:ext cx="645471" cy="645471"/>
          </a:xfrm>
          <a:prstGeom prst="rect">
            <a:avLst/>
          </a:prstGeom>
        </p:spPr>
      </p:pic>
      <p:sp>
        <p:nvSpPr>
          <p:cNvPr id="6" name="CuadroTexto 5">
            <a:extLst>
              <a:ext uri="{FF2B5EF4-FFF2-40B4-BE49-F238E27FC236}">
                <a16:creationId xmlns:a16="http://schemas.microsoft.com/office/drawing/2014/main" id="{FF3F495C-6FCF-2C32-0664-2716B321BB14}"/>
              </a:ext>
            </a:extLst>
          </p:cNvPr>
          <p:cNvSpPr txBox="1"/>
          <p:nvPr/>
        </p:nvSpPr>
        <p:spPr>
          <a:xfrm>
            <a:off x="2618025" y="2777721"/>
            <a:ext cx="8077165" cy="830997"/>
          </a:xfrm>
          <a:prstGeom prst="rect">
            <a:avLst/>
          </a:prstGeom>
          <a:noFill/>
        </p:spPr>
        <p:txBody>
          <a:bodyPr wrap="square">
            <a:spAutoFit/>
          </a:bodyPr>
          <a:lstStyle/>
          <a:p>
            <a:pPr>
              <a:buClr>
                <a:srgbClr val="0072CE"/>
              </a:buClr>
            </a:pPr>
            <a:r>
              <a:rPr lang="es-CO" sz="1200" b="1" dirty="0">
                <a:solidFill>
                  <a:srgbClr val="3C3C3C"/>
                </a:solidFill>
                <a:latin typeface="Open Sans"/>
              </a:rPr>
              <a:t>El Rol del Margen Intensivo: </a:t>
            </a:r>
            <a:r>
              <a:rPr lang="es-CO" sz="1200" dirty="0">
                <a:solidFill>
                  <a:srgbClr val="3C3C3C"/>
                </a:solidFill>
                <a:latin typeface="Open Sans"/>
              </a:rPr>
              <a:t>El desplazamiento de la edad pico de 40.6 a 43.6 años al controlar por horas trabajadas sugiere que la caída de ingresos observada en la mediana edad no es un fenómeno puramente de productividad. Gran parte de esta dinámica está mediada por ajustes en la oferta laboral (reducción de la jornada laboral) y cambios en la composición ocupacional.</a:t>
            </a:r>
          </a:p>
        </p:txBody>
      </p:sp>
      <p:pic>
        <p:nvPicPr>
          <p:cNvPr id="7" name="Gráfico 6" descr="Fin con relleno sólido">
            <a:extLst>
              <a:ext uri="{FF2B5EF4-FFF2-40B4-BE49-F238E27FC236}">
                <a16:creationId xmlns:a16="http://schemas.microsoft.com/office/drawing/2014/main" id="{2CEF99F4-6CDC-23C8-0588-97AE399257FC}"/>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942866" y="2771783"/>
            <a:ext cx="645471" cy="645471"/>
          </a:xfrm>
          <a:prstGeom prst="rect">
            <a:avLst/>
          </a:prstGeom>
        </p:spPr>
      </p:pic>
      <p:sp>
        <p:nvSpPr>
          <p:cNvPr id="8" name="CuadroTexto 7">
            <a:extLst>
              <a:ext uri="{FF2B5EF4-FFF2-40B4-BE49-F238E27FC236}">
                <a16:creationId xmlns:a16="http://schemas.microsoft.com/office/drawing/2014/main" id="{B917460D-2A21-4C8C-15FE-9A7D91C8A2BB}"/>
              </a:ext>
            </a:extLst>
          </p:cNvPr>
          <p:cNvSpPr txBox="1"/>
          <p:nvPr/>
        </p:nvSpPr>
        <p:spPr>
          <a:xfrm>
            <a:off x="2602753" y="3814778"/>
            <a:ext cx="8077165" cy="646331"/>
          </a:xfrm>
          <a:prstGeom prst="rect">
            <a:avLst/>
          </a:prstGeom>
          <a:noFill/>
        </p:spPr>
        <p:txBody>
          <a:bodyPr wrap="square">
            <a:spAutoFit/>
          </a:bodyPr>
          <a:lstStyle/>
          <a:p>
            <a:pPr>
              <a:buClr>
                <a:srgbClr val="0072CE"/>
              </a:buClr>
            </a:pPr>
            <a:r>
              <a:rPr lang="es-CO" sz="1200" b="1" dirty="0">
                <a:solidFill>
                  <a:srgbClr val="3C3C3C"/>
                </a:solidFill>
                <a:latin typeface="Open Sans"/>
              </a:rPr>
              <a:t>Mediante el uso de Bootstrap (1,000 replicaciones), </a:t>
            </a:r>
            <a:r>
              <a:rPr lang="es-CO" sz="1200" dirty="0">
                <a:solidFill>
                  <a:srgbClr val="3C3C3C"/>
                </a:solidFill>
                <a:latin typeface="Open Sans"/>
              </a:rPr>
              <a:t>se confirmó que los intervalos de confianza del pico de ingresos en ambos modelos no se traslapan. Esto garantiza que la diferencia en la maduración salarial es un hallazgo robusto y no un artefacto de la muestra.</a:t>
            </a:r>
          </a:p>
        </p:txBody>
      </p:sp>
      <p:pic>
        <p:nvPicPr>
          <p:cNvPr id="11" name="Gráfico 10" descr="Fin con relleno sólido">
            <a:extLst>
              <a:ext uri="{FF2B5EF4-FFF2-40B4-BE49-F238E27FC236}">
                <a16:creationId xmlns:a16="http://schemas.microsoft.com/office/drawing/2014/main" id="{2694C0FB-6E1E-71E5-4D8F-EB001343020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972554" y="3745419"/>
            <a:ext cx="645471" cy="645471"/>
          </a:xfrm>
          <a:prstGeom prst="rect">
            <a:avLst/>
          </a:prstGeom>
        </p:spPr>
      </p:pic>
      <p:sp>
        <p:nvSpPr>
          <p:cNvPr id="12" name="CuadroTexto 11">
            <a:extLst>
              <a:ext uri="{FF2B5EF4-FFF2-40B4-BE49-F238E27FC236}">
                <a16:creationId xmlns:a16="http://schemas.microsoft.com/office/drawing/2014/main" id="{96F21681-41C1-C600-15FC-657BEB4ED7F5}"/>
              </a:ext>
            </a:extLst>
          </p:cNvPr>
          <p:cNvSpPr txBox="1"/>
          <p:nvPr/>
        </p:nvSpPr>
        <p:spPr>
          <a:xfrm>
            <a:off x="2618025" y="4878872"/>
            <a:ext cx="8077165" cy="646331"/>
          </a:xfrm>
          <a:prstGeom prst="rect">
            <a:avLst/>
          </a:prstGeom>
          <a:noFill/>
        </p:spPr>
        <p:txBody>
          <a:bodyPr wrap="square">
            <a:spAutoFit/>
          </a:bodyPr>
          <a:lstStyle/>
          <a:p>
            <a:pPr>
              <a:buClr>
                <a:srgbClr val="0072CE"/>
              </a:buClr>
            </a:pPr>
            <a:r>
              <a:rPr lang="es-CO" sz="1200" dirty="0">
                <a:solidFill>
                  <a:srgbClr val="3C3C3C"/>
                </a:solidFill>
                <a:latin typeface="Open Sans"/>
              </a:rPr>
              <a:t>Si solo importara el capital humano, la gente ganaría cada vez más hasta jubilarse. Pero como los humanos también decidimos trabajar menos horas al envejecer, esas dos fuerzas se mezclan y crean esa 'forma de montaña' que vemos en los datos.</a:t>
            </a:r>
          </a:p>
        </p:txBody>
      </p:sp>
      <p:pic>
        <p:nvPicPr>
          <p:cNvPr id="15" name="Gráfico 14" descr="Fin con relleno sólido">
            <a:extLst>
              <a:ext uri="{FF2B5EF4-FFF2-40B4-BE49-F238E27FC236}">
                <a16:creationId xmlns:a16="http://schemas.microsoft.com/office/drawing/2014/main" id="{F1104252-41D1-610C-A07C-81EF2EA14CF4}"/>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943496" y="4753941"/>
            <a:ext cx="645471" cy="645471"/>
          </a:xfrm>
          <a:prstGeom prst="rect">
            <a:avLst/>
          </a:prstGeom>
        </p:spPr>
      </p:pic>
    </p:spTree>
    <p:extLst>
      <p:ext uri="{BB962C8B-B14F-4D97-AF65-F5344CB8AC3E}">
        <p14:creationId xmlns:p14="http://schemas.microsoft.com/office/powerpoint/2010/main" val="42796255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566</TotalTime>
  <Words>1026</Words>
  <Application>Microsoft Macintosh PowerPoint</Application>
  <PresentationFormat>Panorámica</PresentationFormat>
  <Paragraphs>95</Paragraphs>
  <Slides>7</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7</vt:i4>
      </vt:variant>
    </vt:vector>
  </HeadingPairs>
  <TitlesOfParts>
    <vt:vector size="17" baseType="lpstr">
      <vt:lpstr>Aptos Narrow</vt:lpstr>
      <vt:lpstr>Arial</vt:lpstr>
      <vt:lpstr>Calibri</vt:lpstr>
      <vt:lpstr>Cambria Math</vt:lpstr>
      <vt:lpstr>Carlito</vt:lpstr>
      <vt:lpstr>Helvetica Neue</vt:lpstr>
      <vt:lpstr>Open Sans</vt:lpstr>
      <vt:lpstr>Open Sans Semibold</vt:lpstr>
      <vt:lpstr>Symbol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Mónica I. Thyme Reyes</dc:creator>
  <cp:lastModifiedBy>Daniela Valentina Hernandez Pescador</cp:lastModifiedBy>
  <cp:revision>4</cp:revision>
  <dcterms:created xsi:type="dcterms:W3CDTF">2022-03-18T16:09:00Z</dcterms:created>
  <dcterms:modified xsi:type="dcterms:W3CDTF">2026-02-20T22:51:01Z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2021-09-10T00:00:00Z</vt:filetime>
  </property>
  <property fmtid="{D5CDD505-2E9C-101B-9397-08002B2CF9AE}" pid="3" name="Creator">
    <vt:lpwstr>Microsoft® PowerPoint® para Microsoft 365</vt:lpwstr>
  </property>
  <property fmtid="{D5CDD505-2E9C-101B-9397-08002B2CF9AE}" pid="4" name="LastSaved">
    <vt:filetime>2022-03-18T00:00:00Z</vt:filetime>
  </property>
</Properties>
</file>